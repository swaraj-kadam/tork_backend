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61" r:id="rId6"/>
    <p:sldId id="262" r:id="rId7"/>
    <p:sldId id="263" r:id="rId8"/>
    <p:sldId id="267" r:id="rId9"/>
    <p:sldId id="259" r:id="rId10"/>
    <p:sldId id="268" r:id="rId11"/>
    <p:sldId id="264" r:id="rId12"/>
    <p:sldId id="265" r:id="rId13"/>
    <p:sldId id="266"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310578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706663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4237574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89EA74-BB66-4EB0-ABF3-6542BE91AE29}"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424258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89EA74-BB66-4EB0-ABF3-6542BE91AE29}" type="datetimeFigureOut">
              <a:rPr lang="en-IN" smtClean="0"/>
              <a:t>26-08-2025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3115384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89EA74-BB66-4EB0-ABF3-6542BE91AE29}" type="datetimeFigureOut">
              <a:rPr lang="en-IN" smtClean="0"/>
              <a:t>26-08-2025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339437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89EA74-BB66-4EB0-ABF3-6542BE91AE29}" type="datetimeFigureOut">
              <a:rPr lang="en-IN" smtClean="0"/>
              <a:t>26-08-2025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751568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9EA74-BB66-4EB0-ABF3-6542BE91AE29}"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1519172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89EA74-BB66-4EB0-ABF3-6542BE91AE29}"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1876109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3472461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66778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2425679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7235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2914826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26615818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9EA74-BB66-4EB0-ABF3-6542BE91AE29}"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E708BB-CDC3-4673-AC90-F92400331814}" type="slidenum">
              <a:rPr lang="en-IN" smtClean="0"/>
              <a:t>‹#›</a:t>
            </a:fld>
            <a:endParaRPr lang="en-IN"/>
          </a:p>
        </p:txBody>
      </p:sp>
    </p:spTree>
    <p:extLst>
      <p:ext uri="{BB962C8B-B14F-4D97-AF65-F5344CB8AC3E}">
        <p14:creationId xmlns:p14="http://schemas.microsoft.com/office/powerpoint/2010/main" val="2647022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C89EA74-BB66-4EB0-ABF3-6542BE91AE29}" type="datetimeFigureOut">
              <a:rPr lang="en-IN" smtClean="0"/>
              <a:t>26-08-2025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81E708BB-CDC3-4673-AC90-F92400331814}" type="slidenum">
              <a:rPr lang="en-IN" smtClean="0"/>
              <a:t>‹#›</a:t>
            </a:fld>
            <a:endParaRPr lang="en-IN"/>
          </a:p>
        </p:txBody>
      </p:sp>
    </p:spTree>
    <p:extLst>
      <p:ext uri="{BB962C8B-B14F-4D97-AF65-F5344CB8AC3E}">
        <p14:creationId xmlns:p14="http://schemas.microsoft.com/office/powerpoint/2010/main" val="230218831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Global_environmental_analysis" TargetMode="External"/><Relationship Id="rId2" Type="http://schemas.openxmlformats.org/officeDocument/2006/relationships/hyperlink" Target="https://en.wikipedia.org/wiki/Market_(economics)" TargetMode="External"/><Relationship Id="rId1" Type="http://schemas.openxmlformats.org/officeDocument/2006/relationships/slideLayout" Target="../slideLayouts/slideLayout2.xml"/><Relationship Id="rId6" Type="http://schemas.openxmlformats.org/officeDocument/2006/relationships/hyperlink" Target="https://en.wikipedia.org/wiki/Work_force" TargetMode="External"/><Relationship Id="rId5" Type="http://schemas.openxmlformats.org/officeDocument/2006/relationships/hyperlink" Target="https://en.wikipedia.org/wiki/Inventory" TargetMode="External"/><Relationship Id="rId4" Type="http://schemas.openxmlformats.org/officeDocument/2006/relationships/hyperlink" Target="https://en.wikipedia.org/wiki/SWOT_analysi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businessnewsdaily.com/8714-know-target-customer.html" TargetMode="External"/><Relationship Id="rId2" Type="http://schemas.openxmlformats.org/officeDocument/2006/relationships/hyperlink" Target="https://www.businessnewsdaily.com/15973-what-is-customer-segmentation.html" TargetMode="External"/><Relationship Id="rId1" Type="http://schemas.openxmlformats.org/officeDocument/2006/relationships/slideLayout" Target="../slideLayouts/slideLayout2.xml"/><Relationship Id="rId4" Type="http://schemas.openxmlformats.org/officeDocument/2006/relationships/hyperlink" Target="https://www.businessnewsdaily.com/15737-business-competitor-analysis.html"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businessnewsdaily.com/10976-setting-and-measuring-kpis.html" TargetMode="External"/><Relationship Id="rId2" Type="http://schemas.openxmlformats.org/officeDocument/2006/relationships/hyperlink" Target="https://www.businessnewsdaily.com/4245-swot-analysi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pxhere.com/en/photo/668063" TargetMode="External"/><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0F29-8EBB-483D-93C6-5BE91FE556FF}"/>
              </a:ext>
            </a:extLst>
          </p:cNvPr>
          <p:cNvSpPr>
            <a:spLocks noGrp="1"/>
          </p:cNvSpPr>
          <p:nvPr>
            <p:ph type="title"/>
          </p:nvPr>
        </p:nvSpPr>
        <p:spPr>
          <a:xfrm>
            <a:off x="784910" y="1108635"/>
            <a:ext cx="8596668" cy="1320800"/>
          </a:xfrm>
        </p:spPr>
        <p:txBody>
          <a:bodyPr>
            <a:normAutofit/>
          </a:bodyPr>
          <a:lstStyle/>
          <a:p>
            <a:pPr algn="ctr"/>
            <a:r>
              <a:rPr lang="en-US" sz="4800" b="1" dirty="0">
                <a:latin typeface="Britannic Bold" panose="020B0903060703020204" pitchFamily="34" charset="0"/>
              </a:rPr>
              <a:t>ANALYSIS OF THE MARKET</a:t>
            </a:r>
            <a:endParaRPr lang="en-IN" sz="4800" b="1" dirty="0">
              <a:latin typeface="Britannic Bold" panose="020B0903060703020204" pitchFamily="34" charset="0"/>
            </a:endParaRPr>
          </a:p>
        </p:txBody>
      </p:sp>
      <p:pic>
        <p:nvPicPr>
          <p:cNvPr id="8" name="Picture 7">
            <a:extLst>
              <a:ext uri="{FF2B5EF4-FFF2-40B4-BE49-F238E27FC236}">
                <a16:creationId xmlns:a16="http://schemas.microsoft.com/office/drawing/2014/main" id="{70A2B531-9D8E-42D9-9859-DFDB8FF71A30}"/>
              </a:ext>
            </a:extLst>
          </p:cNvPr>
          <p:cNvPicPr>
            <a:picLocks noChangeAspect="1"/>
          </p:cNvPicPr>
          <p:nvPr/>
        </p:nvPicPr>
        <p:blipFill>
          <a:blip r:embed="rId2"/>
          <a:stretch>
            <a:fillRect/>
          </a:stretch>
        </p:blipFill>
        <p:spPr>
          <a:xfrm>
            <a:off x="2037485" y="2241176"/>
            <a:ext cx="6091518" cy="4061012"/>
          </a:xfrm>
          <a:prstGeom prst="rect">
            <a:avLst/>
          </a:prstGeom>
          <a:ln>
            <a:noFill/>
          </a:ln>
          <a:effectLst>
            <a:softEdge rad="112500"/>
          </a:effectLst>
        </p:spPr>
      </p:pic>
    </p:spTree>
    <p:extLst>
      <p:ext uri="{BB962C8B-B14F-4D97-AF65-F5344CB8AC3E}">
        <p14:creationId xmlns:p14="http://schemas.microsoft.com/office/powerpoint/2010/main" val="190926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C1E4C-E6B9-44AD-A441-B0DC43F90F52}"/>
              </a:ext>
            </a:extLst>
          </p:cNvPr>
          <p:cNvSpPr>
            <a:spLocks noGrp="1"/>
          </p:cNvSpPr>
          <p:nvPr>
            <p:ph type="title"/>
          </p:nvPr>
        </p:nvSpPr>
        <p:spPr>
          <a:xfrm>
            <a:off x="677334" y="816638"/>
            <a:ext cx="8596668" cy="1320800"/>
          </a:xfrm>
        </p:spPr>
        <p:txBody>
          <a:bodyPr/>
          <a:lstStyle/>
          <a:p>
            <a:r>
              <a:rPr lang="en-US" dirty="0"/>
              <a:t>WHAT IS MARKET ANALYSIS?</a:t>
            </a:r>
            <a:endParaRPr lang="en-IN" dirty="0"/>
          </a:p>
        </p:txBody>
      </p:sp>
      <p:sp>
        <p:nvSpPr>
          <p:cNvPr id="3" name="Content Placeholder 2">
            <a:extLst>
              <a:ext uri="{FF2B5EF4-FFF2-40B4-BE49-F238E27FC236}">
                <a16:creationId xmlns:a16="http://schemas.microsoft.com/office/drawing/2014/main" id="{736688B9-3724-449E-BABA-B54E9837816B}"/>
              </a:ext>
            </a:extLst>
          </p:cNvPr>
          <p:cNvSpPr>
            <a:spLocks noGrp="1"/>
          </p:cNvSpPr>
          <p:nvPr>
            <p:ph idx="1"/>
          </p:nvPr>
        </p:nvSpPr>
        <p:spPr/>
        <p:txBody>
          <a:bodyPr/>
          <a:lstStyle/>
          <a:p>
            <a:pPr algn="just"/>
            <a:r>
              <a:rPr lang="en-US" b="0" i="0" dirty="0">
                <a:solidFill>
                  <a:schemeClr val="tx1"/>
                </a:solidFill>
                <a:effectLst/>
                <a:latin typeface="Arial" panose="020B0604020202020204" pitchFamily="34" charset="0"/>
              </a:rPr>
              <a:t>A </a:t>
            </a:r>
            <a:r>
              <a:rPr lang="en-US" b="1" i="0" dirty="0">
                <a:solidFill>
                  <a:schemeClr val="tx1"/>
                </a:solidFill>
                <a:effectLst/>
                <a:latin typeface="Arial" panose="020B0604020202020204" pitchFamily="34" charset="0"/>
              </a:rPr>
              <a:t>market analysis</a:t>
            </a:r>
            <a:r>
              <a:rPr lang="en-US" b="0" i="0" dirty="0">
                <a:solidFill>
                  <a:schemeClr val="tx1"/>
                </a:solidFill>
                <a:effectLst/>
                <a:latin typeface="Arial" panose="020B0604020202020204" pitchFamily="34" charset="0"/>
              </a:rPr>
              <a:t> studies the attractiveness and the dynamics of a special </a:t>
            </a:r>
            <a:r>
              <a:rPr lang="en-US" b="0" i="0" u="none" strike="noStrike" dirty="0">
                <a:solidFill>
                  <a:schemeClr val="tx1"/>
                </a:solidFill>
                <a:effectLst/>
                <a:latin typeface="Arial" panose="020B0604020202020204" pitchFamily="34" charset="0"/>
                <a:hlinkClick r:id="rId2" tooltip="Market (economics)">
                  <a:extLst>
                    <a:ext uri="{A12FA001-AC4F-418D-AE19-62706E023703}">
                      <ahyp:hlinkClr xmlns:ahyp="http://schemas.microsoft.com/office/drawing/2018/hyperlinkcolor" val="tx"/>
                    </a:ext>
                  </a:extLst>
                </a:hlinkClick>
              </a:rPr>
              <a:t>market</a:t>
            </a:r>
            <a:r>
              <a:rPr lang="en-US" b="0" i="0" dirty="0">
                <a:solidFill>
                  <a:schemeClr val="tx1"/>
                </a:solidFill>
                <a:effectLst/>
                <a:latin typeface="Arial" panose="020B0604020202020204" pitchFamily="34" charset="0"/>
              </a:rPr>
              <a:t> within a special industry. It is part of the industry analysis and thus in turn of the </a:t>
            </a:r>
            <a:r>
              <a:rPr lang="en-US" b="0" i="0" u="none" strike="noStrike" dirty="0">
                <a:solidFill>
                  <a:schemeClr val="tx1"/>
                </a:solidFill>
                <a:effectLst/>
                <a:latin typeface="Arial" panose="020B0604020202020204" pitchFamily="34" charset="0"/>
                <a:hlinkClick r:id="rId3" tooltip="Global environmental analysis">
                  <a:extLst>
                    <a:ext uri="{A12FA001-AC4F-418D-AE19-62706E023703}">
                      <ahyp:hlinkClr xmlns:ahyp="http://schemas.microsoft.com/office/drawing/2018/hyperlinkcolor" val="tx"/>
                    </a:ext>
                  </a:extLst>
                </a:hlinkClick>
              </a:rPr>
              <a:t>global environmental analysis</a:t>
            </a:r>
            <a:r>
              <a:rPr lang="en-US" b="0" i="0" dirty="0">
                <a:solidFill>
                  <a:schemeClr val="tx1"/>
                </a:solidFill>
                <a:effectLst/>
                <a:latin typeface="Arial" panose="020B0604020202020204" pitchFamily="34" charset="0"/>
              </a:rPr>
              <a:t>. </a:t>
            </a:r>
          </a:p>
          <a:p>
            <a:pPr algn="just"/>
            <a:r>
              <a:rPr lang="en-US" b="0" i="0" dirty="0">
                <a:solidFill>
                  <a:schemeClr val="tx1"/>
                </a:solidFill>
                <a:effectLst/>
                <a:latin typeface="Arial" panose="020B0604020202020204" pitchFamily="34" charset="0"/>
              </a:rPr>
              <a:t>Through all of these analyses the strengths, weaknesses, opportunities and threats (SWOT) of a company can be identified. Finally, with the help of a </a:t>
            </a:r>
            <a:r>
              <a:rPr lang="en-US" b="0" i="0" u="none" strike="noStrike" dirty="0">
                <a:solidFill>
                  <a:schemeClr val="tx1"/>
                </a:solidFill>
                <a:effectLst/>
                <a:latin typeface="Arial" panose="020B0604020202020204" pitchFamily="34" charset="0"/>
                <a:hlinkClick r:id="rId4" tooltip="SWOT analysis">
                  <a:extLst>
                    <a:ext uri="{A12FA001-AC4F-418D-AE19-62706E023703}">
                      <ahyp:hlinkClr xmlns:ahyp="http://schemas.microsoft.com/office/drawing/2018/hyperlinkcolor" val="tx"/>
                    </a:ext>
                  </a:extLst>
                </a:hlinkClick>
              </a:rPr>
              <a:t>SWOT analysis</a:t>
            </a:r>
            <a:r>
              <a:rPr lang="en-US" b="0" i="0" dirty="0">
                <a:solidFill>
                  <a:schemeClr val="tx1"/>
                </a:solidFill>
                <a:effectLst/>
                <a:latin typeface="Arial" panose="020B0604020202020204" pitchFamily="34" charset="0"/>
              </a:rPr>
              <a:t>, adequate business strategies of a company will be defined.</a:t>
            </a:r>
            <a:endParaRPr lang="en-US" b="0" i="0" baseline="30000" dirty="0">
              <a:solidFill>
                <a:schemeClr val="tx1"/>
              </a:solidFill>
              <a:effectLst/>
              <a:latin typeface="Arial" panose="020B0604020202020204" pitchFamily="34" charset="0"/>
            </a:endParaRPr>
          </a:p>
          <a:p>
            <a:pPr algn="just"/>
            <a:r>
              <a:rPr lang="en-US" b="0" i="0" dirty="0">
                <a:solidFill>
                  <a:schemeClr val="tx1"/>
                </a:solidFill>
                <a:effectLst/>
                <a:latin typeface="Arial" panose="020B0604020202020204" pitchFamily="34" charset="0"/>
              </a:rPr>
              <a:t>The market analysis is also known as a documented investigation of a market that is used to inform a firm's planning activities, particularly around decisions of </a:t>
            </a:r>
            <a:r>
              <a:rPr lang="en-US" b="0" i="0" u="none" strike="noStrike" dirty="0">
                <a:solidFill>
                  <a:schemeClr val="tx1"/>
                </a:solidFill>
                <a:effectLst/>
                <a:latin typeface="Arial" panose="020B0604020202020204" pitchFamily="34" charset="0"/>
                <a:hlinkClick r:id="rId5" tooltip="Inventory">
                  <a:extLst>
                    <a:ext uri="{A12FA001-AC4F-418D-AE19-62706E023703}">
                      <ahyp:hlinkClr xmlns:ahyp="http://schemas.microsoft.com/office/drawing/2018/hyperlinkcolor" val="tx"/>
                    </a:ext>
                  </a:extLst>
                </a:hlinkClick>
              </a:rPr>
              <a:t>inventory</a:t>
            </a:r>
            <a:r>
              <a:rPr lang="en-US" b="0" i="0" dirty="0">
                <a:solidFill>
                  <a:schemeClr val="tx1"/>
                </a:solidFill>
                <a:effectLst/>
                <a:latin typeface="Arial" panose="020B0604020202020204" pitchFamily="34" charset="0"/>
              </a:rPr>
              <a:t>, purchase, </a:t>
            </a:r>
            <a:r>
              <a:rPr lang="en-US" b="0" i="0" u="none" strike="noStrike" dirty="0">
                <a:solidFill>
                  <a:schemeClr val="tx1"/>
                </a:solidFill>
                <a:effectLst/>
                <a:latin typeface="Arial" panose="020B0604020202020204" pitchFamily="34" charset="0"/>
                <a:hlinkClick r:id="rId6" tooltip="Work force">
                  <a:extLst>
                    <a:ext uri="{A12FA001-AC4F-418D-AE19-62706E023703}">
                      <ahyp:hlinkClr xmlns:ahyp="http://schemas.microsoft.com/office/drawing/2018/hyperlinkcolor" val="tx"/>
                    </a:ext>
                  </a:extLst>
                </a:hlinkClick>
              </a:rPr>
              <a:t>work force</a:t>
            </a:r>
            <a:r>
              <a:rPr lang="en-US" b="0" i="0" dirty="0">
                <a:solidFill>
                  <a:schemeClr val="tx1"/>
                </a:solidFill>
                <a:effectLst/>
                <a:latin typeface="Arial" panose="020B0604020202020204" pitchFamily="34" charset="0"/>
              </a:rPr>
              <a:t> expansion/contraction, facility expansion, purchases of capital equipment, promotional activities, and many other aspects of a company.</a:t>
            </a:r>
            <a:endParaRPr lang="en-IN" dirty="0">
              <a:solidFill>
                <a:schemeClr val="tx1"/>
              </a:solidFill>
            </a:endParaRPr>
          </a:p>
        </p:txBody>
      </p:sp>
    </p:spTree>
    <p:extLst>
      <p:ext uri="{BB962C8B-B14F-4D97-AF65-F5344CB8AC3E}">
        <p14:creationId xmlns:p14="http://schemas.microsoft.com/office/powerpoint/2010/main" val="2397251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2AFE-B338-43A4-BE97-A580A368BDED}"/>
              </a:ext>
            </a:extLst>
          </p:cNvPr>
          <p:cNvSpPr>
            <a:spLocks noGrp="1"/>
          </p:cNvSpPr>
          <p:nvPr>
            <p:ph type="title"/>
          </p:nvPr>
        </p:nvSpPr>
        <p:spPr/>
        <p:txBody>
          <a:bodyPr/>
          <a:lstStyle/>
          <a:p>
            <a:r>
              <a:rPr lang="en-US" dirty="0"/>
              <a:t>WHAT DOES MARKET ANALYSIS INCLUDE?</a:t>
            </a:r>
            <a:endParaRPr lang="en-IN" dirty="0"/>
          </a:p>
        </p:txBody>
      </p:sp>
      <p:sp>
        <p:nvSpPr>
          <p:cNvPr id="3" name="Content Placeholder 2">
            <a:extLst>
              <a:ext uri="{FF2B5EF4-FFF2-40B4-BE49-F238E27FC236}">
                <a16:creationId xmlns:a16="http://schemas.microsoft.com/office/drawing/2014/main" id="{43BE2A66-E76F-412E-A5AB-3A3528697940}"/>
              </a:ext>
            </a:extLst>
          </p:cNvPr>
          <p:cNvSpPr>
            <a:spLocks noGrp="1"/>
          </p:cNvSpPr>
          <p:nvPr>
            <p:ph idx="1"/>
          </p:nvPr>
        </p:nvSpPr>
        <p:spPr>
          <a:xfrm>
            <a:off x="838200" y="1443318"/>
            <a:ext cx="8861612" cy="4733645"/>
          </a:xfrm>
        </p:spPr>
        <p:txBody>
          <a:bodyPr>
            <a:normAutofit/>
          </a:bodyPr>
          <a:lstStyle/>
          <a:p>
            <a:pPr algn="just"/>
            <a:r>
              <a:rPr lang="en-US" sz="2400" b="0" i="0" dirty="0">
                <a:effectLst/>
                <a:latin typeface="avertaRegular"/>
              </a:rPr>
              <a:t>In a market analysis, we study the dynamics of the market, such as volume and value, potential </a:t>
            </a:r>
            <a:r>
              <a:rPr lang="en-US" sz="2400" b="1" i="0" u="none" strike="noStrike" dirty="0">
                <a:solidFill>
                  <a:schemeClr val="accent1">
                    <a:lumMod val="75000"/>
                  </a:schemeClr>
                </a:solidFill>
                <a:effectLst/>
                <a:latin typeface="avertaRegular"/>
                <a:hlinkClick r:id="rId2">
                  <a:extLst>
                    <a:ext uri="{A12FA001-AC4F-418D-AE19-62706E023703}">
                      <ahyp:hlinkClr xmlns:ahyp="http://schemas.microsoft.com/office/drawing/2018/hyperlinkcolor" val="tx"/>
                    </a:ext>
                  </a:extLst>
                </a:hlinkClick>
              </a:rPr>
              <a:t>customer segments</a:t>
            </a:r>
            <a:r>
              <a:rPr lang="en-US" sz="2400" b="0" i="0" dirty="0">
                <a:effectLst/>
                <a:latin typeface="avertaRegular"/>
              </a:rPr>
              <a:t>, buying patterns, competition, and other important factors. A thorough marketing analysis should answer the following questions:</a:t>
            </a:r>
          </a:p>
          <a:p>
            <a:pPr algn="just">
              <a:buFont typeface="Arial" panose="020B0604020202020204" pitchFamily="34" charset="0"/>
              <a:buChar char="•"/>
            </a:pPr>
            <a:r>
              <a:rPr lang="en-US" sz="2400" b="0" i="0" dirty="0">
                <a:effectLst/>
                <a:latin typeface="avertaRegular"/>
              </a:rPr>
              <a:t>Who are my </a:t>
            </a:r>
            <a:r>
              <a:rPr lang="en-US" sz="2400" b="1" i="1" u="sng" dirty="0">
                <a:solidFill>
                  <a:schemeClr val="accent1">
                    <a:lumMod val="75000"/>
                  </a:schemeClr>
                </a:solidFill>
                <a:effectLst/>
                <a:latin typeface="avertaRegular"/>
              </a:rPr>
              <a:t>potential customers</a:t>
            </a:r>
            <a:r>
              <a:rPr lang="en-US" sz="2400" b="0" i="0" dirty="0">
                <a:effectLst/>
                <a:latin typeface="avertaRegular"/>
              </a:rPr>
              <a:t>?</a:t>
            </a:r>
          </a:p>
          <a:p>
            <a:pPr algn="just">
              <a:buFont typeface="Arial" panose="020B0604020202020204" pitchFamily="34" charset="0"/>
              <a:buChar char="•"/>
            </a:pPr>
            <a:r>
              <a:rPr lang="en-US" sz="2400" b="0" i="0" dirty="0">
                <a:effectLst/>
                <a:latin typeface="avertaRegular"/>
              </a:rPr>
              <a:t>What are my </a:t>
            </a:r>
            <a:r>
              <a:rPr lang="en-US" sz="2400" b="1" i="1" u="sng" dirty="0">
                <a:solidFill>
                  <a:schemeClr val="accent1">
                    <a:lumMod val="75000"/>
                  </a:schemeClr>
                </a:solidFill>
                <a:effectLst/>
                <a:latin typeface="avertaRegular"/>
              </a:rPr>
              <a:t>customers’ buying habits</a:t>
            </a:r>
            <a:r>
              <a:rPr lang="en-US" sz="2400" b="0" i="0" dirty="0">
                <a:effectLst/>
                <a:latin typeface="avertaRegular"/>
              </a:rPr>
              <a:t>?</a:t>
            </a:r>
          </a:p>
          <a:p>
            <a:pPr algn="just">
              <a:buFont typeface="Arial" panose="020B0604020202020204" pitchFamily="34" charset="0"/>
              <a:buChar char="•"/>
            </a:pPr>
            <a:r>
              <a:rPr lang="en-US" sz="2400" b="0" i="0" dirty="0">
                <a:effectLst/>
                <a:latin typeface="avertaRegular"/>
              </a:rPr>
              <a:t>How large is my</a:t>
            </a:r>
            <a:r>
              <a:rPr lang="en-US" sz="2400" b="0" i="0" dirty="0">
                <a:solidFill>
                  <a:schemeClr val="accent1">
                    <a:lumMod val="75000"/>
                  </a:schemeClr>
                </a:solidFill>
                <a:effectLst/>
                <a:latin typeface="avertaRegular"/>
              </a:rPr>
              <a:t> </a:t>
            </a:r>
            <a:r>
              <a:rPr lang="en-US" sz="2400" b="1" i="0" u="none" strike="noStrike" dirty="0">
                <a:solidFill>
                  <a:schemeClr val="accent1">
                    <a:lumMod val="75000"/>
                  </a:schemeClr>
                </a:solidFill>
                <a:effectLst/>
                <a:latin typeface="avertaRegular"/>
                <a:hlinkClick r:id="rId3">
                  <a:extLst>
                    <a:ext uri="{A12FA001-AC4F-418D-AE19-62706E023703}">
                      <ahyp:hlinkClr xmlns:ahyp="http://schemas.microsoft.com/office/drawing/2018/hyperlinkcolor" val="tx"/>
                    </a:ext>
                  </a:extLst>
                </a:hlinkClick>
              </a:rPr>
              <a:t>target market</a:t>
            </a:r>
            <a:r>
              <a:rPr lang="en-US" sz="2400" b="0" i="0" dirty="0">
                <a:effectLst/>
                <a:latin typeface="avertaRegular"/>
              </a:rPr>
              <a:t>?</a:t>
            </a:r>
          </a:p>
          <a:p>
            <a:pPr algn="just">
              <a:buFont typeface="Arial" panose="020B0604020202020204" pitchFamily="34" charset="0"/>
              <a:buChar char="•"/>
            </a:pPr>
            <a:r>
              <a:rPr lang="en-US" sz="2400" b="0" i="0" dirty="0">
                <a:effectLst/>
                <a:latin typeface="avertaRegular"/>
              </a:rPr>
              <a:t>How much are customers </a:t>
            </a:r>
            <a:r>
              <a:rPr lang="en-US" sz="2400" b="1" i="1" u="sng" dirty="0">
                <a:solidFill>
                  <a:schemeClr val="accent1">
                    <a:lumMod val="75000"/>
                  </a:schemeClr>
                </a:solidFill>
                <a:effectLst/>
                <a:latin typeface="avertaRegular"/>
              </a:rPr>
              <a:t>willing to pay for my product</a:t>
            </a:r>
            <a:r>
              <a:rPr lang="en-US" sz="2400" b="0" i="0" dirty="0">
                <a:effectLst/>
                <a:latin typeface="avertaRegular"/>
              </a:rPr>
              <a:t>?</a:t>
            </a:r>
          </a:p>
          <a:p>
            <a:pPr algn="just">
              <a:buFont typeface="Arial" panose="020B0604020202020204" pitchFamily="34" charset="0"/>
              <a:buChar char="•"/>
            </a:pPr>
            <a:r>
              <a:rPr lang="en-US" sz="2400" b="0" i="0" dirty="0">
                <a:effectLst/>
                <a:latin typeface="avertaRegular"/>
              </a:rPr>
              <a:t>Who are my main </a:t>
            </a:r>
            <a:r>
              <a:rPr lang="en-US" sz="2400" b="1" i="1" u="sng" dirty="0">
                <a:solidFill>
                  <a:schemeClr val="accent1">
                    <a:lumMod val="75000"/>
                  </a:schemeClr>
                </a:solidFill>
                <a:effectLst/>
                <a:latin typeface="avertaRegular"/>
              </a:rPr>
              <a:t>competitors</a:t>
            </a:r>
            <a:r>
              <a:rPr lang="en-US" sz="2400" b="0" i="0" dirty="0">
                <a:effectLst/>
                <a:latin typeface="avertaRegular"/>
              </a:rPr>
              <a:t>?</a:t>
            </a:r>
          </a:p>
          <a:p>
            <a:pPr algn="just">
              <a:buFont typeface="Arial" panose="020B0604020202020204" pitchFamily="34" charset="0"/>
              <a:buChar char="•"/>
            </a:pPr>
            <a:r>
              <a:rPr lang="en-US" sz="2400" b="0" i="0" dirty="0">
                <a:effectLst/>
                <a:latin typeface="avertaRegular"/>
              </a:rPr>
              <a:t>What are my </a:t>
            </a:r>
            <a:r>
              <a:rPr lang="en-US" sz="2400" b="1" i="1" u="none" strike="noStrike" dirty="0">
                <a:solidFill>
                  <a:schemeClr val="accent1">
                    <a:lumMod val="75000"/>
                  </a:schemeClr>
                </a:solidFill>
                <a:effectLst/>
                <a:latin typeface="avertaRegular"/>
                <a:hlinkClick r:id="rId4">
                  <a:extLst>
                    <a:ext uri="{A12FA001-AC4F-418D-AE19-62706E023703}">
                      <ahyp:hlinkClr xmlns:ahyp="http://schemas.microsoft.com/office/drawing/2018/hyperlinkcolor" val="tx"/>
                    </a:ext>
                  </a:extLst>
                </a:hlinkClick>
              </a:rPr>
              <a:t>competitors’ strengths and weaknesses</a:t>
            </a:r>
            <a:r>
              <a:rPr lang="en-US" sz="2400" b="0" i="0" dirty="0">
                <a:effectLst/>
                <a:latin typeface="avertaRegular"/>
              </a:rPr>
              <a:t>?</a:t>
            </a:r>
          </a:p>
          <a:p>
            <a:pPr algn="just"/>
            <a:endParaRPr lang="en-IN" sz="2400" dirty="0"/>
          </a:p>
        </p:txBody>
      </p:sp>
    </p:spTree>
    <p:extLst>
      <p:ext uri="{BB962C8B-B14F-4D97-AF65-F5344CB8AC3E}">
        <p14:creationId xmlns:p14="http://schemas.microsoft.com/office/powerpoint/2010/main" val="271168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19D721-1F52-4861-A99D-4D7B031147FC}"/>
              </a:ext>
            </a:extLst>
          </p:cNvPr>
          <p:cNvPicPr>
            <a:picLocks noChangeAspect="1"/>
          </p:cNvPicPr>
          <p:nvPr/>
        </p:nvPicPr>
        <p:blipFill rotWithShape="1">
          <a:blip r:embed="rId2"/>
          <a:srcRect b="17516"/>
          <a:stretch/>
        </p:blipFill>
        <p:spPr>
          <a:xfrm>
            <a:off x="0" y="0"/>
            <a:ext cx="12192000" cy="6858000"/>
          </a:xfrm>
          <a:prstGeom prst="rect">
            <a:avLst/>
          </a:prstGeom>
        </p:spPr>
      </p:pic>
    </p:spTree>
    <p:extLst>
      <p:ext uri="{BB962C8B-B14F-4D97-AF65-F5344CB8AC3E}">
        <p14:creationId xmlns:p14="http://schemas.microsoft.com/office/powerpoint/2010/main" val="411351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9DD32-47C4-4DE1-90C2-AFC19C6E1260}"/>
              </a:ext>
            </a:extLst>
          </p:cNvPr>
          <p:cNvSpPr>
            <a:spLocks noGrp="1"/>
          </p:cNvSpPr>
          <p:nvPr>
            <p:ph idx="1"/>
          </p:nvPr>
        </p:nvSpPr>
        <p:spPr>
          <a:xfrm>
            <a:off x="677334" y="242047"/>
            <a:ext cx="8596668" cy="5799315"/>
          </a:xfrm>
        </p:spPr>
        <p:txBody>
          <a:bodyPr>
            <a:normAutofit/>
          </a:bodyPr>
          <a:lstStyle/>
          <a:p>
            <a:pPr algn="just" fontAlgn="base"/>
            <a:r>
              <a:rPr lang="en-US" sz="2000" b="1" i="0" dirty="0">
                <a:effectLst/>
                <a:latin typeface="-apple-system"/>
              </a:rPr>
              <a:t>Size of the Market:</a:t>
            </a:r>
          </a:p>
          <a:p>
            <a:pPr marL="0" indent="0" algn="just" fontAlgn="base">
              <a:buNone/>
            </a:pPr>
            <a:r>
              <a:rPr lang="en-US" sz="2000" b="0" i="0" dirty="0">
                <a:effectLst/>
                <a:latin typeface="-apple-system"/>
              </a:rPr>
              <a:t>Understanding the size of the market is fundamental for businesses aiming to identify their potential customer base and estimate the revenue opportunities. By determining the </a:t>
            </a:r>
            <a:r>
              <a:rPr lang="en-US" sz="2000" b="1" i="1" dirty="0">
                <a:solidFill>
                  <a:schemeClr val="accent1">
                    <a:lumMod val="75000"/>
                  </a:schemeClr>
                </a:solidFill>
                <a:effectLst/>
                <a:latin typeface="-apple-system"/>
              </a:rPr>
              <a:t>total addressable market (TAM), </a:t>
            </a:r>
            <a:r>
              <a:rPr lang="en-US" sz="2000" b="0" i="0" dirty="0">
                <a:effectLst/>
                <a:latin typeface="-apple-system"/>
              </a:rPr>
              <a:t>businesses can evaluate the potential demand for their products or services. This involves assessing factors such as the population size, demographics, geographic distribution etc. Accurate market sizing provides a foundation for strategic planning, resource allocation, and setting realistic business goals.</a:t>
            </a:r>
          </a:p>
          <a:p>
            <a:pPr algn="just" fontAlgn="base"/>
            <a:r>
              <a:rPr lang="en-US" sz="2000" b="1" i="0" dirty="0">
                <a:effectLst/>
                <a:latin typeface="-apple-system"/>
              </a:rPr>
              <a:t>Growth Rate of the Market:</a:t>
            </a:r>
          </a:p>
          <a:p>
            <a:pPr marL="0" indent="0" algn="just" fontAlgn="base">
              <a:buNone/>
            </a:pPr>
            <a:r>
              <a:rPr lang="en-US" sz="2000" b="0" i="0" dirty="0">
                <a:effectLst/>
                <a:latin typeface="-apple-system"/>
              </a:rPr>
              <a:t>Assessing the growth rate of the market helps businesses gauge the future potential and viability of their products or services. This element focuses on analyzing the market trends, and external factors that can influence market expansion. Understanding the growth rate enables businesses to identify emerging opportunities, anticipate shifts in demand, and align their strategies accordingly. Additionally, it aids in evaluating the market saturation level and potential barriers to entry</a:t>
            </a:r>
            <a:r>
              <a:rPr lang="en-US" b="0" i="0" dirty="0">
                <a:effectLst/>
                <a:latin typeface="-apple-system"/>
              </a:rPr>
              <a:t>.</a:t>
            </a:r>
          </a:p>
          <a:p>
            <a:pPr algn="just" fontAlgn="base"/>
            <a:endParaRPr lang="en-US" b="0" i="0" dirty="0">
              <a:effectLst/>
              <a:latin typeface="-apple-system"/>
            </a:endParaRPr>
          </a:p>
          <a:p>
            <a:pPr algn="just"/>
            <a:endParaRPr lang="en-IN" dirty="0"/>
          </a:p>
        </p:txBody>
      </p:sp>
    </p:spTree>
    <p:extLst>
      <p:ext uri="{BB962C8B-B14F-4D97-AF65-F5344CB8AC3E}">
        <p14:creationId xmlns:p14="http://schemas.microsoft.com/office/powerpoint/2010/main" val="341568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4C24B-ECF6-4BBA-BFD7-29D1DBDFCBB4}"/>
              </a:ext>
            </a:extLst>
          </p:cNvPr>
          <p:cNvSpPr>
            <a:spLocks noGrp="1"/>
          </p:cNvSpPr>
          <p:nvPr>
            <p:ph idx="1"/>
          </p:nvPr>
        </p:nvSpPr>
        <p:spPr>
          <a:xfrm>
            <a:off x="677334" y="170329"/>
            <a:ext cx="8596668" cy="5871033"/>
          </a:xfrm>
        </p:spPr>
        <p:txBody>
          <a:bodyPr>
            <a:normAutofit/>
          </a:bodyPr>
          <a:lstStyle/>
          <a:p>
            <a:pPr algn="l" fontAlgn="base"/>
            <a:r>
              <a:rPr lang="en-US" b="1" i="0" dirty="0">
                <a:effectLst/>
                <a:latin typeface="-apple-system"/>
              </a:rPr>
              <a:t>Segmentation of Customers:</a:t>
            </a:r>
          </a:p>
          <a:p>
            <a:pPr marL="0" indent="0" algn="l" fontAlgn="base">
              <a:buNone/>
            </a:pPr>
            <a:r>
              <a:rPr lang="en-US" b="0" i="0" dirty="0">
                <a:effectLst/>
                <a:latin typeface="-apple-system"/>
              </a:rPr>
              <a:t>Customer segmentation is a vital aspect of market analysis that involves dividing the target market into distinct groups based on shared characteristics and behaviors. By segmenting customers, businesses can gain a deeper understanding of their diverse needs, preferences, and buying behaviors. This facilitates the development of tailored marketing strategies, product positioning, and effective communication strategies. Customer segmentation allows businesses to prioritize their efforts, personalize offerings, and maximize customer satisfaction, ultimately leading to increased market share and customer loyalty.</a:t>
            </a:r>
          </a:p>
          <a:p>
            <a:pPr algn="l" fontAlgn="base"/>
            <a:r>
              <a:rPr lang="en-US" b="1" i="0" dirty="0">
                <a:effectLst/>
                <a:latin typeface="-apple-system"/>
              </a:rPr>
              <a:t>Assessment of Competition:</a:t>
            </a:r>
          </a:p>
          <a:p>
            <a:pPr marL="0" indent="0" algn="l" fontAlgn="base">
              <a:buNone/>
            </a:pPr>
            <a:r>
              <a:rPr lang="en-US" b="0" i="0" dirty="0">
                <a:effectLst/>
                <a:latin typeface="-apple-system"/>
              </a:rPr>
              <a:t>A comprehensive analysis of the competitive landscape is crucial to navigate the market successfully. This element involves identifying and evaluating direct and indirect competitors, analyzing their strengths, weaknesses, market share, and strategies. Understanding competitor positioning, pricing, distribution channels, and marketing tactics enables businesses to identify their unique selling proposition (USP) and develop effective differentiation strategies. Furthermore, assessing competition fosters market intelligence, helps identify market gaps, and allows businesses to stay agile and responsive to market changes.</a:t>
            </a:r>
          </a:p>
          <a:p>
            <a:endParaRPr lang="en-IN" dirty="0"/>
          </a:p>
        </p:txBody>
      </p:sp>
    </p:spTree>
    <p:extLst>
      <p:ext uri="{BB962C8B-B14F-4D97-AF65-F5344CB8AC3E}">
        <p14:creationId xmlns:p14="http://schemas.microsoft.com/office/powerpoint/2010/main" val="218818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91104B-51E7-49DF-8A3C-A7C5CB1B9009}"/>
              </a:ext>
            </a:extLst>
          </p:cNvPr>
          <p:cNvPicPr>
            <a:picLocks noChangeAspect="1"/>
          </p:cNvPicPr>
          <p:nvPr/>
        </p:nvPicPr>
        <p:blipFill>
          <a:blip r:embed="rId2"/>
          <a:stretch>
            <a:fillRect/>
          </a:stretch>
        </p:blipFill>
        <p:spPr>
          <a:xfrm>
            <a:off x="0" y="0"/>
            <a:ext cx="11811000" cy="6858000"/>
          </a:xfrm>
          <a:prstGeom prst="rect">
            <a:avLst/>
          </a:prstGeom>
        </p:spPr>
      </p:pic>
    </p:spTree>
    <p:extLst>
      <p:ext uri="{BB962C8B-B14F-4D97-AF65-F5344CB8AC3E}">
        <p14:creationId xmlns:p14="http://schemas.microsoft.com/office/powerpoint/2010/main" val="2294162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E7E502-0431-4CF4-91F9-8B71211DF07D}"/>
              </a:ext>
            </a:extLst>
          </p:cNvPr>
          <p:cNvPicPr>
            <a:picLocks noChangeAspect="1"/>
          </p:cNvPicPr>
          <p:nvPr/>
        </p:nvPicPr>
        <p:blipFill rotWithShape="1">
          <a:blip r:embed="rId2"/>
          <a:srcRect b="8727"/>
          <a:stretch/>
        </p:blipFill>
        <p:spPr>
          <a:xfrm>
            <a:off x="0" y="93637"/>
            <a:ext cx="11654118" cy="6692645"/>
          </a:xfrm>
          <a:prstGeom prst="rect">
            <a:avLst/>
          </a:prstGeom>
        </p:spPr>
      </p:pic>
    </p:spTree>
    <p:extLst>
      <p:ext uri="{BB962C8B-B14F-4D97-AF65-F5344CB8AC3E}">
        <p14:creationId xmlns:p14="http://schemas.microsoft.com/office/powerpoint/2010/main" val="1907157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F9E18-98E2-41B0-BF56-9FBF10A2E086}"/>
              </a:ext>
            </a:extLst>
          </p:cNvPr>
          <p:cNvSpPr>
            <a:spLocks noGrp="1"/>
          </p:cNvSpPr>
          <p:nvPr>
            <p:ph type="title"/>
          </p:nvPr>
        </p:nvSpPr>
        <p:spPr>
          <a:xfrm>
            <a:off x="677334" y="609600"/>
            <a:ext cx="8596668" cy="708212"/>
          </a:xfrm>
        </p:spPr>
        <p:txBody>
          <a:bodyPr/>
          <a:lstStyle/>
          <a:p>
            <a:r>
              <a:rPr lang="en-US" dirty="0"/>
              <a:t>Benefits of market analysis</a:t>
            </a:r>
            <a:endParaRPr lang="en-IN" dirty="0"/>
          </a:p>
        </p:txBody>
      </p:sp>
      <p:sp>
        <p:nvSpPr>
          <p:cNvPr id="3" name="Content Placeholder 2">
            <a:extLst>
              <a:ext uri="{FF2B5EF4-FFF2-40B4-BE49-F238E27FC236}">
                <a16:creationId xmlns:a16="http://schemas.microsoft.com/office/drawing/2014/main" id="{6FB690D3-5AC9-431A-9AB8-491217C7C945}"/>
              </a:ext>
            </a:extLst>
          </p:cNvPr>
          <p:cNvSpPr>
            <a:spLocks noGrp="1"/>
          </p:cNvSpPr>
          <p:nvPr>
            <p:ph idx="1"/>
          </p:nvPr>
        </p:nvSpPr>
        <p:spPr>
          <a:xfrm>
            <a:off x="677334" y="1228165"/>
            <a:ext cx="8596668" cy="5262282"/>
          </a:xfrm>
        </p:spPr>
        <p:txBody>
          <a:bodyPr>
            <a:normAutofit fontScale="92500" lnSpcReduction="10000"/>
          </a:bodyPr>
          <a:lstStyle/>
          <a:p>
            <a:pPr algn="just">
              <a:buFont typeface="+mj-lt"/>
              <a:buAutoNum type="arabicPeriod"/>
            </a:pPr>
            <a:r>
              <a:rPr lang="en-US" sz="1400" b="1" i="0" dirty="0">
                <a:solidFill>
                  <a:schemeClr val="tx1"/>
                </a:solidFill>
                <a:effectLst/>
                <a:latin typeface="avertaRegular"/>
              </a:rPr>
              <a:t>Risk reduction: </a:t>
            </a:r>
            <a:r>
              <a:rPr lang="en-US" sz="1400" b="0" i="0" dirty="0">
                <a:solidFill>
                  <a:schemeClr val="tx1"/>
                </a:solidFill>
                <a:effectLst/>
                <a:latin typeface="avertaRegular"/>
              </a:rPr>
              <a:t>Knowing your market can reduce risks in your business, since you’ll have an understanding of major market trends, the main players in your industry, and what it takes to be successful, all of which will inform your business decisions. To help you further protect your business, you can also </a:t>
            </a:r>
            <a:r>
              <a:rPr lang="en-US" sz="1400" b="0" i="0" u="none" strike="noStrike" dirty="0">
                <a:solidFill>
                  <a:schemeClr val="tx1"/>
                </a:solidFill>
                <a:effectLst/>
                <a:latin typeface="avertaRegular"/>
                <a:hlinkClick r:id="rId2">
                  <a:extLst>
                    <a:ext uri="{A12FA001-AC4F-418D-AE19-62706E023703}">
                      <ahyp:hlinkClr xmlns:ahyp="http://schemas.microsoft.com/office/drawing/2018/hyperlinkcolor" val="tx"/>
                    </a:ext>
                  </a:extLst>
                </a:hlinkClick>
              </a:rPr>
              <a:t>conduct a SWOT analysis</a:t>
            </a:r>
            <a:r>
              <a:rPr lang="en-US" sz="1400" b="0" i="0" dirty="0">
                <a:solidFill>
                  <a:schemeClr val="tx1"/>
                </a:solidFill>
                <a:effectLst/>
                <a:latin typeface="avertaRegular"/>
              </a:rPr>
              <a:t>, which identifies the strengths, weaknesses, opportunities and threats for your business.</a:t>
            </a:r>
          </a:p>
          <a:p>
            <a:pPr algn="just">
              <a:buFont typeface="+mj-lt"/>
              <a:buAutoNum type="arabicPeriod"/>
            </a:pPr>
            <a:r>
              <a:rPr lang="en-US" sz="1400" b="1" i="0" dirty="0">
                <a:solidFill>
                  <a:schemeClr val="tx1"/>
                </a:solidFill>
                <a:effectLst/>
                <a:latin typeface="avertaRegular"/>
              </a:rPr>
              <a:t>Targeted products or services: </a:t>
            </a:r>
            <a:r>
              <a:rPr lang="en-US" sz="1400" b="0" i="0" dirty="0">
                <a:solidFill>
                  <a:schemeClr val="tx1"/>
                </a:solidFill>
                <a:effectLst/>
                <a:latin typeface="avertaRegular"/>
              </a:rPr>
              <a:t>You are in a much better position to serve your customers when you have a firm grasp on what they are looking for from you. When you know who your customers are, you can use that information to tailor your business’s offerings to your customers’ needs.</a:t>
            </a:r>
          </a:p>
          <a:p>
            <a:pPr algn="just">
              <a:buFont typeface="+mj-lt"/>
              <a:buAutoNum type="arabicPeriod"/>
            </a:pPr>
            <a:r>
              <a:rPr lang="en-US" sz="1400" b="1" i="0" dirty="0">
                <a:solidFill>
                  <a:schemeClr val="tx1"/>
                </a:solidFill>
                <a:effectLst/>
                <a:latin typeface="avertaRegular"/>
              </a:rPr>
              <a:t>Emerging trends: </a:t>
            </a:r>
            <a:r>
              <a:rPr lang="en-US" sz="1400" b="0" i="0" dirty="0">
                <a:solidFill>
                  <a:schemeClr val="tx1"/>
                </a:solidFill>
                <a:effectLst/>
                <a:latin typeface="avertaRegular"/>
              </a:rPr>
              <a:t>Staying ahead in business is often about being the first to spot a new opportunity or trend, and using a marketing analysis to stay on top of industry trends is a great way to position yourself to take advantage of this information.</a:t>
            </a:r>
          </a:p>
          <a:p>
            <a:pPr algn="just">
              <a:buFont typeface="+mj-lt"/>
              <a:buAutoNum type="arabicPeriod"/>
            </a:pPr>
            <a:r>
              <a:rPr lang="en-US" sz="1400" b="1" i="0" dirty="0">
                <a:solidFill>
                  <a:schemeClr val="tx1"/>
                </a:solidFill>
                <a:effectLst/>
                <a:latin typeface="avertaRegular"/>
              </a:rPr>
              <a:t>Revenue projections: </a:t>
            </a:r>
            <a:r>
              <a:rPr lang="en-US" sz="1400" b="0" i="0" dirty="0">
                <a:solidFill>
                  <a:schemeClr val="tx1"/>
                </a:solidFill>
                <a:effectLst/>
                <a:latin typeface="avertaRegular"/>
              </a:rPr>
              <a:t>A market forecast is a key component of most marketing analyses, as it projects the future numbers, characteristics and trends in your target market. This gives you an idea of the profits you can expect, allowing you to adjust your business plan and budget accordingly.</a:t>
            </a:r>
          </a:p>
          <a:p>
            <a:pPr algn="just">
              <a:buFont typeface="+mj-lt"/>
              <a:buAutoNum type="arabicPeriod"/>
            </a:pPr>
            <a:r>
              <a:rPr lang="en-US" sz="1400" b="1" i="0" dirty="0">
                <a:solidFill>
                  <a:schemeClr val="tx1"/>
                </a:solidFill>
                <a:effectLst/>
                <a:latin typeface="avertaRegular"/>
              </a:rPr>
              <a:t>Evaluation benchmarks: </a:t>
            </a:r>
            <a:r>
              <a:rPr lang="en-US" sz="1400" b="0" i="0" dirty="0">
                <a:solidFill>
                  <a:schemeClr val="tx1"/>
                </a:solidFill>
                <a:effectLst/>
                <a:latin typeface="avertaRegular"/>
              </a:rPr>
              <a:t>It can be difficult to gauge your business’s success outside of pure numbers. A market analysis provides benchmarks or </a:t>
            </a:r>
            <a:r>
              <a:rPr lang="en-US" sz="1400" b="0" i="0" u="none" strike="noStrike" dirty="0">
                <a:solidFill>
                  <a:schemeClr val="tx1"/>
                </a:solidFill>
                <a:effectLst/>
                <a:latin typeface="avertaRegular"/>
                <a:hlinkClick r:id="rId3">
                  <a:extLst>
                    <a:ext uri="{A12FA001-AC4F-418D-AE19-62706E023703}">
                      <ahyp:hlinkClr xmlns:ahyp="http://schemas.microsoft.com/office/drawing/2018/hyperlinkcolor" val="tx"/>
                    </a:ext>
                  </a:extLst>
                </a:hlinkClick>
              </a:rPr>
              <a:t>key performance indicators (KPIs)</a:t>
            </a:r>
            <a:r>
              <a:rPr lang="en-US" sz="1400" b="0" i="0" dirty="0">
                <a:solidFill>
                  <a:schemeClr val="tx1"/>
                </a:solidFill>
                <a:effectLst/>
                <a:latin typeface="avertaRegular"/>
              </a:rPr>
              <a:t> against which you can judge your company and how well you are doing compared to others in your industry.</a:t>
            </a:r>
          </a:p>
          <a:p>
            <a:pPr algn="just">
              <a:buFont typeface="+mj-lt"/>
              <a:buAutoNum type="arabicPeriod"/>
            </a:pPr>
            <a:r>
              <a:rPr lang="en-US" sz="1400" b="1" i="0" dirty="0">
                <a:solidFill>
                  <a:schemeClr val="tx1"/>
                </a:solidFill>
                <a:effectLst/>
                <a:latin typeface="avertaRegular"/>
              </a:rPr>
              <a:t>Context for past mistakes: </a:t>
            </a:r>
            <a:r>
              <a:rPr lang="en-US" sz="1400" b="0" i="0" dirty="0">
                <a:solidFill>
                  <a:schemeClr val="tx1"/>
                </a:solidFill>
                <a:effectLst/>
                <a:latin typeface="avertaRegular"/>
              </a:rPr>
              <a:t>Marketing analytics can explain your business’s past mistakes or industry anomalies. For example, in-depth analytics can explain what impacted the sale of a specific product, or why a certain metric performed the way it did. This can help you avoid making those mistakes again or experiencing similar anomalies, because you’ll be able to analyze and describe what went wrong and why.</a:t>
            </a:r>
          </a:p>
          <a:p>
            <a:pPr algn="just">
              <a:buFont typeface="+mj-lt"/>
              <a:buAutoNum type="arabicPeriod"/>
            </a:pPr>
            <a:r>
              <a:rPr lang="en-US" sz="1400" b="1" i="0" dirty="0">
                <a:solidFill>
                  <a:schemeClr val="tx1"/>
                </a:solidFill>
                <a:effectLst/>
                <a:latin typeface="avertaRegular"/>
              </a:rPr>
              <a:t>Marketing optimization: </a:t>
            </a:r>
            <a:r>
              <a:rPr lang="en-US" sz="1400" b="0" i="0" dirty="0">
                <a:solidFill>
                  <a:schemeClr val="tx1"/>
                </a:solidFill>
                <a:effectLst/>
                <a:latin typeface="avertaRegular"/>
              </a:rPr>
              <a:t>This is where an annual marketing analysis comes in </a:t>
            </a:r>
            <a:r>
              <a:rPr lang="en-US" sz="1600" b="0" i="0" dirty="0">
                <a:solidFill>
                  <a:schemeClr val="tx1"/>
                </a:solidFill>
                <a:effectLst/>
                <a:latin typeface="avertaRegular"/>
              </a:rPr>
              <a:t>handy</a:t>
            </a:r>
            <a:r>
              <a:rPr lang="en-US" sz="1400" b="0" i="0" dirty="0">
                <a:solidFill>
                  <a:schemeClr val="tx1"/>
                </a:solidFill>
                <a:effectLst/>
                <a:latin typeface="avertaRegular"/>
              </a:rPr>
              <a:t> – regular analysis can inform your ongoing marketing efforts and show you which aspects of your marketing need work, and which are performing well in comparison to the other companies in your industry.</a:t>
            </a:r>
            <a:br>
              <a:rPr lang="en-US" sz="1400" b="1" i="0" dirty="0">
                <a:solidFill>
                  <a:schemeClr val="tx1"/>
                </a:solidFill>
                <a:effectLst/>
                <a:latin typeface="squareSerifBold"/>
              </a:rPr>
            </a:br>
            <a:endParaRPr lang="en-IN" sz="1400" dirty="0">
              <a:solidFill>
                <a:schemeClr val="tx1"/>
              </a:solidFill>
            </a:endParaRPr>
          </a:p>
        </p:txBody>
      </p:sp>
    </p:spTree>
    <p:extLst>
      <p:ext uri="{BB962C8B-B14F-4D97-AF65-F5344CB8AC3E}">
        <p14:creationId xmlns:p14="http://schemas.microsoft.com/office/powerpoint/2010/main" val="2037327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69753B0-9F62-44EC-B28E-39496FD8EC24}"/>
              </a:ext>
            </a:extLst>
          </p:cNvPr>
          <p:cNvGraphicFramePr>
            <a:graphicFrameLocks noGrp="1"/>
          </p:cNvGraphicFramePr>
          <p:nvPr>
            <p:ph idx="1"/>
            <p:extLst>
              <p:ext uri="{D42A27DB-BD31-4B8C-83A1-F6EECF244321}">
                <p14:modId xmlns:p14="http://schemas.microsoft.com/office/powerpoint/2010/main" val="3128754495"/>
              </p:ext>
            </p:extLst>
          </p:nvPr>
        </p:nvGraphicFramePr>
        <p:xfrm>
          <a:off x="0" y="0"/>
          <a:ext cx="12192000" cy="6858001"/>
        </p:xfrm>
        <a:graphic>
          <a:graphicData uri="http://schemas.openxmlformats.org/drawingml/2006/table">
            <a:tbl>
              <a:tblPr firstRow="1" bandRow="1">
                <a:tableStyleId>{5C22544A-7EE6-4342-B048-85BDC9FD1C3A}</a:tableStyleId>
              </a:tblPr>
              <a:tblGrid>
                <a:gridCol w="846747">
                  <a:extLst>
                    <a:ext uri="{9D8B030D-6E8A-4147-A177-3AD203B41FA5}">
                      <a16:colId xmlns:a16="http://schemas.microsoft.com/office/drawing/2014/main" val="1913441560"/>
                    </a:ext>
                  </a:extLst>
                </a:gridCol>
                <a:gridCol w="2244698">
                  <a:extLst>
                    <a:ext uri="{9D8B030D-6E8A-4147-A177-3AD203B41FA5}">
                      <a16:colId xmlns:a16="http://schemas.microsoft.com/office/drawing/2014/main" val="849239183"/>
                    </a:ext>
                  </a:extLst>
                </a:gridCol>
                <a:gridCol w="9100555">
                  <a:extLst>
                    <a:ext uri="{9D8B030D-6E8A-4147-A177-3AD203B41FA5}">
                      <a16:colId xmlns:a16="http://schemas.microsoft.com/office/drawing/2014/main" val="188463395"/>
                    </a:ext>
                  </a:extLst>
                </a:gridCol>
              </a:tblGrid>
              <a:tr h="511706">
                <a:tc>
                  <a:txBody>
                    <a:bodyPr/>
                    <a:lstStyle/>
                    <a:p>
                      <a:pPr algn="just"/>
                      <a:r>
                        <a:rPr lang="en-US" sz="1100" dirty="0">
                          <a:solidFill>
                            <a:schemeClr val="tx1"/>
                          </a:solidFill>
                        </a:rPr>
                        <a:t>1</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Risk reduction</a:t>
                      </a:r>
                      <a:endParaRPr lang="en-IN" sz="1100" dirty="0">
                        <a:solidFill>
                          <a:schemeClr val="tx1"/>
                        </a:solidFill>
                      </a:endParaRPr>
                    </a:p>
                  </a:txBody>
                  <a:tcPr/>
                </a:tc>
                <a:tc>
                  <a:txBody>
                    <a:bodyPr/>
                    <a:lstStyle/>
                    <a:p>
                      <a:pPr algn="just"/>
                      <a:r>
                        <a:rPr lang="en-US" sz="1100" dirty="0">
                          <a:solidFill>
                            <a:schemeClr val="tx1"/>
                          </a:solidFill>
                        </a:rPr>
                        <a:t>Before expanding to a new city, a restaurant analyzes local food preferences to avoid menu failure</a:t>
                      </a:r>
                      <a:endParaRPr lang="en-IN" sz="1100" dirty="0">
                        <a:solidFill>
                          <a:schemeClr val="tx1"/>
                        </a:solidFill>
                      </a:endParaRPr>
                    </a:p>
                  </a:txBody>
                  <a:tcPr/>
                </a:tc>
                <a:extLst>
                  <a:ext uri="{0D108BD9-81ED-4DB2-BD59-A6C34878D82A}">
                    <a16:rowId xmlns:a16="http://schemas.microsoft.com/office/drawing/2014/main" val="1365565086"/>
                  </a:ext>
                </a:extLst>
              </a:tr>
              <a:tr h="552033">
                <a:tc>
                  <a:txBody>
                    <a:bodyPr/>
                    <a:lstStyle/>
                    <a:p>
                      <a:pPr algn="just"/>
                      <a:r>
                        <a:rPr lang="en-US" sz="1100" dirty="0">
                          <a:solidFill>
                            <a:schemeClr val="tx1"/>
                          </a:solidFill>
                        </a:rPr>
                        <a:t>2</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Targeted products or services</a:t>
                      </a:r>
                      <a:endParaRPr lang="en-IN" sz="1100" dirty="0">
                        <a:solidFill>
                          <a:schemeClr val="tx1"/>
                        </a:solidFill>
                      </a:endParaRPr>
                    </a:p>
                  </a:txBody>
                  <a:tcPr/>
                </a:tc>
                <a:tc>
                  <a:txBody>
                    <a:bodyPr/>
                    <a:lstStyle/>
                    <a:p>
                      <a:pPr algn="just"/>
                      <a:r>
                        <a:rPr lang="en-US" sz="1100" dirty="0">
                          <a:solidFill>
                            <a:schemeClr val="tx1"/>
                          </a:solidFill>
                        </a:rPr>
                        <a:t>A fashion brand learns that its target customers prefer sustainable fabrics and starts an eco-friendly clothing line.</a:t>
                      </a:r>
                      <a:endParaRPr lang="en-IN" sz="1100" dirty="0">
                        <a:solidFill>
                          <a:schemeClr val="tx1"/>
                        </a:solidFill>
                      </a:endParaRPr>
                    </a:p>
                  </a:txBody>
                  <a:tcPr/>
                </a:tc>
                <a:extLst>
                  <a:ext uri="{0D108BD9-81ED-4DB2-BD59-A6C34878D82A}">
                    <a16:rowId xmlns:a16="http://schemas.microsoft.com/office/drawing/2014/main" val="4080625842"/>
                  </a:ext>
                </a:extLst>
              </a:tr>
              <a:tr h="529805">
                <a:tc>
                  <a:txBody>
                    <a:bodyPr/>
                    <a:lstStyle/>
                    <a:p>
                      <a:pPr algn="just"/>
                      <a:r>
                        <a:rPr lang="en-US" sz="1100" dirty="0">
                          <a:solidFill>
                            <a:schemeClr val="tx1"/>
                          </a:solidFill>
                        </a:rPr>
                        <a:t>3</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Emerging trends</a:t>
                      </a:r>
                      <a:endParaRPr lang="en-IN" sz="1100" dirty="0">
                        <a:solidFill>
                          <a:schemeClr val="tx1"/>
                        </a:solidFill>
                      </a:endParaRPr>
                    </a:p>
                  </a:txBody>
                  <a:tcPr/>
                </a:tc>
                <a:tc>
                  <a:txBody>
                    <a:bodyPr/>
                    <a:lstStyle/>
                    <a:p>
                      <a:pPr algn="just"/>
                      <a:r>
                        <a:rPr lang="en-US" sz="1100" dirty="0">
                          <a:solidFill>
                            <a:schemeClr val="tx1"/>
                          </a:solidFill>
                        </a:rPr>
                        <a:t>Through market analysis, a food company discovers an </a:t>
                      </a:r>
                      <a:r>
                        <a:rPr lang="en-US" sz="1100" b="1" dirty="0">
                          <a:solidFill>
                            <a:schemeClr val="tx1"/>
                          </a:solidFill>
                        </a:rPr>
                        <a:t>emerging trend</a:t>
                      </a:r>
                      <a:r>
                        <a:rPr lang="en-US" sz="1100" dirty="0">
                          <a:solidFill>
                            <a:schemeClr val="tx1"/>
                          </a:solidFill>
                        </a:rPr>
                        <a:t>—a significant rise in consumer interest in </a:t>
                      </a:r>
                      <a:r>
                        <a:rPr lang="en-US" sz="1100" b="1" dirty="0">
                          <a:solidFill>
                            <a:schemeClr val="tx1"/>
                          </a:solidFill>
                        </a:rPr>
                        <a:t>plant-based and vegan diets</a:t>
                      </a:r>
                      <a:r>
                        <a:rPr lang="en-US" sz="1100" dirty="0">
                          <a:solidFill>
                            <a:schemeClr val="tx1"/>
                          </a:solidFill>
                        </a:rPr>
                        <a:t> due to health concerns and environmental awareness.</a:t>
                      </a:r>
                      <a:endParaRPr lang="en-IN" sz="1100" dirty="0">
                        <a:solidFill>
                          <a:schemeClr val="tx1"/>
                        </a:solidFill>
                      </a:endParaRPr>
                    </a:p>
                  </a:txBody>
                  <a:tcPr/>
                </a:tc>
                <a:extLst>
                  <a:ext uri="{0D108BD9-81ED-4DB2-BD59-A6C34878D82A}">
                    <a16:rowId xmlns:a16="http://schemas.microsoft.com/office/drawing/2014/main" val="1993310408"/>
                  </a:ext>
                </a:extLst>
              </a:tr>
              <a:tr h="1500331">
                <a:tc>
                  <a:txBody>
                    <a:bodyPr/>
                    <a:lstStyle/>
                    <a:p>
                      <a:pPr algn="just"/>
                      <a:r>
                        <a:rPr lang="en-US" sz="1100" dirty="0">
                          <a:solidFill>
                            <a:schemeClr val="tx1"/>
                          </a:solidFill>
                        </a:rPr>
                        <a:t>4</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Revenue projections</a:t>
                      </a:r>
                      <a:endParaRPr lang="en-IN" sz="1100" dirty="0">
                        <a:solidFill>
                          <a:schemeClr val="tx1"/>
                        </a:solidFill>
                      </a:endParaRPr>
                    </a:p>
                  </a:txBody>
                  <a:tcPr/>
                </a:tc>
                <a:tc>
                  <a:txBody>
                    <a:bodyPr/>
                    <a:lstStyle/>
                    <a:p>
                      <a:pPr algn="just"/>
                      <a:r>
                        <a:rPr lang="en-US" sz="1100" b="1" dirty="0">
                          <a:solidFill>
                            <a:schemeClr val="tx1"/>
                          </a:solidFill>
                        </a:rPr>
                        <a:t>E-commerce Business Expansion</a:t>
                      </a:r>
                    </a:p>
                    <a:p>
                      <a:pPr algn="just"/>
                      <a:r>
                        <a:rPr lang="en-US" sz="1100" dirty="0">
                          <a:solidFill>
                            <a:schemeClr val="tx1"/>
                          </a:solidFill>
                        </a:rPr>
                        <a:t>An online fashion retailer conducts </a:t>
                      </a:r>
                      <a:r>
                        <a:rPr lang="en-US" sz="1100" b="1" dirty="0">
                          <a:solidFill>
                            <a:schemeClr val="tx1"/>
                          </a:solidFill>
                        </a:rPr>
                        <a:t>market analysis</a:t>
                      </a:r>
                      <a:r>
                        <a:rPr lang="en-US" sz="1100" dirty="0">
                          <a:solidFill>
                            <a:schemeClr val="tx1"/>
                          </a:solidFill>
                        </a:rPr>
                        <a:t> and discovers that demand for </a:t>
                      </a:r>
                      <a:r>
                        <a:rPr lang="en-US" sz="1100" b="1" dirty="0">
                          <a:solidFill>
                            <a:schemeClr val="tx1"/>
                          </a:solidFill>
                        </a:rPr>
                        <a:t>athleisure wear</a:t>
                      </a:r>
                      <a:r>
                        <a:rPr lang="en-US" sz="1100" dirty="0">
                          <a:solidFill>
                            <a:schemeClr val="tx1"/>
                          </a:solidFill>
                        </a:rPr>
                        <a:t> is growing at </a:t>
                      </a:r>
                      <a:r>
                        <a:rPr lang="en-US" sz="1100" b="1" dirty="0">
                          <a:solidFill>
                            <a:schemeClr val="tx1"/>
                          </a:solidFill>
                        </a:rPr>
                        <a:t>15% annually</a:t>
                      </a:r>
                      <a:r>
                        <a:rPr lang="en-US" sz="1100" dirty="0">
                          <a:solidFill>
                            <a:schemeClr val="tx1"/>
                          </a:solidFill>
                        </a:rPr>
                        <a:t> in Tier-2 cities. Based on this data, they estimate:</a:t>
                      </a:r>
                    </a:p>
                    <a:p>
                      <a:pPr algn="just"/>
                      <a:r>
                        <a:rPr lang="en-US" sz="1100" b="1" dirty="0">
                          <a:solidFill>
                            <a:schemeClr val="tx1"/>
                          </a:solidFill>
                        </a:rPr>
                        <a:t>Target audience size:</a:t>
                      </a:r>
                      <a:r>
                        <a:rPr lang="en-US" sz="1100" dirty="0">
                          <a:solidFill>
                            <a:schemeClr val="tx1"/>
                          </a:solidFill>
                        </a:rPr>
                        <a:t> 1 lac potential customers</a:t>
                      </a:r>
                    </a:p>
                    <a:p>
                      <a:pPr algn="just"/>
                      <a:r>
                        <a:rPr lang="en-US" sz="1100" b="1" dirty="0">
                          <a:solidFill>
                            <a:schemeClr val="tx1"/>
                          </a:solidFill>
                        </a:rPr>
                        <a:t>Average purchase value:</a:t>
                      </a:r>
                      <a:r>
                        <a:rPr lang="en-US" sz="1100" dirty="0">
                          <a:solidFill>
                            <a:schemeClr val="tx1"/>
                          </a:solidFill>
                        </a:rPr>
                        <a:t> ₹150</a:t>
                      </a:r>
                    </a:p>
                    <a:p>
                      <a:pPr algn="l"/>
                      <a:r>
                        <a:rPr lang="en-US" sz="1100" b="1" dirty="0">
                          <a:solidFill>
                            <a:schemeClr val="tx1"/>
                          </a:solidFill>
                        </a:rPr>
                        <a:t>Revenue</a:t>
                      </a:r>
                      <a:br>
                        <a:rPr lang="en-US" sz="1100" dirty="0">
                          <a:solidFill>
                            <a:schemeClr val="tx1"/>
                          </a:solidFill>
                        </a:rPr>
                      </a:br>
                      <a:r>
                        <a:rPr lang="en-US" sz="1100" dirty="0">
                          <a:solidFill>
                            <a:schemeClr val="tx1"/>
                          </a:solidFill>
                        </a:rPr>
                        <a:t>1,00,000 × ₹150 = </a:t>
                      </a:r>
                      <a:r>
                        <a:rPr lang="en-US" sz="1100" b="1" dirty="0">
                          <a:solidFill>
                            <a:schemeClr val="tx1"/>
                          </a:solidFill>
                        </a:rPr>
                        <a:t>₹1,50,00,000 </a:t>
                      </a:r>
                      <a:r>
                        <a:rPr lang="en-US" sz="1100" dirty="0">
                          <a:solidFill>
                            <a:schemeClr val="tx1"/>
                          </a:solidFill>
                        </a:rPr>
                        <a:t>expected revenue in the first year.</a:t>
                      </a:r>
                    </a:p>
                    <a:p>
                      <a:pPr algn="just"/>
                      <a:endParaRPr lang="en-IN" sz="1100" dirty="0">
                        <a:solidFill>
                          <a:schemeClr val="tx1"/>
                        </a:solidFill>
                      </a:endParaRPr>
                    </a:p>
                  </a:txBody>
                  <a:tcPr/>
                </a:tc>
                <a:extLst>
                  <a:ext uri="{0D108BD9-81ED-4DB2-BD59-A6C34878D82A}">
                    <a16:rowId xmlns:a16="http://schemas.microsoft.com/office/drawing/2014/main" val="1539673996"/>
                  </a:ext>
                </a:extLst>
              </a:tr>
              <a:tr h="1824766">
                <a:tc>
                  <a:txBody>
                    <a:bodyPr/>
                    <a:lstStyle/>
                    <a:p>
                      <a:pPr algn="just"/>
                      <a:r>
                        <a:rPr lang="en-US" sz="1100" dirty="0">
                          <a:solidFill>
                            <a:schemeClr val="tx1"/>
                          </a:solidFill>
                        </a:rPr>
                        <a:t>5</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Evaluation benchmarks</a:t>
                      </a:r>
                      <a:endParaRPr lang="en-IN" sz="1100" dirty="0">
                        <a:solidFill>
                          <a:schemeClr val="tx1"/>
                        </a:solidFill>
                      </a:endParaRPr>
                    </a:p>
                  </a:txBody>
                  <a:tcPr/>
                </a:tc>
                <a:tc>
                  <a:txBody>
                    <a:bodyPr/>
                    <a:lstStyle/>
                    <a:p>
                      <a:pPr algn="l"/>
                      <a:r>
                        <a:rPr lang="en-US" sz="1100" b="1" dirty="0"/>
                        <a:t>Restaurant Chain Expansion</a:t>
                      </a:r>
                      <a:br>
                        <a:rPr lang="en-US" sz="1100" dirty="0"/>
                      </a:br>
                      <a:r>
                        <a:rPr lang="en-US" sz="1100" dirty="0"/>
                        <a:t>A restaurant brand wants to open outlets in new cities. They conduct </a:t>
                      </a:r>
                      <a:r>
                        <a:rPr lang="en-US" sz="1100" b="1" dirty="0"/>
                        <a:t>market analysis</a:t>
                      </a:r>
                      <a:r>
                        <a:rPr lang="en-US" sz="1100" dirty="0"/>
                        <a:t> to identify industry benchmarks like:</a:t>
                      </a:r>
                    </a:p>
                    <a:p>
                      <a:pPr algn="l"/>
                      <a:r>
                        <a:rPr lang="en-US" sz="1100" b="1" dirty="0"/>
                        <a:t>Average revenue per outlet</a:t>
                      </a:r>
                      <a:r>
                        <a:rPr lang="en-US" sz="1100" dirty="0"/>
                        <a:t> in similar restaurants: ₹10 lakhs/month</a:t>
                      </a:r>
                    </a:p>
                    <a:p>
                      <a:pPr algn="l"/>
                      <a:r>
                        <a:rPr lang="en-US" sz="1100" b="1" dirty="0"/>
                        <a:t>Customer footfall benchmark:</a:t>
                      </a:r>
                      <a:r>
                        <a:rPr lang="en-US" sz="1100" dirty="0"/>
                        <a:t> 200 customers/day</a:t>
                      </a:r>
                    </a:p>
                    <a:p>
                      <a:pPr algn="l"/>
                      <a:r>
                        <a:rPr lang="en-US" sz="1100" b="1" dirty="0"/>
                        <a:t>Average spend per customer:</a:t>
                      </a:r>
                      <a:r>
                        <a:rPr lang="en-US" sz="1100" dirty="0"/>
                        <a:t> ₹500</a:t>
                      </a:r>
                    </a:p>
                    <a:p>
                      <a:pPr algn="l"/>
                      <a:r>
                        <a:rPr lang="en-US" sz="1100" b="1" dirty="0"/>
                        <a:t>Application:</a:t>
                      </a:r>
                      <a:endParaRPr lang="en-US" sz="1100" dirty="0"/>
                    </a:p>
                    <a:p>
                      <a:pPr algn="l"/>
                      <a:r>
                        <a:rPr lang="en-US" sz="1100" dirty="0"/>
                        <a:t>If their pilot outlet in City A is generating only ₹7 lakhs/month and 150 customers/day, they know they are </a:t>
                      </a:r>
                      <a:r>
                        <a:rPr lang="en-US" sz="1100" b="1" dirty="0"/>
                        <a:t>below the industry benchmark</a:t>
                      </a:r>
                      <a:r>
                        <a:rPr lang="en-US" sz="1100" dirty="0"/>
                        <a:t>.</a:t>
                      </a:r>
                    </a:p>
                    <a:p>
                      <a:pPr algn="l"/>
                      <a:r>
                        <a:rPr lang="en-US" sz="1100" dirty="0"/>
                        <a:t>This insight helps them </a:t>
                      </a:r>
                      <a:r>
                        <a:rPr lang="en-US" sz="1100" b="1" dirty="0"/>
                        <a:t>improve pricing strategy, marketing efforts, or menu offerings</a:t>
                      </a:r>
                      <a:r>
                        <a:rPr lang="en-US" sz="1100" dirty="0"/>
                        <a:t> to reach the benchmark.</a:t>
                      </a:r>
                    </a:p>
                    <a:p>
                      <a:pPr algn="l"/>
                      <a:endParaRPr lang="en-IN" sz="1100" dirty="0">
                        <a:solidFill>
                          <a:schemeClr val="tx1"/>
                        </a:solidFill>
                      </a:endParaRPr>
                    </a:p>
                  </a:txBody>
                  <a:tcPr/>
                </a:tc>
                <a:extLst>
                  <a:ext uri="{0D108BD9-81ED-4DB2-BD59-A6C34878D82A}">
                    <a16:rowId xmlns:a16="http://schemas.microsoft.com/office/drawing/2014/main" val="751504813"/>
                  </a:ext>
                </a:extLst>
              </a:tr>
              <a:tr h="373865">
                <a:tc>
                  <a:txBody>
                    <a:bodyPr/>
                    <a:lstStyle/>
                    <a:p>
                      <a:pPr algn="just"/>
                      <a:r>
                        <a:rPr lang="en-US" sz="1100" dirty="0">
                          <a:solidFill>
                            <a:schemeClr val="tx1"/>
                          </a:solidFill>
                        </a:rPr>
                        <a:t>6</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Context for past mistakes</a:t>
                      </a:r>
                      <a:endParaRPr lang="en-IN" sz="1100" dirty="0">
                        <a:solidFill>
                          <a:schemeClr val="tx1"/>
                        </a:solidFill>
                      </a:endParaRPr>
                    </a:p>
                  </a:txBody>
                  <a:tcPr/>
                </a:tc>
                <a:tc>
                  <a:txBody>
                    <a:bodyPr/>
                    <a:lstStyle/>
                    <a:p>
                      <a:pPr algn="just"/>
                      <a:r>
                        <a:rPr lang="en-US" sz="1100" dirty="0">
                          <a:solidFill>
                            <a:schemeClr val="tx1"/>
                          </a:solidFill>
                        </a:rPr>
                        <a:t>Tata Motors</a:t>
                      </a:r>
                      <a:endParaRPr lang="en-IN" sz="1100" dirty="0">
                        <a:solidFill>
                          <a:schemeClr val="tx1"/>
                        </a:solidFill>
                      </a:endParaRPr>
                    </a:p>
                  </a:txBody>
                  <a:tcPr/>
                </a:tc>
                <a:extLst>
                  <a:ext uri="{0D108BD9-81ED-4DB2-BD59-A6C34878D82A}">
                    <a16:rowId xmlns:a16="http://schemas.microsoft.com/office/drawing/2014/main" val="3829398062"/>
                  </a:ext>
                </a:extLst>
              </a:tr>
              <a:tr h="1565495">
                <a:tc>
                  <a:txBody>
                    <a:bodyPr/>
                    <a:lstStyle/>
                    <a:p>
                      <a:pPr algn="just"/>
                      <a:r>
                        <a:rPr lang="en-US" sz="1100" dirty="0">
                          <a:solidFill>
                            <a:schemeClr val="tx1"/>
                          </a:solidFill>
                        </a:rPr>
                        <a:t>7</a:t>
                      </a:r>
                      <a:endParaRPr lang="en-IN" sz="1100" dirty="0">
                        <a:solidFill>
                          <a:schemeClr val="tx1"/>
                        </a:solidFill>
                      </a:endParaRPr>
                    </a:p>
                  </a:txBody>
                  <a:tcPr/>
                </a:tc>
                <a:tc>
                  <a:txBody>
                    <a:bodyPr/>
                    <a:lstStyle/>
                    <a:p>
                      <a:pPr algn="just"/>
                      <a:r>
                        <a:rPr lang="en-US" sz="1100" b="1" i="0" dirty="0">
                          <a:solidFill>
                            <a:schemeClr val="tx1"/>
                          </a:solidFill>
                          <a:effectLst/>
                          <a:latin typeface="avertaRegular"/>
                        </a:rPr>
                        <a:t>Marketing optimization</a:t>
                      </a:r>
                      <a:endParaRPr lang="en-IN" sz="1100" dirty="0">
                        <a:solidFill>
                          <a:schemeClr val="tx1"/>
                        </a:solidFill>
                      </a:endParaRPr>
                    </a:p>
                  </a:txBody>
                  <a:tcPr/>
                </a:tc>
                <a:tc>
                  <a:txBody>
                    <a:bodyPr/>
                    <a:lstStyle/>
                    <a:p>
                      <a:pPr algn="l"/>
                      <a:r>
                        <a:rPr lang="en-US" sz="1100" b="1" dirty="0"/>
                        <a:t>E-commerce Clothing Brand</a:t>
                      </a:r>
                      <a:br>
                        <a:rPr lang="en-US" sz="1100" dirty="0"/>
                      </a:br>
                      <a:r>
                        <a:rPr lang="en-US" sz="1100" dirty="0"/>
                        <a:t>An online clothing brand runs ads on </a:t>
                      </a:r>
                      <a:r>
                        <a:rPr lang="en-US" sz="1100" b="1" dirty="0"/>
                        <a:t>Facebook, Instagram, and Google Ads</a:t>
                      </a:r>
                      <a:r>
                        <a:rPr lang="en-US" sz="1100" dirty="0"/>
                        <a:t> but notices inconsistent returns.</a:t>
                      </a:r>
                      <a:br>
                        <a:rPr lang="en-US" sz="1100" dirty="0"/>
                      </a:br>
                      <a:r>
                        <a:rPr lang="en-US" sz="1100" dirty="0"/>
                        <a:t>Through </a:t>
                      </a:r>
                      <a:r>
                        <a:rPr lang="en-US" sz="1100" b="1" dirty="0"/>
                        <a:t>market analysis</a:t>
                      </a:r>
                      <a:r>
                        <a:rPr lang="en-US" sz="1100" dirty="0"/>
                        <a:t>, they find:</a:t>
                      </a:r>
                    </a:p>
                    <a:p>
                      <a:pPr algn="l"/>
                      <a:r>
                        <a:rPr lang="en-US" sz="1100" b="1" dirty="0"/>
                        <a:t>Instagram Ads</a:t>
                      </a:r>
                      <a:r>
                        <a:rPr lang="en-US" sz="1100" dirty="0"/>
                        <a:t> have a </a:t>
                      </a:r>
                      <a:r>
                        <a:rPr lang="en-US" sz="1100" b="1" dirty="0"/>
                        <a:t>10% conversion rate</a:t>
                      </a:r>
                      <a:r>
                        <a:rPr lang="en-US" sz="1100" dirty="0"/>
                        <a:t>, highest among all platforms.</a:t>
                      </a:r>
                    </a:p>
                    <a:p>
                      <a:pPr algn="l"/>
                      <a:r>
                        <a:rPr lang="en-US" sz="1100" b="1" dirty="0"/>
                        <a:t>Facebook Ads</a:t>
                      </a:r>
                      <a:r>
                        <a:rPr lang="en-US" sz="1100" dirty="0"/>
                        <a:t> attract </a:t>
                      </a:r>
                      <a:r>
                        <a:rPr lang="en-US" sz="1100" b="1" dirty="0"/>
                        <a:t>older demographics</a:t>
                      </a:r>
                      <a:r>
                        <a:rPr lang="en-US" sz="1100" dirty="0"/>
                        <a:t>, but their core buyers are </a:t>
                      </a:r>
                      <a:r>
                        <a:rPr lang="en-US" sz="1100" b="1" dirty="0"/>
                        <a:t>18–30 years old</a:t>
                      </a:r>
                      <a:r>
                        <a:rPr lang="en-US" sz="1100" dirty="0"/>
                        <a:t>.</a:t>
                      </a:r>
                    </a:p>
                    <a:p>
                      <a:pPr algn="l"/>
                      <a:r>
                        <a:rPr lang="en-US" sz="1100" dirty="0"/>
                        <a:t>Customers respond better to ads featuring </a:t>
                      </a:r>
                      <a:r>
                        <a:rPr lang="en-US" sz="1100" b="1" dirty="0"/>
                        <a:t>eco-friendly fabrics</a:t>
                      </a:r>
                      <a:r>
                        <a:rPr lang="en-US" sz="1100" dirty="0"/>
                        <a:t>.</a:t>
                      </a:r>
                    </a:p>
                    <a:p>
                      <a:pPr algn="l"/>
                      <a:endParaRPr lang="en-IN" sz="1100" dirty="0">
                        <a:solidFill>
                          <a:schemeClr val="tx1"/>
                        </a:solidFill>
                      </a:endParaRPr>
                    </a:p>
                  </a:txBody>
                  <a:tcPr/>
                </a:tc>
                <a:extLst>
                  <a:ext uri="{0D108BD9-81ED-4DB2-BD59-A6C34878D82A}">
                    <a16:rowId xmlns:a16="http://schemas.microsoft.com/office/drawing/2014/main" val="1546613590"/>
                  </a:ext>
                </a:extLst>
              </a:tr>
            </a:tbl>
          </a:graphicData>
        </a:graphic>
      </p:graphicFrame>
    </p:spTree>
    <p:extLst>
      <p:ext uri="{BB962C8B-B14F-4D97-AF65-F5344CB8AC3E}">
        <p14:creationId xmlns:p14="http://schemas.microsoft.com/office/powerpoint/2010/main" val="3871349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EA94-C297-41E6-986D-2149C9DC0EE5}"/>
              </a:ext>
            </a:extLst>
          </p:cNvPr>
          <p:cNvSpPr>
            <a:spLocks noGrp="1"/>
          </p:cNvSpPr>
          <p:nvPr>
            <p:ph type="title"/>
          </p:nvPr>
        </p:nvSpPr>
        <p:spPr/>
        <p:txBody>
          <a:bodyPr/>
          <a:lstStyle/>
          <a:p>
            <a:r>
              <a:rPr lang="en-US" dirty="0"/>
              <a:t>CASE STUDY </a:t>
            </a:r>
            <a:endParaRPr lang="en-IN" dirty="0"/>
          </a:p>
        </p:txBody>
      </p:sp>
      <p:pic>
        <p:nvPicPr>
          <p:cNvPr id="4" name="Picture 3">
            <a:extLst>
              <a:ext uri="{FF2B5EF4-FFF2-40B4-BE49-F238E27FC236}">
                <a16:creationId xmlns:a16="http://schemas.microsoft.com/office/drawing/2014/main" id="{0B871EBC-FD27-476D-A62E-D3786D28EA1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681412" y="1809750"/>
            <a:ext cx="4829175" cy="3238500"/>
          </a:xfrm>
          <a:prstGeom prst="rect">
            <a:avLst/>
          </a:prstGeom>
          <a:ln>
            <a:noFill/>
          </a:ln>
          <a:effectLst>
            <a:softEdge rad="112500"/>
          </a:effectLst>
        </p:spPr>
      </p:pic>
    </p:spTree>
    <p:extLst>
      <p:ext uri="{BB962C8B-B14F-4D97-AF65-F5344CB8AC3E}">
        <p14:creationId xmlns:p14="http://schemas.microsoft.com/office/powerpoint/2010/main" val="2949324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2BC4-11B5-433A-8BAD-271032F74819}"/>
              </a:ext>
            </a:extLst>
          </p:cNvPr>
          <p:cNvSpPr>
            <a:spLocks noGrp="1"/>
          </p:cNvSpPr>
          <p:nvPr>
            <p:ph type="title"/>
          </p:nvPr>
        </p:nvSpPr>
        <p:spPr>
          <a:xfrm>
            <a:off x="0" y="0"/>
            <a:ext cx="8596668" cy="537882"/>
          </a:xfrm>
        </p:spPr>
        <p:txBody>
          <a:bodyPr>
            <a:normAutofit fontScale="90000"/>
          </a:bodyPr>
          <a:lstStyle/>
          <a:p>
            <a:r>
              <a:rPr lang="en-US" dirty="0"/>
              <a:t>AMAZON</a:t>
            </a:r>
            <a:endParaRPr lang="en-IN" dirty="0"/>
          </a:p>
        </p:txBody>
      </p:sp>
      <p:sp>
        <p:nvSpPr>
          <p:cNvPr id="3" name="Content Placeholder 2">
            <a:extLst>
              <a:ext uri="{FF2B5EF4-FFF2-40B4-BE49-F238E27FC236}">
                <a16:creationId xmlns:a16="http://schemas.microsoft.com/office/drawing/2014/main" id="{34DB6D90-4680-4FF5-842A-6D413ACCAC22}"/>
              </a:ext>
            </a:extLst>
          </p:cNvPr>
          <p:cNvSpPr>
            <a:spLocks noGrp="1"/>
          </p:cNvSpPr>
          <p:nvPr>
            <p:ph idx="1"/>
          </p:nvPr>
        </p:nvSpPr>
        <p:spPr>
          <a:xfrm>
            <a:off x="340659" y="600636"/>
            <a:ext cx="9708776" cy="6257364"/>
          </a:xfrm>
        </p:spPr>
        <p:txBody>
          <a:bodyPr>
            <a:normAutofit fontScale="92500" lnSpcReduction="20000"/>
          </a:bodyPr>
          <a:lstStyle/>
          <a:p>
            <a:r>
              <a:rPr lang="en-US" b="1" dirty="0">
                <a:solidFill>
                  <a:schemeClr val="tx1"/>
                </a:solidFill>
              </a:rPr>
              <a:t>1. Introduction</a:t>
            </a:r>
          </a:p>
          <a:p>
            <a:pPr marL="0" indent="0">
              <a:buNone/>
            </a:pPr>
            <a:r>
              <a:rPr lang="en-US" dirty="0">
                <a:solidFill>
                  <a:schemeClr val="tx1"/>
                </a:solidFill>
              </a:rPr>
              <a:t>Amazon is a global e-commerce leader that caters to a wide range of customers by using effective market segmentation strategies. Its ability to personalize experiences has contributed to its dominance in multiple markets.</a:t>
            </a:r>
          </a:p>
          <a:p>
            <a:r>
              <a:rPr lang="en-IN" b="1" dirty="0">
                <a:solidFill>
                  <a:schemeClr val="tx1"/>
                </a:solidFill>
              </a:rPr>
              <a:t>2. Segmentation Strategy</a:t>
            </a:r>
          </a:p>
          <a:p>
            <a:pPr marL="0" indent="0">
              <a:buNone/>
            </a:pPr>
            <a:r>
              <a:rPr lang="en-IN" dirty="0">
                <a:solidFill>
                  <a:schemeClr val="tx1"/>
                </a:solidFill>
              </a:rPr>
              <a:t>Amazon uses </a:t>
            </a:r>
            <a:r>
              <a:rPr lang="en-IN" b="1" dirty="0">
                <a:solidFill>
                  <a:schemeClr val="tx1"/>
                </a:solidFill>
              </a:rPr>
              <a:t>multiple segmentation bases</a:t>
            </a:r>
            <a:r>
              <a:rPr lang="en-IN" dirty="0">
                <a:solidFill>
                  <a:schemeClr val="tx1"/>
                </a:solidFill>
              </a:rPr>
              <a:t>:</a:t>
            </a:r>
          </a:p>
          <a:p>
            <a:pPr marL="0" indent="0">
              <a:buNone/>
            </a:pPr>
            <a:r>
              <a:rPr lang="en-IN" b="1" dirty="0">
                <a:solidFill>
                  <a:schemeClr val="tx1"/>
                </a:solidFill>
              </a:rPr>
              <a:t>a) Demographic Segmentation</a:t>
            </a:r>
            <a:endParaRPr lang="en-IN" dirty="0">
              <a:solidFill>
                <a:schemeClr val="tx1"/>
              </a:solidFill>
            </a:endParaRPr>
          </a:p>
          <a:p>
            <a:pPr marL="0" indent="0">
              <a:buNone/>
            </a:pPr>
            <a:r>
              <a:rPr lang="en-IN" b="1" dirty="0">
                <a:solidFill>
                  <a:schemeClr val="tx1"/>
                </a:solidFill>
              </a:rPr>
              <a:t>Age</a:t>
            </a:r>
            <a:r>
              <a:rPr lang="en-IN" dirty="0">
                <a:solidFill>
                  <a:schemeClr val="tx1"/>
                </a:solidFill>
              </a:rPr>
              <a:t>: Targets tech-savvy millennials, working professionals, families, and senior citizens.</a:t>
            </a:r>
          </a:p>
          <a:p>
            <a:pPr marL="0" indent="0">
              <a:buNone/>
            </a:pPr>
            <a:r>
              <a:rPr lang="en-IN" b="1" dirty="0">
                <a:solidFill>
                  <a:schemeClr val="tx1"/>
                </a:solidFill>
              </a:rPr>
              <a:t>Income</a:t>
            </a:r>
            <a:r>
              <a:rPr lang="en-IN" dirty="0">
                <a:solidFill>
                  <a:schemeClr val="tx1"/>
                </a:solidFill>
              </a:rPr>
              <a:t>: Offers products for both budget-conscious and premium buyers (Amazon Basics vs. Amazon Luxury Stores).</a:t>
            </a:r>
          </a:p>
          <a:p>
            <a:r>
              <a:rPr lang="en-IN" b="1" dirty="0">
                <a:solidFill>
                  <a:schemeClr val="tx1"/>
                </a:solidFill>
              </a:rPr>
              <a:t>b) Geographic Segmentation</a:t>
            </a:r>
            <a:endParaRPr lang="en-IN" dirty="0">
              <a:solidFill>
                <a:schemeClr val="tx1"/>
              </a:solidFill>
            </a:endParaRPr>
          </a:p>
          <a:p>
            <a:pPr marL="0" indent="0">
              <a:buNone/>
            </a:pPr>
            <a:r>
              <a:rPr lang="en-IN" dirty="0">
                <a:solidFill>
                  <a:schemeClr val="tx1"/>
                </a:solidFill>
              </a:rPr>
              <a:t>Global presence in </a:t>
            </a:r>
            <a:r>
              <a:rPr lang="en-IN" b="1" dirty="0">
                <a:solidFill>
                  <a:schemeClr val="tx1"/>
                </a:solidFill>
              </a:rPr>
              <a:t>over 100 countries</a:t>
            </a:r>
            <a:r>
              <a:rPr lang="en-IN" dirty="0">
                <a:solidFill>
                  <a:schemeClr val="tx1"/>
                </a:solidFill>
              </a:rPr>
              <a:t>, with localized websites (e.g., Amazon.in, Amazon.co.uk).</a:t>
            </a:r>
          </a:p>
          <a:p>
            <a:pPr marL="0" indent="0">
              <a:buNone/>
            </a:pPr>
            <a:r>
              <a:rPr lang="en-IN" dirty="0">
                <a:solidFill>
                  <a:schemeClr val="tx1"/>
                </a:solidFill>
              </a:rPr>
              <a:t>Adapts delivery models and product availability as per region.</a:t>
            </a:r>
          </a:p>
          <a:p>
            <a:r>
              <a:rPr lang="en-IN" b="1" dirty="0">
                <a:solidFill>
                  <a:schemeClr val="tx1"/>
                </a:solidFill>
              </a:rPr>
              <a:t>c) </a:t>
            </a:r>
            <a:r>
              <a:rPr lang="en-IN" b="1" dirty="0" err="1">
                <a:solidFill>
                  <a:schemeClr val="tx1"/>
                </a:solidFill>
              </a:rPr>
              <a:t>Behavioral</a:t>
            </a:r>
            <a:r>
              <a:rPr lang="en-IN" b="1" dirty="0">
                <a:solidFill>
                  <a:schemeClr val="tx1"/>
                </a:solidFill>
              </a:rPr>
              <a:t> Segmentation</a:t>
            </a:r>
            <a:endParaRPr lang="en-IN" dirty="0">
              <a:solidFill>
                <a:schemeClr val="tx1"/>
              </a:solidFill>
            </a:endParaRPr>
          </a:p>
          <a:p>
            <a:pPr marL="0" indent="0">
              <a:buNone/>
            </a:pPr>
            <a:r>
              <a:rPr lang="en-IN" b="1" dirty="0">
                <a:solidFill>
                  <a:schemeClr val="tx1"/>
                </a:solidFill>
              </a:rPr>
              <a:t>Purchase </a:t>
            </a:r>
            <a:r>
              <a:rPr lang="en-IN" b="1" dirty="0" err="1">
                <a:solidFill>
                  <a:schemeClr val="tx1"/>
                </a:solidFill>
              </a:rPr>
              <a:t>behavior</a:t>
            </a:r>
            <a:r>
              <a:rPr lang="en-IN" dirty="0">
                <a:solidFill>
                  <a:schemeClr val="tx1"/>
                </a:solidFill>
              </a:rPr>
              <a:t>: Recommends products based on browsing and buying history.</a:t>
            </a:r>
          </a:p>
          <a:p>
            <a:pPr marL="0" indent="0">
              <a:buNone/>
            </a:pPr>
            <a:r>
              <a:rPr lang="en-IN" b="1" dirty="0">
                <a:solidFill>
                  <a:schemeClr val="tx1"/>
                </a:solidFill>
              </a:rPr>
              <a:t>Prime Membership</a:t>
            </a:r>
            <a:r>
              <a:rPr lang="en-IN" dirty="0">
                <a:solidFill>
                  <a:schemeClr val="tx1"/>
                </a:solidFill>
              </a:rPr>
              <a:t>: Targets frequent buyers with free delivery, exclusive deals, and streaming services.</a:t>
            </a:r>
          </a:p>
          <a:p>
            <a:r>
              <a:rPr lang="en-IN" b="1" dirty="0">
                <a:solidFill>
                  <a:schemeClr val="tx1"/>
                </a:solidFill>
              </a:rPr>
              <a:t>d) Psychographic Segmentation</a:t>
            </a:r>
            <a:endParaRPr lang="en-IN" dirty="0">
              <a:solidFill>
                <a:schemeClr val="tx1"/>
              </a:solidFill>
            </a:endParaRPr>
          </a:p>
          <a:p>
            <a:pPr marL="0" indent="0">
              <a:buNone/>
            </a:pPr>
            <a:r>
              <a:rPr lang="en-IN" b="1" dirty="0">
                <a:solidFill>
                  <a:schemeClr val="tx1"/>
                </a:solidFill>
              </a:rPr>
              <a:t>Lifestyle &amp; interests</a:t>
            </a:r>
            <a:r>
              <a:rPr lang="en-IN" dirty="0">
                <a:solidFill>
                  <a:schemeClr val="tx1"/>
                </a:solidFill>
              </a:rPr>
              <a:t>: Fitness enthusiasts (Amazon Fit), gamers (Amazon Gaming), eco-conscious buyers (Amazon Eco products).</a:t>
            </a:r>
          </a:p>
          <a:p>
            <a:endParaRPr lang="en-IN" dirty="0">
              <a:solidFill>
                <a:schemeClr val="tx1"/>
              </a:solidFill>
            </a:endParaRPr>
          </a:p>
        </p:txBody>
      </p:sp>
    </p:spTree>
    <p:extLst>
      <p:ext uri="{BB962C8B-B14F-4D97-AF65-F5344CB8AC3E}">
        <p14:creationId xmlns:p14="http://schemas.microsoft.com/office/powerpoint/2010/main" val="365547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0F806-9FB0-4060-A0E4-55A4F2E16164}"/>
              </a:ext>
            </a:extLst>
          </p:cNvPr>
          <p:cNvSpPr>
            <a:spLocks noGrp="1"/>
          </p:cNvSpPr>
          <p:nvPr>
            <p:ph idx="1"/>
          </p:nvPr>
        </p:nvSpPr>
        <p:spPr>
          <a:xfrm>
            <a:off x="677334" y="340659"/>
            <a:ext cx="8596668" cy="5700703"/>
          </a:xfrm>
        </p:spPr>
        <p:txBody>
          <a:bodyPr>
            <a:normAutofit fontScale="85000" lnSpcReduction="20000"/>
          </a:bodyPr>
          <a:lstStyle/>
          <a:p>
            <a:pPr marL="0" indent="0">
              <a:buNone/>
            </a:pPr>
            <a:r>
              <a:rPr lang="en-US" b="1" dirty="0"/>
              <a:t>Case Study: Coca-Cola – Market Segmentation Strategy</a:t>
            </a:r>
          </a:p>
          <a:p>
            <a:r>
              <a:rPr lang="en-US" b="1" dirty="0"/>
              <a:t>Background</a:t>
            </a:r>
          </a:p>
          <a:p>
            <a:pPr marL="0" indent="0">
              <a:buNone/>
            </a:pPr>
            <a:r>
              <a:rPr lang="en-US" dirty="0"/>
              <a:t>Coca-Cola is one of the world’s largest beverage companies. It sells billions of servings daily across different countries. To cater to its diverse customer base, Coca-Cola uses </a:t>
            </a:r>
            <a:r>
              <a:rPr lang="en-US" b="1" dirty="0"/>
              <a:t>market segmentation</a:t>
            </a:r>
            <a:r>
              <a:rPr lang="en-US" dirty="0"/>
              <a:t> effectively.</a:t>
            </a:r>
          </a:p>
          <a:p>
            <a:r>
              <a:rPr lang="en-IN" b="1" dirty="0"/>
              <a:t>Segmentation Approach</a:t>
            </a:r>
          </a:p>
          <a:p>
            <a:pPr marL="0" indent="0">
              <a:buNone/>
            </a:pPr>
            <a:r>
              <a:rPr lang="en-IN" dirty="0"/>
              <a:t>Coca-Cola segments its market based on </a:t>
            </a:r>
            <a:r>
              <a:rPr lang="en-IN" b="1" dirty="0"/>
              <a:t>4 main bases</a:t>
            </a:r>
            <a:r>
              <a:rPr lang="en-IN" dirty="0"/>
              <a:t>:</a:t>
            </a:r>
          </a:p>
          <a:p>
            <a:pPr>
              <a:buFont typeface="+mj-lt"/>
              <a:buAutoNum type="arabicPeriod"/>
            </a:pPr>
            <a:r>
              <a:rPr lang="en-IN" b="1" dirty="0"/>
              <a:t>Demographic Segmentation</a:t>
            </a:r>
            <a:endParaRPr lang="en-IN" dirty="0"/>
          </a:p>
          <a:p>
            <a:pPr marL="742950" lvl="1" indent="-285750">
              <a:buFont typeface="+mj-lt"/>
              <a:buAutoNum type="arabicPeriod"/>
            </a:pPr>
            <a:r>
              <a:rPr lang="en-IN" dirty="0"/>
              <a:t>Age: Teens, adults, and seniors.</a:t>
            </a:r>
          </a:p>
          <a:p>
            <a:pPr marL="742950" lvl="1" indent="-285750">
              <a:buFont typeface="+mj-lt"/>
              <a:buAutoNum type="arabicPeriod"/>
            </a:pPr>
            <a:r>
              <a:rPr lang="en-IN" dirty="0"/>
              <a:t>Income: Different products for various price ranges (Coca-Cola, Diet Coke, Coke Zero).</a:t>
            </a:r>
          </a:p>
          <a:p>
            <a:pPr>
              <a:buFont typeface="+mj-lt"/>
              <a:buAutoNum type="arabicPeriod"/>
            </a:pPr>
            <a:r>
              <a:rPr lang="en-IN" b="1" dirty="0"/>
              <a:t>Geographic Segmentation</a:t>
            </a:r>
            <a:endParaRPr lang="en-IN" dirty="0"/>
          </a:p>
          <a:p>
            <a:pPr marL="742950" lvl="1" indent="-285750">
              <a:buFont typeface="+mj-lt"/>
              <a:buAutoNum type="arabicPeriod"/>
            </a:pPr>
            <a:r>
              <a:rPr lang="en-IN" dirty="0"/>
              <a:t>Different </a:t>
            </a:r>
            <a:r>
              <a:rPr lang="en-IN" dirty="0" err="1"/>
              <a:t>flavors</a:t>
            </a:r>
            <a:r>
              <a:rPr lang="en-IN" dirty="0"/>
              <a:t> for different countries (e.g., fruity </a:t>
            </a:r>
            <a:r>
              <a:rPr lang="en-IN" dirty="0" err="1"/>
              <a:t>flavors</a:t>
            </a:r>
            <a:r>
              <a:rPr lang="en-IN" dirty="0"/>
              <a:t> in Asia).</a:t>
            </a:r>
          </a:p>
          <a:p>
            <a:pPr marL="742950" lvl="1" indent="-285750">
              <a:buFont typeface="+mj-lt"/>
              <a:buAutoNum type="arabicPeriod"/>
            </a:pPr>
            <a:r>
              <a:rPr lang="en-IN" dirty="0"/>
              <a:t>Availability in rural and urban markets.</a:t>
            </a:r>
          </a:p>
          <a:p>
            <a:pPr>
              <a:buFont typeface="+mj-lt"/>
              <a:buAutoNum type="arabicPeriod"/>
            </a:pPr>
            <a:r>
              <a:rPr lang="en-IN" b="1" dirty="0"/>
              <a:t>Psychographic Segmentation</a:t>
            </a:r>
            <a:endParaRPr lang="en-IN" dirty="0"/>
          </a:p>
          <a:p>
            <a:pPr marL="742950" lvl="1" indent="-285750">
              <a:buFont typeface="+mj-lt"/>
              <a:buAutoNum type="arabicPeriod"/>
            </a:pPr>
            <a:r>
              <a:rPr lang="en-IN" dirty="0"/>
              <a:t>Lifestyle: Health-conscious consumers get </a:t>
            </a:r>
            <a:r>
              <a:rPr lang="en-IN" b="1" dirty="0"/>
              <a:t>Coke Zero / Diet Coke</a:t>
            </a:r>
            <a:r>
              <a:rPr lang="en-IN" dirty="0"/>
              <a:t>.</a:t>
            </a:r>
          </a:p>
          <a:p>
            <a:pPr marL="742950" lvl="1" indent="-285750">
              <a:buFont typeface="+mj-lt"/>
              <a:buAutoNum type="arabicPeriod"/>
            </a:pPr>
            <a:r>
              <a:rPr lang="en-IN" dirty="0"/>
              <a:t>Personality: Fun-loving and social customers targeted through campaigns.</a:t>
            </a:r>
          </a:p>
          <a:p>
            <a:pPr>
              <a:buFont typeface="+mj-lt"/>
              <a:buAutoNum type="arabicPeriod"/>
            </a:pPr>
            <a:r>
              <a:rPr lang="en-IN" b="1" dirty="0" err="1"/>
              <a:t>Behavioral</a:t>
            </a:r>
            <a:r>
              <a:rPr lang="en-IN" b="1" dirty="0"/>
              <a:t> Segmentation</a:t>
            </a:r>
            <a:endParaRPr lang="en-IN" dirty="0"/>
          </a:p>
          <a:p>
            <a:pPr marL="742950" lvl="1" indent="-285750">
              <a:buFont typeface="+mj-lt"/>
              <a:buAutoNum type="arabicPeriod"/>
            </a:pPr>
            <a:r>
              <a:rPr lang="en-IN" dirty="0"/>
              <a:t>Occasions: Festivals, parties, and sports events.</a:t>
            </a:r>
          </a:p>
          <a:p>
            <a:pPr marL="742950" lvl="1" indent="-285750">
              <a:buFont typeface="+mj-lt"/>
              <a:buAutoNum type="arabicPeriod"/>
            </a:pPr>
            <a:r>
              <a:rPr lang="en-IN" dirty="0"/>
              <a:t>Loyalty: Discounts and promotional offers for regular buyers.</a:t>
            </a:r>
          </a:p>
          <a:p>
            <a:endParaRPr lang="en-IN" dirty="0"/>
          </a:p>
        </p:txBody>
      </p:sp>
    </p:spTree>
    <p:extLst>
      <p:ext uri="{BB962C8B-B14F-4D97-AF65-F5344CB8AC3E}">
        <p14:creationId xmlns:p14="http://schemas.microsoft.com/office/powerpoint/2010/main" val="226896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ED5B1E-9888-45C9-86EE-7DD356FDA011}"/>
              </a:ext>
            </a:extLst>
          </p:cNvPr>
          <p:cNvSpPr/>
          <p:nvPr/>
        </p:nvSpPr>
        <p:spPr>
          <a:xfrm>
            <a:off x="362484" y="2967335"/>
            <a:ext cx="11343939"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END OF SWOT &amp; MARKET ANALYSIS</a:t>
            </a:r>
          </a:p>
        </p:txBody>
      </p:sp>
    </p:spTree>
    <p:extLst>
      <p:ext uri="{BB962C8B-B14F-4D97-AF65-F5344CB8AC3E}">
        <p14:creationId xmlns:p14="http://schemas.microsoft.com/office/powerpoint/2010/main" val="8833375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293</TotalTime>
  <Words>1678</Words>
  <Application>Microsoft Office PowerPoint</Application>
  <PresentationFormat>Widescreen</PresentationFormat>
  <Paragraphs>98</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-apple-system</vt:lpstr>
      <vt:lpstr>Arial</vt:lpstr>
      <vt:lpstr>avertaRegular</vt:lpstr>
      <vt:lpstr>Britannic Bold</vt:lpstr>
      <vt:lpstr>squareSerifBold</vt:lpstr>
      <vt:lpstr>Trebuchet MS</vt:lpstr>
      <vt:lpstr>Wingdings 3</vt:lpstr>
      <vt:lpstr>Facet</vt:lpstr>
      <vt:lpstr>ANALYSIS OF THE MARKET</vt:lpstr>
      <vt:lpstr>WHAT IS MARKET ANALYSIS?</vt:lpstr>
      <vt:lpstr>WHAT DOES MARKET ANALYSIS INCLUDE?</vt:lpstr>
      <vt:lpstr>PowerPoint Presentation</vt:lpstr>
      <vt:lpstr>PowerPoint Presentation</vt:lpstr>
      <vt:lpstr>PowerPoint Presentation</vt:lpstr>
      <vt:lpstr>PowerPoint Presentation</vt:lpstr>
      <vt:lpstr>PowerPoint Presentation</vt:lpstr>
      <vt:lpstr>Benefits of market analysis</vt:lpstr>
      <vt:lpstr>PowerPoint Presentation</vt:lpstr>
      <vt:lpstr>CASE STUDY </vt:lpstr>
      <vt:lpstr>AMAZON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THE MARKET</dc:title>
  <dc:creator>Admin</dc:creator>
  <cp:lastModifiedBy>Admin</cp:lastModifiedBy>
  <cp:revision>10</cp:revision>
  <dcterms:created xsi:type="dcterms:W3CDTF">2025-08-18T07:37:18Z</dcterms:created>
  <dcterms:modified xsi:type="dcterms:W3CDTF">2025-08-26T04:44:16Z</dcterms:modified>
</cp:coreProperties>
</file>