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sldIdLst>
    <p:sldId id="258" r:id="rId2"/>
    <p:sldId id="278" r:id="rId3"/>
    <p:sldId id="279" r:id="rId4"/>
    <p:sldId id="280" r:id="rId5"/>
    <p:sldId id="281" r:id="rId6"/>
    <p:sldId id="282" r:id="rId7"/>
    <p:sldId id="283" r:id="rId8"/>
    <p:sldId id="264" r:id="rId9"/>
    <p:sldId id="266" r:id="rId10"/>
    <p:sldId id="267" r:id="rId11"/>
    <p:sldId id="259" r:id="rId12"/>
    <p:sldId id="265" r:id="rId13"/>
    <p:sldId id="268" r:id="rId14"/>
    <p:sldId id="263" r:id="rId15"/>
    <p:sldId id="270" r:id="rId16"/>
    <p:sldId id="271" r:id="rId17"/>
    <p:sldId id="272" r:id="rId18"/>
    <p:sldId id="277" r:id="rId19"/>
    <p:sldId id="28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248D3A-A61B-4A34-898F-F29D22F98E58}" type="doc">
      <dgm:prSet loTypeId="urn:diagrams.loki3.com/VaryingWidthList" loCatId="list" qsTypeId="urn:microsoft.com/office/officeart/2005/8/quickstyle/simple1" qsCatId="simple" csTypeId="urn:microsoft.com/office/officeart/2005/8/colors/colorful5" csCatId="colorful" phldr="1"/>
      <dgm:spPr/>
      <dgm:t>
        <a:bodyPr/>
        <a:lstStyle/>
        <a:p>
          <a:endParaRPr lang="en-US"/>
        </a:p>
      </dgm:t>
    </dgm:pt>
    <dgm:pt modelId="{FE340DF2-C30A-4C1D-9195-7D2765F2B4C4}">
      <dgm:prSet phldrT="[Text]"/>
      <dgm:spPr/>
      <dgm:t>
        <a:bodyPr/>
        <a:lstStyle/>
        <a:p>
          <a:r>
            <a:rPr lang="en-US" b="1" dirty="0">
              <a:solidFill>
                <a:schemeClr val="tx1"/>
              </a:solidFill>
            </a:rPr>
            <a:t>Contribution =</a:t>
          </a:r>
        </a:p>
        <a:p>
          <a:r>
            <a:rPr lang="en-US" b="1" dirty="0">
              <a:solidFill>
                <a:schemeClr val="tx1"/>
              </a:solidFill>
            </a:rPr>
            <a:t>Sales price per unit – Variable cost per unit</a:t>
          </a:r>
        </a:p>
      </dgm:t>
    </dgm:pt>
    <dgm:pt modelId="{B23D90FB-9E61-4A24-A5BB-734498BFD76B}" type="parTrans" cxnId="{AD92F495-96E9-480C-9880-9A3F8215F2A6}">
      <dgm:prSet/>
      <dgm:spPr/>
      <dgm:t>
        <a:bodyPr/>
        <a:lstStyle/>
        <a:p>
          <a:endParaRPr lang="en-US" b="1">
            <a:solidFill>
              <a:schemeClr val="tx1"/>
            </a:solidFill>
          </a:endParaRPr>
        </a:p>
      </dgm:t>
    </dgm:pt>
    <dgm:pt modelId="{33249E8E-EBBE-4641-BDB2-EF99C49FA937}" type="sibTrans" cxnId="{AD92F495-96E9-480C-9880-9A3F8215F2A6}">
      <dgm:prSet/>
      <dgm:spPr/>
      <dgm:t>
        <a:bodyPr/>
        <a:lstStyle/>
        <a:p>
          <a:endParaRPr lang="en-US" b="1">
            <a:solidFill>
              <a:schemeClr val="tx1"/>
            </a:solidFill>
          </a:endParaRPr>
        </a:p>
      </dgm:t>
    </dgm:pt>
    <dgm:pt modelId="{4EAFDD81-9DCC-451B-8411-BB1E373BE769}">
      <dgm:prSet phldrT="[Text]"/>
      <dgm:spPr/>
      <dgm:t>
        <a:bodyPr/>
        <a:lstStyle/>
        <a:p>
          <a:r>
            <a:rPr lang="en-US" b="1" dirty="0">
              <a:solidFill>
                <a:schemeClr val="tx1"/>
              </a:solidFill>
            </a:rPr>
            <a:t>Break even = </a:t>
          </a:r>
        </a:p>
        <a:p>
          <a:r>
            <a:rPr lang="en-US" b="1" dirty="0">
              <a:solidFill>
                <a:schemeClr val="tx1"/>
              </a:solidFill>
            </a:rPr>
            <a:t>Fixed cost/Contribution per unit</a:t>
          </a:r>
        </a:p>
      </dgm:t>
    </dgm:pt>
    <dgm:pt modelId="{68A790BC-513A-4C3A-B8B6-06731AD245D4}" type="parTrans" cxnId="{797CDF47-4703-4F7A-A67A-3BBD8CFBA65A}">
      <dgm:prSet/>
      <dgm:spPr/>
      <dgm:t>
        <a:bodyPr/>
        <a:lstStyle/>
        <a:p>
          <a:endParaRPr lang="en-US" b="1">
            <a:solidFill>
              <a:schemeClr val="tx1"/>
            </a:solidFill>
          </a:endParaRPr>
        </a:p>
      </dgm:t>
    </dgm:pt>
    <dgm:pt modelId="{90B25C1D-2164-42D1-AC54-CFCB54D362BB}" type="sibTrans" cxnId="{797CDF47-4703-4F7A-A67A-3BBD8CFBA65A}">
      <dgm:prSet/>
      <dgm:spPr/>
      <dgm:t>
        <a:bodyPr/>
        <a:lstStyle/>
        <a:p>
          <a:endParaRPr lang="en-US" b="1">
            <a:solidFill>
              <a:schemeClr val="tx1"/>
            </a:solidFill>
          </a:endParaRPr>
        </a:p>
      </dgm:t>
    </dgm:pt>
    <dgm:pt modelId="{399021CD-FC21-4B66-8BCF-ED80F154D14D}">
      <dgm:prSet phldrT="[Text]"/>
      <dgm:spPr/>
      <dgm:t>
        <a:bodyPr/>
        <a:lstStyle/>
        <a:p>
          <a:r>
            <a:rPr lang="en-US" b="1" dirty="0">
              <a:solidFill>
                <a:schemeClr val="tx1"/>
              </a:solidFill>
            </a:rPr>
            <a:t>Break even (Rs.) = </a:t>
          </a:r>
        </a:p>
        <a:p>
          <a:r>
            <a:rPr lang="en-US" b="1" dirty="0">
              <a:solidFill>
                <a:schemeClr val="tx1"/>
              </a:solidFill>
            </a:rPr>
            <a:t>BEP (Units)*Sales price</a:t>
          </a:r>
        </a:p>
      </dgm:t>
    </dgm:pt>
    <dgm:pt modelId="{7B9E3231-BAB0-43EE-ACA9-47B727163504}" type="parTrans" cxnId="{7C620561-4FBC-49D3-B2C8-EFBEE1033843}">
      <dgm:prSet/>
      <dgm:spPr/>
      <dgm:t>
        <a:bodyPr/>
        <a:lstStyle/>
        <a:p>
          <a:endParaRPr lang="en-US" b="1">
            <a:solidFill>
              <a:schemeClr val="tx1"/>
            </a:solidFill>
          </a:endParaRPr>
        </a:p>
      </dgm:t>
    </dgm:pt>
    <dgm:pt modelId="{079CE6B9-3C1E-4D30-9996-E04AE06507FE}" type="sibTrans" cxnId="{7C620561-4FBC-49D3-B2C8-EFBEE1033843}">
      <dgm:prSet/>
      <dgm:spPr/>
      <dgm:t>
        <a:bodyPr/>
        <a:lstStyle/>
        <a:p>
          <a:endParaRPr lang="en-US" b="1">
            <a:solidFill>
              <a:schemeClr val="tx1"/>
            </a:solidFill>
          </a:endParaRPr>
        </a:p>
      </dgm:t>
    </dgm:pt>
    <dgm:pt modelId="{FF4B86F5-4705-405C-9FD5-934616FA83AC}">
      <dgm:prSet phldrT="[Text]"/>
      <dgm:spPr/>
      <dgm:t>
        <a:bodyPr/>
        <a:lstStyle/>
        <a:p>
          <a:r>
            <a:rPr lang="en-US" b="1" dirty="0">
              <a:solidFill>
                <a:schemeClr val="tx1"/>
              </a:solidFill>
            </a:rPr>
            <a:t>P/V Ratio = </a:t>
          </a:r>
        </a:p>
        <a:p>
          <a:r>
            <a:rPr lang="en-US" b="1" dirty="0">
              <a:solidFill>
                <a:schemeClr val="tx1"/>
              </a:solidFill>
            </a:rPr>
            <a:t>(Contribution /Sales revenue)*100</a:t>
          </a:r>
        </a:p>
      </dgm:t>
    </dgm:pt>
    <dgm:pt modelId="{BD0373D2-8CB0-49B2-865E-B495F020540B}" type="parTrans" cxnId="{1E7B33D6-266A-4541-9342-85F69A7A9C1D}">
      <dgm:prSet/>
      <dgm:spPr/>
      <dgm:t>
        <a:bodyPr/>
        <a:lstStyle/>
        <a:p>
          <a:endParaRPr lang="en-US" b="1">
            <a:solidFill>
              <a:schemeClr val="tx1"/>
            </a:solidFill>
          </a:endParaRPr>
        </a:p>
      </dgm:t>
    </dgm:pt>
    <dgm:pt modelId="{A2963D75-EF8D-4976-8172-FC852062B7DC}" type="sibTrans" cxnId="{1E7B33D6-266A-4541-9342-85F69A7A9C1D}">
      <dgm:prSet/>
      <dgm:spPr/>
      <dgm:t>
        <a:bodyPr/>
        <a:lstStyle/>
        <a:p>
          <a:endParaRPr lang="en-US" b="1">
            <a:solidFill>
              <a:schemeClr val="tx1"/>
            </a:solidFill>
          </a:endParaRPr>
        </a:p>
      </dgm:t>
    </dgm:pt>
    <dgm:pt modelId="{7ED47864-3779-4AC8-B832-E0431E87CA86}">
      <dgm:prSet phldrT="[Text]"/>
      <dgm:spPr/>
      <dgm:t>
        <a:bodyPr/>
        <a:lstStyle/>
        <a:p>
          <a:r>
            <a:rPr lang="en-US" b="1" dirty="0">
              <a:solidFill>
                <a:schemeClr val="tx1"/>
              </a:solidFill>
            </a:rPr>
            <a:t>Margin of safety=</a:t>
          </a:r>
        </a:p>
        <a:p>
          <a:r>
            <a:rPr lang="en-US" b="1" dirty="0">
              <a:solidFill>
                <a:schemeClr val="tx1"/>
              </a:solidFill>
            </a:rPr>
            <a:t>Actual sales-break even sales</a:t>
          </a:r>
        </a:p>
      </dgm:t>
    </dgm:pt>
    <dgm:pt modelId="{AA8CE8C0-6E36-43F9-86F6-9DE4FD74D3E1}" type="parTrans" cxnId="{81B06887-E991-41A9-AAA2-FD5E630F8DBC}">
      <dgm:prSet/>
      <dgm:spPr/>
      <dgm:t>
        <a:bodyPr/>
        <a:lstStyle/>
        <a:p>
          <a:endParaRPr lang="en-US" b="1">
            <a:solidFill>
              <a:schemeClr val="tx1"/>
            </a:solidFill>
          </a:endParaRPr>
        </a:p>
      </dgm:t>
    </dgm:pt>
    <dgm:pt modelId="{722B6A85-B9AE-4A0F-9611-B58115771388}" type="sibTrans" cxnId="{81B06887-E991-41A9-AAA2-FD5E630F8DBC}">
      <dgm:prSet/>
      <dgm:spPr/>
      <dgm:t>
        <a:bodyPr/>
        <a:lstStyle/>
        <a:p>
          <a:endParaRPr lang="en-US" b="1">
            <a:solidFill>
              <a:schemeClr val="tx1"/>
            </a:solidFill>
          </a:endParaRPr>
        </a:p>
      </dgm:t>
    </dgm:pt>
    <dgm:pt modelId="{EBE132B2-815D-479B-9250-4A03DAAA983F}" type="pres">
      <dgm:prSet presAssocID="{76248D3A-A61B-4A34-898F-F29D22F98E58}" presName="Name0" presStyleCnt="0">
        <dgm:presLayoutVars>
          <dgm:resizeHandles/>
        </dgm:presLayoutVars>
      </dgm:prSet>
      <dgm:spPr/>
    </dgm:pt>
    <dgm:pt modelId="{32E2C83A-BE5A-4604-A3EC-8A484BE3C3F6}" type="pres">
      <dgm:prSet presAssocID="{FE340DF2-C30A-4C1D-9195-7D2765F2B4C4}" presName="text" presStyleLbl="node1" presStyleIdx="0" presStyleCnt="5">
        <dgm:presLayoutVars>
          <dgm:bulletEnabled val="1"/>
        </dgm:presLayoutVars>
      </dgm:prSet>
      <dgm:spPr/>
    </dgm:pt>
    <dgm:pt modelId="{8F215AB7-0431-4C6B-B3CE-A8F2FBC3239F}" type="pres">
      <dgm:prSet presAssocID="{33249E8E-EBBE-4641-BDB2-EF99C49FA937}" presName="space" presStyleCnt="0"/>
      <dgm:spPr/>
    </dgm:pt>
    <dgm:pt modelId="{FC8233C4-2911-4517-B414-0D8408B2627A}" type="pres">
      <dgm:prSet presAssocID="{4EAFDD81-9DCC-451B-8411-BB1E373BE769}" presName="text" presStyleLbl="node1" presStyleIdx="1" presStyleCnt="5">
        <dgm:presLayoutVars>
          <dgm:bulletEnabled val="1"/>
        </dgm:presLayoutVars>
      </dgm:prSet>
      <dgm:spPr/>
    </dgm:pt>
    <dgm:pt modelId="{60BFCD67-607C-4087-B959-008C480A3881}" type="pres">
      <dgm:prSet presAssocID="{90B25C1D-2164-42D1-AC54-CFCB54D362BB}" presName="space" presStyleCnt="0"/>
      <dgm:spPr/>
    </dgm:pt>
    <dgm:pt modelId="{5DF40BA0-B1AA-4602-BEC3-15A59CDC8000}" type="pres">
      <dgm:prSet presAssocID="{399021CD-FC21-4B66-8BCF-ED80F154D14D}" presName="text" presStyleLbl="node1" presStyleIdx="2" presStyleCnt="5">
        <dgm:presLayoutVars>
          <dgm:bulletEnabled val="1"/>
        </dgm:presLayoutVars>
      </dgm:prSet>
      <dgm:spPr/>
    </dgm:pt>
    <dgm:pt modelId="{29C8C2E6-1E54-45C0-B2E2-49AFB3B8CB49}" type="pres">
      <dgm:prSet presAssocID="{079CE6B9-3C1E-4D30-9996-E04AE06507FE}" presName="space" presStyleCnt="0"/>
      <dgm:spPr/>
    </dgm:pt>
    <dgm:pt modelId="{69B57F0D-4C4D-4757-8139-A8EC3F5D8716}" type="pres">
      <dgm:prSet presAssocID="{FF4B86F5-4705-405C-9FD5-934616FA83AC}" presName="text" presStyleLbl="node1" presStyleIdx="3" presStyleCnt="5">
        <dgm:presLayoutVars>
          <dgm:bulletEnabled val="1"/>
        </dgm:presLayoutVars>
      </dgm:prSet>
      <dgm:spPr/>
    </dgm:pt>
    <dgm:pt modelId="{1D164BA0-9B7B-46D6-B467-856B21C07A0A}" type="pres">
      <dgm:prSet presAssocID="{A2963D75-EF8D-4976-8172-FC852062B7DC}" presName="space" presStyleCnt="0"/>
      <dgm:spPr/>
    </dgm:pt>
    <dgm:pt modelId="{49C2E75B-3DEF-4E09-9AA3-4CE3CA9AA1A0}" type="pres">
      <dgm:prSet presAssocID="{7ED47864-3779-4AC8-B832-E0431E87CA86}" presName="text" presStyleLbl="node1" presStyleIdx="4" presStyleCnt="5">
        <dgm:presLayoutVars>
          <dgm:bulletEnabled val="1"/>
        </dgm:presLayoutVars>
      </dgm:prSet>
      <dgm:spPr/>
    </dgm:pt>
  </dgm:ptLst>
  <dgm:cxnLst>
    <dgm:cxn modelId="{3A472232-ABE0-4AD2-9FAE-5ECB0FD7C0CD}" type="presOf" srcId="{4EAFDD81-9DCC-451B-8411-BB1E373BE769}" destId="{FC8233C4-2911-4517-B414-0D8408B2627A}" srcOrd="0" destOrd="0" presId="urn:diagrams.loki3.com/VaryingWidthList"/>
    <dgm:cxn modelId="{CA3F0A38-7A3F-4916-9DDD-9ECDE850C1DD}" type="presOf" srcId="{76248D3A-A61B-4A34-898F-F29D22F98E58}" destId="{EBE132B2-815D-479B-9250-4A03DAAA983F}" srcOrd="0" destOrd="0" presId="urn:diagrams.loki3.com/VaryingWidthList"/>
    <dgm:cxn modelId="{7C620561-4FBC-49D3-B2C8-EFBEE1033843}" srcId="{76248D3A-A61B-4A34-898F-F29D22F98E58}" destId="{399021CD-FC21-4B66-8BCF-ED80F154D14D}" srcOrd="2" destOrd="0" parTransId="{7B9E3231-BAB0-43EE-ACA9-47B727163504}" sibTransId="{079CE6B9-3C1E-4D30-9996-E04AE06507FE}"/>
    <dgm:cxn modelId="{3F8AAD44-33F6-4BDC-99CB-09D4791ADD1D}" type="presOf" srcId="{FE340DF2-C30A-4C1D-9195-7D2765F2B4C4}" destId="{32E2C83A-BE5A-4604-A3EC-8A484BE3C3F6}" srcOrd="0" destOrd="0" presId="urn:diagrams.loki3.com/VaryingWidthList"/>
    <dgm:cxn modelId="{797CDF47-4703-4F7A-A67A-3BBD8CFBA65A}" srcId="{76248D3A-A61B-4A34-898F-F29D22F98E58}" destId="{4EAFDD81-9DCC-451B-8411-BB1E373BE769}" srcOrd="1" destOrd="0" parTransId="{68A790BC-513A-4C3A-B8B6-06731AD245D4}" sibTransId="{90B25C1D-2164-42D1-AC54-CFCB54D362BB}"/>
    <dgm:cxn modelId="{AC952A74-9EED-4155-B450-8B04BA7A906A}" type="presOf" srcId="{7ED47864-3779-4AC8-B832-E0431E87CA86}" destId="{49C2E75B-3DEF-4E09-9AA3-4CE3CA9AA1A0}" srcOrd="0" destOrd="0" presId="urn:diagrams.loki3.com/VaryingWidthList"/>
    <dgm:cxn modelId="{8A66C380-4052-4883-A8D2-6B936C67B321}" type="presOf" srcId="{FF4B86F5-4705-405C-9FD5-934616FA83AC}" destId="{69B57F0D-4C4D-4757-8139-A8EC3F5D8716}" srcOrd="0" destOrd="0" presId="urn:diagrams.loki3.com/VaryingWidthList"/>
    <dgm:cxn modelId="{81B06887-E991-41A9-AAA2-FD5E630F8DBC}" srcId="{76248D3A-A61B-4A34-898F-F29D22F98E58}" destId="{7ED47864-3779-4AC8-B832-E0431E87CA86}" srcOrd="4" destOrd="0" parTransId="{AA8CE8C0-6E36-43F9-86F6-9DE4FD74D3E1}" sibTransId="{722B6A85-B9AE-4A0F-9611-B58115771388}"/>
    <dgm:cxn modelId="{DB1ACE89-C5FC-49B3-A1BC-7CD996CF2DA4}" type="presOf" srcId="{399021CD-FC21-4B66-8BCF-ED80F154D14D}" destId="{5DF40BA0-B1AA-4602-BEC3-15A59CDC8000}" srcOrd="0" destOrd="0" presId="urn:diagrams.loki3.com/VaryingWidthList"/>
    <dgm:cxn modelId="{AD92F495-96E9-480C-9880-9A3F8215F2A6}" srcId="{76248D3A-A61B-4A34-898F-F29D22F98E58}" destId="{FE340DF2-C30A-4C1D-9195-7D2765F2B4C4}" srcOrd="0" destOrd="0" parTransId="{B23D90FB-9E61-4A24-A5BB-734498BFD76B}" sibTransId="{33249E8E-EBBE-4641-BDB2-EF99C49FA937}"/>
    <dgm:cxn modelId="{1E7B33D6-266A-4541-9342-85F69A7A9C1D}" srcId="{76248D3A-A61B-4A34-898F-F29D22F98E58}" destId="{FF4B86F5-4705-405C-9FD5-934616FA83AC}" srcOrd="3" destOrd="0" parTransId="{BD0373D2-8CB0-49B2-865E-B495F020540B}" sibTransId="{A2963D75-EF8D-4976-8172-FC852062B7DC}"/>
    <dgm:cxn modelId="{E3ABDA8D-5B83-4830-9CDF-91FC04A76237}" type="presParOf" srcId="{EBE132B2-815D-479B-9250-4A03DAAA983F}" destId="{32E2C83A-BE5A-4604-A3EC-8A484BE3C3F6}" srcOrd="0" destOrd="0" presId="urn:diagrams.loki3.com/VaryingWidthList"/>
    <dgm:cxn modelId="{D29A5BDB-0DBC-4316-AEA4-F4E1913FD00C}" type="presParOf" srcId="{EBE132B2-815D-479B-9250-4A03DAAA983F}" destId="{8F215AB7-0431-4C6B-B3CE-A8F2FBC3239F}" srcOrd="1" destOrd="0" presId="urn:diagrams.loki3.com/VaryingWidthList"/>
    <dgm:cxn modelId="{43EB8CF0-8E23-44D2-9D98-B827091EAFE0}" type="presParOf" srcId="{EBE132B2-815D-479B-9250-4A03DAAA983F}" destId="{FC8233C4-2911-4517-B414-0D8408B2627A}" srcOrd="2" destOrd="0" presId="urn:diagrams.loki3.com/VaryingWidthList"/>
    <dgm:cxn modelId="{1A6CBEC7-CBB0-4C59-8B84-3BE15EA9C099}" type="presParOf" srcId="{EBE132B2-815D-479B-9250-4A03DAAA983F}" destId="{60BFCD67-607C-4087-B959-008C480A3881}" srcOrd="3" destOrd="0" presId="urn:diagrams.loki3.com/VaryingWidthList"/>
    <dgm:cxn modelId="{DCD1795E-C922-4887-8B43-FE45A8C5A807}" type="presParOf" srcId="{EBE132B2-815D-479B-9250-4A03DAAA983F}" destId="{5DF40BA0-B1AA-4602-BEC3-15A59CDC8000}" srcOrd="4" destOrd="0" presId="urn:diagrams.loki3.com/VaryingWidthList"/>
    <dgm:cxn modelId="{042EE625-6615-459F-92D9-78C53F2CE211}" type="presParOf" srcId="{EBE132B2-815D-479B-9250-4A03DAAA983F}" destId="{29C8C2E6-1E54-45C0-B2E2-49AFB3B8CB49}" srcOrd="5" destOrd="0" presId="urn:diagrams.loki3.com/VaryingWidthList"/>
    <dgm:cxn modelId="{958301C7-400F-4218-A5DD-B41ED3534A5F}" type="presParOf" srcId="{EBE132B2-815D-479B-9250-4A03DAAA983F}" destId="{69B57F0D-4C4D-4757-8139-A8EC3F5D8716}" srcOrd="6" destOrd="0" presId="urn:diagrams.loki3.com/VaryingWidthList"/>
    <dgm:cxn modelId="{B8195A11-6798-4047-9026-3BD76A527FF6}" type="presParOf" srcId="{EBE132B2-815D-479B-9250-4A03DAAA983F}" destId="{1D164BA0-9B7B-46D6-B467-856B21C07A0A}" srcOrd="7" destOrd="0" presId="urn:diagrams.loki3.com/VaryingWidthList"/>
    <dgm:cxn modelId="{DA0AC0AF-A37A-4A8F-85ED-A5302900D659}" type="presParOf" srcId="{EBE132B2-815D-479B-9250-4A03DAAA983F}" destId="{49C2E75B-3DEF-4E09-9AA3-4CE3CA9AA1A0}" srcOrd="8"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2C83A-BE5A-4604-A3EC-8A484BE3C3F6}">
      <dsp:nvSpPr>
        <dsp:cNvPr id="0" name=""/>
        <dsp:cNvSpPr/>
      </dsp:nvSpPr>
      <dsp:spPr>
        <a:xfrm>
          <a:off x="1152000" y="2399"/>
          <a:ext cx="6840000" cy="1049269"/>
        </a:xfrm>
        <a:prstGeom prst="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tx1"/>
              </a:solidFill>
            </a:rPr>
            <a:t>Contribution =</a:t>
          </a:r>
        </a:p>
        <a:p>
          <a:pPr marL="0" lvl="0" indent="0" algn="ctr" defTabSz="1289050">
            <a:lnSpc>
              <a:spcPct val="90000"/>
            </a:lnSpc>
            <a:spcBef>
              <a:spcPct val="0"/>
            </a:spcBef>
            <a:spcAft>
              <a:spcPct val="35000"/>
            </a:spcAft>
            <a:buNone/>
          </a:pPr>
          <a:r>
            <a:rPr lang="en-US" sz="2900" b="1" kern="1200" dirty="0">
              <a:solidFill>
                <a:schemeClr val="tx1"/>
              </a:solidFill>
            </a:rPr>
            <a:t>Sales price per unit – Variable cost per unit</a:t>
          </a:r>
        </a:p>
      </dsp:txBody>
      <dsp:txXfrm>
        <a:off x="1152000" y="2399"/>
        <a:ext cx="6840000" cy="1049269"/>
      </dsp:txXfrm>
    </dsp:sp>
    <dsp:sp modelId="{FC8233C4-2911-4517-B414-0D8408B2627A}">
      <dsp:nvSpPr>
        <dsp:cNvPr id="0" name=""/>
        <dsp:cNvSpPr/>
      </dsp:nvSpPr>
      <dsp:spPr>
        <a:xfrm>
          <a:off x="1917000" y="1104132"/>
          <a:ext cx="5310000" cy="1049269"/>
        </a:xfrm>
        <a:prstGeom prst="rect">
          <a:avLst/>
        </a:prstGeom>
        <a:solidFill>
          <a:schemeClr val="accent5">
            <a:hueOff val="248291"/>
            <a:satOff val="144"/>
            <a:lumOff val="142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tx1"/>
              </a:solidFill>
            </a:rPr>
            <a:t>Break even = </a:t>
          </a:r>
        </a:p>
        <a:p>
          <a:pPr marL="0" lvl="0" indent="0" algn="ctr" defTabSz="1289050">
            <a:lnSpc>
              <a:spcPct val="90000"/>
            </a:lnSpc>
            <a:spcBef>
              <a:spcPct val="0"/>
            </a:spcBef>
            <a:spcAft>
              <a:spcPct val="35000"/>
            </a:spcAft>
            <a:buNone/>
          </a:pPr>
          <a:r>
            <a:rPr lang="en-US" sz="2900" b="1" kern="1200" dirty="0">
              <a:solidFill>
                <a:schemeClr val="tx1"/>
              </a:solidFill>
            </a:rPr>
            <a:t>Fixed cost/Contribution per unit</a:t>
          </a:r>
        </a:p>
      </dsp:txBody>
      <dsp:txXfrm>
        <a:off x="1917000" y="1104132"/>
        <a:ext cx="5310000" cy="1049269"/>
      </dsp:txXfrm>
    </dsp:sp>
    <dsp:sp modelId="{5DF40BA0-B1AA-4602-BEC3-15A59CDC8000}">
      <dsp:nvSpPr>
        <dsp:cNvPr id="0" name=""/>
        <dsp:cNvSpPr/>
      </dsp:nvSpPr>
      <dsp:spPr>
        <a:xfrm>
          <a:off x="2592000" y="2205865"/>
          <a:ext cx="3960000" cy="1049269"/>
        </a:xfrm>
        <a:prstGeom prst="rect">
          <a:avLst/>
        </a:prstGeom>
        <a:solidFill>
          <a:schemeClr val="accent5">
            <a:hueOff val="496582"/>
            <a:satOff val="288"/>
            <a:lumOff val="284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tx1"/>
              </a:solidFill>
            </a:rPr>
            <a:t>Break even (Rs.) = </a:t>
          </a:r>
        </a:p>
        <a:p>
          <a:pPr marL="0" lvl="0" indent="0" algn="ctr" defTabSz="1289050">
            <a:lnSpc>
              <a:spcPct val="90000"/>
            </a:lnSpc>
            <a:spcBef>
              <a:spcPct val="0"/>
            </a:spcBef>
            <a:spcAft>
              <a:spcPct val="35000"/>
            </a:spcAft>
            <a:buNone/>
          </a:pPr>
          <a:r>
            <a:rPr lang="en-US" sz="2900" b="1" kern="1200" dirty="0">
              <a:solidFill>
                <a:schemeClr val="tx1"/>
              </a:solidFill>
            </a:rPr>
            <a:t>BEP (Units)*Sales price</a:t>
          </a:r>
        </a:p>
      </dsp:txBody>
      <dsp:txXfrm>
        <a:off x="2592000" y="2205865"/>
        <a:ext cx="3960000" cy="1049269"/>
      </dsp:txXfrm>
    </dsp:sp>
    <dsp:sp modelId="{69B57F0D-4C4D-4757-8139-A8EC3F5D8716}">
      <dsp:nvSpPr>
        <dsp:cNvPr id="0" name=""/>
        <dsp:cNvSpPr/>
      </dsp:nvSpPr>
      <dsp:spPr>
        <a:xfrm>
          <a:off x="1827000" y="3307598"/>
          <a:ext cx="5490000" cy="1049269"/>
        </a:xfrm>
        <a:prstGeom prst="rect">
          <a:avLst/>
        </a:prstGeom>
        <a:solidFill>
          <a:schemeClr val="accent5">
            <a:hueOff val="744874"/>
            <a:satOff val="432"/>
            <a:lumOff val="426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tx1"/>
              </a:solidFill>
            </a:rPr>
            <a:t>P/V Ratio = </a:t>
          </a:r>
        </a:p>
        <a:p>
          <a:pPr marL="0" lvl="0" indent="0" algn="ctr" defTabSz="1289050">
            <a:lnSpc>
              <a:spcPct val="90000"/>
            </a:lnSpc>
            <a:spcBef>
              <a:spcPct val="0"/>
            </a:spcBef>
            <a:spcAft>
              <a:spcPct val="35000"/>
            </a:spcAft>
            <a:buNone/>
          </a:pPr>
          <a:r>
            <a:rPr lang="en-US" sz="2900" b="1" kern="1200" dirty="0">
              <a:solidFill>
                <a:schemeClr val="tx1"/>
              </a:solidFill>
            </a:rPr>
            <a:t>(Contribution /Sales revenue)*100</a:t>
          </a:r>
        </a:p>
      </dsp:txBody>
      <dsp:txXfrm>
        <a:off x="1827000" y="3307598"/>
        <a:ext cx="5490000" cy="1049269"/>
      </dsp:txXfrm>
    </dsp:sp>
    <dsp:sp modelId="{49C2E75B-3DEF-4E09-9AA3-4CE3CA9AA1A0}">
      <dsp:nvSpPr>
        <dsp:cNvPr id="0" name=""/>
        <dsp:cNvSpPr/>
      </dsp:nvSpPr>
      <dsp:spPr>
        <a:xfrm>
          <a:off x="2232000" y="4409330"/>
          <a:ext cx="4680000" cy="1049269"/>
        </a:xfrm>
        <a:prstGeom prst="rect">
          <a:avLst/>
        </a:prstGeom>
        <a:solidFill>
          <a:schemeClr val="accent5">
            <a:hueOff val="993165"/>
            <a:satOff val="576"/>
            <a:lumOff val="5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tx1"/>
              </a:solidFill>
            </a:rPr>
            <a:t>Margin of safety=</a:t>
          </a:r>
        </a:p>
        <a:p>
          <a:pPr marL="0" lvl="0" indent="0" algn="ctr" defTabSz="1289050">
            <a:lnSpc>
              <a:spcPct val="90000"/>
            </a:lnSpc>
            <a:spcBef>
              <a:spcPct val="0"/>
            </a:spcBef>
            <a:spcAft>
              <a:spcPct val="35000"/>
            </a:spcAft>
            <a:buNone/>
          </a:pPr>
          <a:r>
            <a:rPr lang="en-US" sz="2900" b="1" kern="1200" dirty="0">
              <a:solidFill>
                <a:schemeClr val="tx1"/>
              </a:solidFill>
            </a:rPr>
            <a:t>Actual sales-break even sales</a:t>
          </a:r>
        </a:p>
      </dsp:txBody>
      <dsp:txXfrm>
        <a:off x="2232000" y="4409330"/>
        <a:ext cx="4680000" cy="1049269"/>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B6F15528-21DE-4FAA-801E-634DDDAF4B2B}"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773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2089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715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3870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06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2785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5275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4633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9065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847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8860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986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57403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0390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783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625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701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9/18/2025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57849808"/>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hyperlink" Target="https://courses.lumenlearning.com/boundless-economics/chapter/production-cos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971800"/>
            <a:ext cx="5270727" cy="1126067"/>
          </a:xfrm>
          <a:ln w="76200">
            <a:prstDash val="dashDot"/>
          </a:ln>
        </p:spPr>
        <p:style>
          <a:lnRef idx="2">
            <a:schemeClr val="accent6"/>
          </a:lnRef>
          <a:fillRef idx="1">
            <a:schemeClr val="lt1"/>
          </a:fillRef>
          <a:effectRef idx="0">
            <a:schemeClr val="accent6"/>
          </a:effectRef>
          <a:fontRef idx="minor">
            <a:schemeClr val="dk1"/>
          </a:fontRef>
        </p:style>
        <p:txBody>
          <a:bodyPr>
            <a:normAutofit fontScale="90000"/>
          </a:bodyPr>
          <a:lstStyle/>
          <a:p>
            <a:pPr algn="ctr"/>
            <a:r>
              <a:rPr lang="en-US" sz="3600" b="1" dirty="0"/>
              <a:t>COST VOLUME PROFIT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29AAF-38D6-4F3E-8B24-48B4F3ED6C05}"/>
              </a:ext>
            </a:extLst>
          </p:cNvPr>
          <p:cNvSpPr>
            <a:spLocks noGrp="1"/>
          </p:cNvSpPr>
          <p:nvPr>
            <p:ph type="title"/>
          </p:nvPr>
        </p:nvSpPr>
        <p:spPr/>
        <p:txBody>
          <a:bodyPr/>
          <a:lstStyle/>
          <a:p>
            <a:r>
              <a:rPr lang="en-US" dirty="0"/>
              <a:t>What is cost?</a:t>
            </a:r>
            <a:endParaRPr lang="en-IN" dirty="0"/>
          </a:p>
        </p:txBody>
      </p:sp>
      <p:sp>
        <p:nvSpPr>
          <p:cNvPr id="3" name="Content Placeholder 2">
            <a:extLst>
              <a:ext uri="{FF2B5EF4-FFF2-40B4-BE49-F238E27FC236}">
                <a16:creationId xmlns:a16="http://schemas.microsoft.com/office/drawing/2014/main" id="{AAF265FC-8F89-4A93-95D0-C8D20795FB48}"/>
              </a:ext>
            </a:extLst>
          </p:cNvPr>
          <p:cNvSpPr>
            <a:spLocks noGrp="1"/>
          </p:cNvSpPr>
          <p:nvPr>
            <p:ph idx="1"/>
          </p:nvPr>
        </p:nvSpPr>
        <p:spPr/>
        <p:txBody>
          <a:bodyPr>
            <a:normAutofit fontScale="70000" lnSpcReduction="20000"/>
          </a:bodyPr>
          <a:lstStyle/>
          <a:p>
            <a:pPr marL="0" indent="0" algn="just">
              <a:buNone/>
            </a:pPr>
            <a:r>
              <a:rPr lang="en-US" sz="2400" b="1" dirty="0"/>
              <a:t>Cost</a:t>
            </a:r>
            <a:r>
              <a:rPr lang="en-US" sz="2400" dirty="0"/>
              <a:t> refers to the monetary value of resources sacrificed or spent to achieve a specific objective, produce goods or services, or acquire something. </a:t>
            </a:r>
          </a:p>
          <a:p>
            <a:pPr marL="0" indent="0" algn="just">
              <a:buNone/>
            </a:pPr>
            <a:r>
              <a:rPr lang="en-US" sz="2400" dirty="0"/>
              <a:t>In simple terms, it’s the </a:t>
            </a:r>
            <a:r>
              <a:rPr lang="en-US" sz="2400" b="1" dirty="0"/>
              <a:t>amount paid or payable</a:t>
            </a:r>
            <a:r>
              <a:rPr lang="en-US" sz="2400" dirty="0"/>
              <a:t> to obtain a benefit.</a:t>
            </a:r>
          </a:p>
          <a:p>
            <a:pPr marL="0" indent="0" algn="just">
              <a:buNone/>
            </a:pPr>
            <a:r>
              <a:rPr lang="en-US" sz="2400" dirty="0"/>
              <a:t>In </a:t>
            </a:r>
            <a:r>
              <a:rPr lang="en-US" sz="2400" b="1" dirty="0"/>
              <a:t>accounting</a:t>
            </a:r>
            <a:r>
              <a:rPr lang="en-US" sz="2400" dirty="0"/>
              <a:t>, cost represents the expenditure incurred to acquire or manufacture a product or service.</a:t>
            </a:r>
          </a:p>
          <a:p>
            <a:pPr marL="0" indent="0" algn="just">
              <a:buNone/>
            </a:pPr>
            <a:r>
              <a:rPr lang="en-US" sz="2400" dirty="0"/>
              <a:t>In </a:t>
            </a:r>
            <a:r>
              <a:rPr lang="en-US" sz="2400" b="1" dirty="0"/>
              <a:t>economics</a:t>
            </a:r>
            <a:r>
              <a:rPr lang="en-US" sz="2400" dirty="0"/>
              <a:t>, cost can also include opportunity cost — the value of the next best alternative forgone.</a:t>
            </a:r>
          </a:p>
          <a:p>
            <a:pPr marL="0" indent="0" algn="just">
              <a:buNone/>
            </a:pPr>
            <a:r>
              <a:rPr lang="en-US" sz="2400" b="1" dirty="0"/>
              <a:t>Examples of Cost</a:t>
            </a:r>
          </a:p>
          <a:p>
            <a:pPr marL="0" indent="0" algn="just">
              <a:buNone/>
            </a:pPr>
            <a:r>
              <a:rPr lang="en-US" sz="2400" dirty="0"/>
              <a:t>Buying raw materials for production.</a:t>
            </a:r>
          </a:p>
          <a:p>
            <a:pPr marL="0" indent="0" algn="just">
              <a:buNone/>
            </a:pPr>
            <a:r>
              <a:rPr lang="en-US" sz="2400" dirty="0"/>
              <a:t>Paying wages to workers.</a:t>
            </a:r>
          </a:p>
          <a:p>
            <a:pPr marL="0" indent="0" algn="just">
              <a:buNone/>
            </a:pPr>
            <a:r>
              <a:rPr lang="en-US" sz="2400" dirty="0"/>
              <a:t>Depreciation on machinery used to produce goods.</a:t>
            </a:r>
          </a:p>
          <a:p>
            <a:pPr marL="0" indent="0" algn="just">
              <a:buNone/>
            </a:pPr>
            <a:endParaRPr lang="en-IN" sz="2400" dirty="0"/>
          </a:p>
        </p:txBody>
      </p:sp>
    </p:spTree>
    <p:extLst>
      <p:ext uri="{BB962C8B-B14F-4D97-AF65-F5344CB8AC3E}">
        <p14:creationId xmlns:p14="http://schemas.microsoft.com/office/powerpoint/2010/main" val="838567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3124-DB90-4B06-930E-8A2DE2EEA80E}"/>
              </a:ext>
            </a:extLst>
          </p:cNvPr>
          <p:cNvSpPr>
            <a:spLocks noGrp="1"/>
          </p:cNvSpPr>
          <p:nvPr>
            <p:ph type="title"/>
          </p:nvPr>
        </p:nvSpPr>
        <p:spPr>
          <a:xfrm>
            <a:off x="533400" y="1219200"/>
            <a:ext cx="8229600" cy="1143000"/>
          </a:xfrm>
        </p:spPr>
        <p:txBody>
          <a:bodyPr/>
          <a:lstStyle/>
          <a:p>
            <a:r>
              <a:rPr lang="en-US" dirty="0"/>
              <a:t>TYPES OF COST</a:t>
            </a:r>
            <a:endParaRPr lang="en-IN" dirty="0"/>
          </a:p>
        </p:txBody>
      </p:sp>
      <p:pic>
        <p:nvPicPr>
          <p:cNvPr id="7" name="Graphic 6">
            <a:extLst>
              <a:ext uri="{FF2B5EF4-FFF2-40B4-BE49-F238E27FC236}">
                <a16:creationId xmlns:a16="http://schemas.microsoft.com/office/drawing/2014/main" id="{751B0059-8703-42C1-A90F-F8BBD1FD70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3048000" y="3069753"/>
            <a:ext cx="2695575" cy="2190750"/>
          </a:xfrm>
          <a:prstGeom prst="rect">
            <a:avLst/>
          </a:prstGeom>
        </p:spPr>
      </p:pic>
    </p:spTree>
    <p:extLst>
      <p:ext uri="{BB962C8B-B14F-4D97-AF65-F5344CB8AC3E}">
        <p14:creationId xmlns:p14="http://schemas.microsoft.com/office/powerpoint/2010/main" val="139027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DBC56-DCB0-4C4E-AF66-0DB9AEAC309C}"/>
              </a:ext>
            </a:extLst>
          </p:cNvPr>
          <p:cNvSpPr>
            <a:spLocks noGrp="1"/>
          </p:cNvSpPr>
          <p:nvPr>
            <p:ph idx="1"/>
          </p:nvPr>
        </p:nvSpPr>
        <p:spPr>
          <a:xfrm>
            <a:off x="1176865" y="1981201"/>
            <a:ext cx="6798736" cy="3953932"/>
          </a:xfrm>
        </p:spPr>
        <p:txBody>
          <a:bodyPr>
            <a:normAutofit fontScale="92500" lnSpcReduction="10000"/>
          </a:bodyPr>
          <a:lstStyle/>
          <a:p>
            <a:pPr marL="0" indent="0">
              <a:buNone/>
            </a:pPr>
            <a:r>
              <a:rPr lang="en-US" b="1" dirty="0"/>
              <a:t>1. By Nature / Behavior</a:t>
            </a:r>
          </a:p>
          <a:p>
            <a:pPr>
              <a:buFont typeface="Arial" panose="020B0604020202020204" pitchFamily="34" charset="0"/>
              <a:buChar char="•"/>
            </a:pPr>
            <a:r>
              <a:rPr lang="en-US" b="1" dirty="0"/>
              <a:t>Fixed Costs:</a:t>
            </a:r>
            <a:r>
              <a:rPr lang="en-US" dirty="0"/>
              <a:t> Remain constant regardless of production volume.</a:t>
            </a:r>
            <a:br>
              <a:rPr lang="en-US" dirty="0"/>
            </a:br>
            <a:r>
              <a:rPr lang="en-US" i="1" dirty="0"/>
              <a:t>Example:</a:t>
            </a:r>
            <a:r>
              <a:rPr lang="en-US" dirty="0"/>
              <a:t> Factory rent, managerial salaries.</a:t>
            </a:r>
          </a:p>
          <a:p>
            <a:pPr>
              <a:buFont typeface="Arial" panose="020B0604020202020204" pitchFamily="34" charset="0"/>
              <a:buChar char="•"/>
            </a:pPr>
            <a:r>
              <a:rPr lang="en-US" b="1" dirty="0"/>
              <a:t>Variable Costs:</a:t>
            </a:r>
            <a:r>
              <a:rPr lang="en-US" dirty="0"/>
              <a:t> Change in proportion to production volume.</a:t>
            </a:r>
            <a:br>
              <a:rPr lang="en-US" dirty="0"/>
            </a:br>
            <a:r>
              <a:rPr lang="en-US" i="1" dirty="0"/>
              <a:t>Example:</a:t>
            </a:r>
            <a:r>
              <a:rPr lang="en-US" dirty="0"/>
              <a:t> Raw materials, direct labor.</a:t>
            </a:r>
          </a:p>
          <a:p>
            <a:pPr>
              <a:buFont typeface="Arial" panose="020B0604020202020204" pitchFamily="34" charset="0"/>
              <a:buChar char="•"/>
            </a:pPr>
            <a:r>
              <a:rPr lang="en-US" b="1" dirty="0"/>
              <a:t>Semi-Variable (Mixed) Costs:</a:t>
            </a:r>
            <a:r>
              <a:rPr lang="en-US" dirty="0"/>
              <a:t> Have both fixed and variable components.</a:t>
            </a:r>
            <a:br>
              <a:rPr lang="en-US" dirty="0"/>
            </a:br>
            <a:r>
              <a:rPr lang="en-US" i="1" dirty="0"/>
              <a:t>Example:</a:t>
            </a:r>
            <a:r>
              <a:rPr lang="en-US" dirty="0"/>
              <a:t> Telephone bills with a fixed line rent plus usage charge.</a:t>
            </a:r>
          </a:p>
          <a:p>
            <a:endParaRPr lang="en-IN" dirty="0"/>
          </a:p>
        </p:txBody>
      </p:sp>
    </p:spTree>
    <p:extLst>
      <p:ext uri="{BB962C8B-B14F-4D97-AF65-F5344CB8AC3E}">
        <p14:creationId xmlns:p14="http://schemas.microsoft.com/office/powerpoint/2010/main" val="1568546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84A302-0778-4E1C-8F02-215CEDFC53C0}"/>
              </a:ext>
            </a:extLst>
          </p:cNvPr>
          <p:cNvSpPr>
            <a:spLocks noGrp="1"/>
          </p:cNvSpPr>
          <p:nvPr>
            <p:ph idx="1"/>
          </p:nvPr>
        </p:nvSpPr>
        <p:spPr>
          <a:xfrm>
            <a:off x="1172632" y="1905000"/>
            <a:ext cx="6798736" cy="3444997"/>
          </a:xfrm>
        </p:spPr>
        <p:txBody>
          <a:bodyPr/>
          <a:lstStyle/>
          <a:p>
            <a:pPr marL="0" indent="0" algn="just">
              <a:buNone/>
            </a:pPr>
            <a:r>
              <a:rPr lang="en-US" b="1" dirty="0"/>
              <a:t>2. By Traceability</a:t>
            </a:r>
          </a:p>
          <a:p>
            <a:pPr algn="just">
              <a:buFont typeface="Arial" panose="020B0604020202020204" pitchFamily="34" charset="0"/>
              <a:buChar char="•"/>
            </a:pPr>
            <a:r>
              <a:rPr lang="en-US" b="1" dirty="0"/>
              <a:t>Direct Costs:</a:t>
            </a:r>
            <a:r>
              <a:rPr lang="en-US" dirty="0"/>
              <a:t> Can be directly identified with a specific product, job, or process.</a:t>
            </a:r>
            <a:br>
              <a:rPr lang="en-US" dirty="0"/>
            </a:br>
            <a:r>
              <a:rPr lang="en-US" i="1" dirty="0"/>
              <a:t>Example:</a:t>
            </a:r>
            <a:r>
              <a:rPr lang="en-US" dirty="0"/>
              <a:t> Direct materials, direct labor.</a:t>
            </a:r>
          </a:p>
          <a:p>
            <a:pPr algn="just">
              <a:buFont typeface="Arial" panose="020B0604020202020204" pitchFamily="34" charset="0"/>
              <a:buChar char="•"/>
            </a:pPr>
            <a:r>
              <a:rPr lang="en-US" b="1" dirty="0"/>
              <a:t>Indirect Costs (Overheads):</a:t>
            </a:r>
            <a:r>
              <a:rPr lang="en-US" dirty="0"/>
              <a:t> Cannot be directly traced to one product; shared costs.</a:t>
            </a:r>
            <a:br>
              <a:rPr lang="en-US" dirty="0"/>
            </a:br>
            <a:r>
              <a:rPr lang="en-US" i="1" dirty="0"/>
              <a:t>Example:</a:t>
            </a:r>
            <a:r>
              <a:rPr lang="en-US" dirty="0"/>
              <a:t> Factory lighting, supervisor salary.</a:t>
            </a:r>
          </a:p>
          <a:p>
            <a:pPr algn="just"/>
            <a:endParaRPr lang="en-IN" dirty="0"/>
          </a:p>
        </p:txBody>
      </p:sp>
    </p:spTree>
    <p:extLst>
      <p:ext uri="{BB962C8B-B14F-4D97-AF65-F5344CB8AC3E}">
        <p14:creationId xmlns:p14="http://schemas.microsoft.com/office/powerpoint/2010/main" val="2978091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978630-D3DD-483E-9326-395E0C3E37D8}"/>
              </a:ext>
            </a:extLst>
          </p:cNvPr>
          <p:cNvSpPr>
            <a:spLocks noGrp="1"/>
          </p:cNvSpPr>
          <p:nvPr>
            <p:ph idx="1"/>
          </p:nvPr>
        </p:nvSpPr>
        <p:spPr>
          <a:xfrm>
            <a:off x="1172632" y="1905000"/>
            <a:ext cx="6798736" cy="3444997"/>
          </a:xfrm>
        </p:spPr>
        <p:txBody>
          <a:bodyPr>
            <a:normAutofit fontScale="92500" lnSpcReduction="20000"/>
          </a:bodyPr>
          <a:lstStyle/>
          <a:p>
            <a:pPr marL="0" indent="0">
              <a:buNone/>
            </a:pPr>
            <a:r>
              <a:rPr lang="en-US" b="1" dirty="0"/>
              <a:t>3. By Decision-making Purpose</a:t>
            </a:r>
          </a:p>
          <a:p>
            <a:pPr>
              <a:buFont typeface="Arial" panose="020B0604020202020204" pitchFamily="34" charset="0"/>
              <a:buChar char="•"/>
            </a:pPr>
            <a:r>
              <a:rPr lang="en-US" b="1" dirty="0"/>
              <a:t>Opportunity Cost:</a:t>
            </a:r>
            <a:r>
              <a:rPr lang="en-US" dirty="0"/>
              <a:t> Value of the next best alternative forgone.</a:t>
            </a:r>
          </a:p>
          <a:p>
            <a:pPr>
              <a:buFont typeface="Arial" panose="020B0604020202020204" pitchFamily="34" charset="0"/>
              <a:buChar char="•"/>
            </a:pPr>
            <a:r>
              <a:rPr lang="en-US" b="1" dirty="0"/>
              <a:t>Relevant Cost:</a:t>
            </a:r>
            <a:r>
              <a:rPr lang="en-US" dirty="0"/>
              <a:t> Costs directly affected by a specific decision.</a:t>
            </a:r>
          </a:p>
          <a:p>
            <a:pPr>
              <a:buFont typeface="Arial" panose="020B0604020202020204" pitchFamily="34" charset="0"/>
              <a:buChar char="•"/>
            </a:pPr>
            <a:r>
              <a:rPr lang="en-US" b="1" dirty="0"/>
              <a:t>Sunk Cost:</a:t>
            </a:r>
            <a:r>
              <a:rPr lang="en-US" dirty="0"/>
              <a:t> Costs already incurred and cannot be recovered.</a:t>
            </a:r>
          </a:p>
          <a:p>
            <a:pPr>
              <a:buFont typeface="Arial" panose="020B0604020202020204" pitchFamily="34" charset="0"/>
              <a:buChar char="•"/>
            </a:pPr>
            <a:r>
              <a:rPr lang="en-US" b="1" dirty="0"/>
              <a:t>Controllable / Uncontrollable Costs:</a:t>
            </a:r>
            <a:r>
              <a:rPr lang="en-US" dirty="0"/>
              <a:t> Costs managers can or cannot influence.</a:t>
            </a:r>
          </a:p>
          <a:p>
            <a:endParaRPr lang="en-IN" dirty="0"/>
          </a:p>
        </p:txBody>
      </p:sp>
    </p:spTree>
    <p:extLst>
      <p:ext uri="{BB962C8B-B14F-4D97-AF65-F5344CB8AC3E}">
        <p14:creationId xmlns:p14="http://schemas.microsoft.com/office/powerpoint/2010/main" val="2963521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310BC7-60BE-4540-8FAB-E04AF53F57BB}"/>
              </a:ext>
            </a:extLst>
          </p:cNvPr>
          <p:cNvSpPr>
            <a:spLocks noGrp="1"/>
          </p:cNvSpPr>
          <p:nvPr>
            <p:ph idx="1"/>
          </p:nvPr>
        </p:nvSpPr>
        <p:spPr>
          <a:xfrm>
            <a:off x="1172632" y="1828800"/>
            <a:ext cx="6798736" cy="3444997"/>
          </a:xfrm>
        </p:spPr>
        <p:txBody>
          <a:bodyPr/>
          <a:lstStyle/>
          <a:p>
            <a:pPr marL="0" indent="0">
              <a:buNone/>
            </a:pPr>
            <a:r>
              <a:rPr lang="en-US" b="1" dirty="0"/>
              <a:t>4. By Time</a:t>
            </a:r>
          </a:p>
          <a:p>
            <a:pPr>
              <a:buFont typeface="Arial" panose="020B0604020202020204" pitchFamily="34" charset="0"/>
              <a:buChar char="•"/>
            </a:pPr>
            <a:r>
              <a:rPr lang="en-US" b="1" dirty="0"/>
              <a:t>Historical Costs:</a:t>
            </a:r>
            <a:r>
              <a:rPr lang="en-US" dirty="0"/>
              <a:t> Actual costs incurred in the past.</a:t>
            </a:r>
          </a:p>
          <a:p>
            <a:pPr>
              <a:buFont typeface="Arial" panose="020B0604020202020204" pitchFamily="34" charset="0"/>
              <a:buChar char="•"/>
            </a:pPr>
            <a:r>
              <a:rPr lang="en-US" b="1" dirty="0"/>
              <a:t>Pre-determined Costs:</a:t>
            </a:r>
            <a:r>
              <a:rPr lang="en-US" dirty="0"/>
              <a:t> Estimated or budgeted costs set in advance.</a:t>
            </a:r>
          </a:p>
          <a:p>
            <a:endParaRPr lang="en-IN" dirty="0"/>
          </a:p>
        </p:txBody>
      </p:sp>
    </p:spTree>
    <p:extLst>
      <p:ext uri="{BB962C8B-B14F-4D97-AF65-F5344CB8AC3E}">
        <p14:creationId xmlns:p14="http://schemas.microsoft.com/office/powerpoint/2010/main" val="2691425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descr="Cost-Volume-Profit (CVP) Analysis: What It Is and the Formula for  Calculating I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Cost-Volume-Profit (CVP) Analysis: What It Is and the Formula for  Calculating I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6" name="AutoShape 6" descr="Cost-Volume-Profit (CVP) Analysis: What It Is and the Formula for  Calculating I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8" name="AutoShape 8" descr="Cost-Volume-Profit (CVP) Analysis: What It Is and the Formula for  Calculating I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0" name="AutoShape 10" descr="What is Cost Volume Profit (CVP) Chart? - Definition | Meaning | Exampl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2" name="AutoShape 12" descr="Cost Volume Profit Analysis (Examples, Formula) | What is CVP Analys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74" name="Picture 14" descr="Cost-Volume-Profit (CVP) Analysis: What It Is and the Formula for  Calculating It"/>
          <p:cNvPicPr>
            <a:picLocks noChangeAspect="1" noChangeArrowheads="1"/>
          </p:cNvPicPr>
          <p:nvPr/>
        </p:nvPicPr>
        <p:blipFill>
          <a:blip r:embed="rId2"/>
          <a:srcRect b="6944"/>
          <a:stretch>
            <a:fillRect/>
          </a:stretch>
        </p:blipFill>
        <p:spPr bwMode="auto">
          <a:xfrm>
            <a:off x="0" y="0"/>
            <a:ext cx="9144000" cy="68580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MEANING</a:t>
            </a:r>
          </a:p>
        </p:txBody>
      </p:sp>
      <p:sp>
        <p:nvSpPr>
          <p:cNvPr id="3" name="Content Placeholder 2"/>
          <p:cNvSpPr>
            <a:spLocks noGrp="1"/>
          </p:cNvSpPr>
          <p:nvPr>
            <p:ph idx="1"/>
          </p:nvPr>
        </p:nvSpPr>
        <p:spPr>
          <a:noFill/>
        </p:spPr>
        <p:style>
          <a:lnRef idx="1">
            <a:schemeClr val="accent3"/>
          </a:lnRef>
          <a:fillRef idx="3">
            <a:schemeClr val="accent3"/>
          </a:fillRef>
          <a:effectRef idx="2">
            <a:schemeClr val="accent3"/>
          </a:effectRef>
          <a:fontRef idx="minor">
            <a:schemeClr val="lt1"/>
          </a:fontRef>
        </p:style>
        <p:txBody>
          <a:bodyPr>
            <a:normAutofit lnSpcReduction="10000"/>
          </a:bodyPr>
          <a:lstStyle/>
          <a:p>
            <a:pPr algn="just"/>
            <a:r>
              <a:rPr lang="en-US" dirty="0">
                <a:solidFill>
                  <a:schemeClr val="tx1"/>
                </a:solidFill>
              </a:rPr>
              <a:t>The Cost -Volume-Profit (CVP) analysis is an attempt to measure the </a:t>
            </a:r>
            <a:r>
              <a:rPr lang="en-US" b="1" u="sng" dirty="0">
                <a:solidFill>
                  <a:schemeClr val="tx1"/>
                </a:solidFill>
              </a:rPr>
              <a:t>effect of changes in volume, cost, price and products-mix on profits</a:t>
            </a:r>
            <a:r>
              <a:rPr lang="en-US" dirty="0">
                <a:solidFill>
                  <a:schemeClr val="tx1"/>
                </a:solidFill>
              </a:rPr>
              <a:t>. </a:t>
            </a:r>
          </a:p>
          <a:p>
            <a:pPr algn="just"/>
            <a:r>
              <a:rPr lang="en-US" dirty="0">
                <a:solidFill>
                  <a:schemeClr val="tx1"/>
                </a:solidFill>
              </a:rPr>
              <a:t>These variables are inter-related, each one of them, in turn, is affected by a number of internal and external factors. </a:t>
            </a:r>
          </a:p>
          <a:p>
            <a:pPr algn="just"/>
            <a:r>
              <a:rPr lang="en-US" dirty="0">
                <a:solidFill>
                  <a:schemeClr val="tx1"/>
                </a:solidFill>
              </a:rPr>
              <a:t>For instance, costs vary due to choice of plant, scale of operations, technology, efficiency of work-force and management efficiency. Etc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r>
              <a:rPr lang="en-US" b="1" dirty="0"/>
              <a:t>ASSUMPTIONS OF CVP </a:t>
            </a:r>
          </a:p>
        </p:txBody>
      </p:sp>
      <p:sp>
        <p:nvSpPr>
          <p:cNvPr id="3" name="Content Placeholder 2"/>
          <p:cNvSpPr>
            <a:spLocks noGrp="1"/>
          </p:cNvSpPr>
          <p:nvPr>
            <p:ph idx="1"/>
          </p:nvPr>
        </p:nvSpPr>
        <p:spPr>
          <a:noFill/>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marL="514350" indent="-514350">
              <a:buFont typeface="+mj-lt"/>
              <a:buAutoNum type="arabicPeriod"/>
            </a:pPr>
            <a:r>
              <a:rPr lang="en-US" sz="1600" dirty="0"/>
              <a:t>All costs can be resolved into </a:t>
            </a:r>
            <a:r>
              <a:rPr lang="en-US" sz="1600" b="1" u="sng" dirty="0"/>
              <a:t>fixed and variable</a:t>
            </a:r>
            <a:r>
              <a:rPr lang="en-US" sz="1600" dirty="0"/>
              <a:t> elements. </a:t>
            </a:r>
          </a:p>
          <a:p>
            <a:pPr marL="514350" indent="-514350">
              <a:buFont typeface="+mj-lt"/>
              <a:buAutoNum type="arabicPeriod"/>
            </a:pPr>
            <a:r>
              <a:rPr lang="en-US" sz="1600" dirty="0"/>
              <a:t>Semi-variable cost can be segregated into both the variable and its fixed components. </a:t>
            </a:r>
          </a:p>
          <a:p>
            <a:pPr marL="514350" indent="-514350">
              <a:buFont typeface="+mj-lt"/>
              <a:buAutoNum type="arabicPeriod"/>
            </a:pPr>
            <a:r>
              <a:rPr lang="en-US" sz="1600" b="1" u="sng" dirty="0"/>
              <a:t>Selling price </a:t>
            </a:r>
            <a:r>
              <a:rPr lang="en-US" sz="1600" dirty="0"/>
              <a:t>per unit is constant. </a:t>
            </a:r>
          </a:p>
          <a:p>
            <a:pPr marL="514350" indent="-514350">
              <a:buFont typeface="+mj-lt"/>
              <a:buAutoNum type="arabicPeriod"/>
            </a:pPr>
            <a:r>
              <a:rPr lang="en-US" sz="1600" b="1" u="sng" dirty="0"/>
              <a:t>Variable cost </a:t>
            </a:r>
            <a:r>
              <a:rPr lang="en-US" sz="1600" dirty="0"/>
              <a:t>per unit is constant. </a:t>
            </a:r>
          </a:p>
          <a:p>
            <a:pPr marL="514350" indent="-514350">
              <a:buFont typeface="+mj-lt"/>
              <a:buAutoNum type="arabicPeriod"/>
            </a:pPr>
            <a:r>
              <a:rPr lang="en-US" sz="1600" b="1" u="sng" dirty="0"/>
              <a:t>Total fixed cost </a:t>
            </a:r>
            <a:r>
              <a:rPr lang="en-US" sz="1600" dirty="0"/>
              <a:t>remain unchanged regardless of output. </a:t>
            </a:r>
          </a:p>
          <a:p>
            <a:pPr marL="514350" indent="-514350">
              <a:buFont typeface="+mj-lt"/>
              <a:buAutoNum type="arabicPeriod"/>
            </a:pPr>
            <a:r>
              <a:rPr lang="en-US" sz="1600" dirty="0"/>
              <a:t>Only one product is involved and in case of a multi-product organization, there is a </a:t>
            </a:r>
            <a:r>
              <a:rPr lang="en-US" sz="1600" b="1" u="sng" dirty="0"/>
              <a:t>constant sales mix</a:t>
            </a:r>
            <a:r>
              <a:rPr lang="en-US" sz="1600" dirty="0"/>
              <a:t>. </a:t>
            </a:r>
          </a:p>
          <a:p>
            <a:pPr marL="514350" indent="-514350">
              <a:buFont typeface="+mj-lt"/>
              <a:buAutoNum type="arabicPeriod"/>
            </a:pPr>
            <a:r>
              <a:rPr lang="en-US" sz="1600" dirty="0"/>
              <a:t>The only factor affecting costs and revenues is </a:t>
            </a:r>
            <a:r>
              <a:rPr lang="en-US" sz="1600" b="1" u="sng" dirty="0"/>
              <a:t>volume</a:t>
            </a:r>
            <a:r>
              <a:rPr lang="en-US" sz="1600" dirty="0"/>
              <a:t> </a:t>
            </a:r>
          </a:p>
          <a:p>
            <a:pPr marL="514350" indent="-514350">
              <a:buFont typeface="+mj-lt"/>
              <a:buAutoNum type="arabicPeriod"/>
            </a:pPr>
            <a:r>
              <a:rPr lang="en-US" sz="1600" dirty="0"/>
              <a:t>Over the activity range being considered costs and revenues behave in a </a:t>
            </a:r>
            <a:r>
              <a:rPr lang="en-US" sz="1600" b="1" u="sng" dirty="0"/>
              <a:t>linear fashion </a:t>
            </a:r>
          </a:p>
          <a:p>
            <a:pPr marL="514350" indent="-514350">
              <a:buFont typeface="+mj-lt"/>
              <a:buAutoNum type="arabicPeriod"/>
            </a:pPr>
            <a:r>
              <a:rPr lang="en-US" sz="1600" b="1" u="sng" dirty="0"/>
              <a:t>Risk and uncertainty </a:t>
            </a:r>
            <a:r>
              <a:rPr lang="en-US" sz="1600" dirty="0"/>
              <a:t>are non-existent </a:t>
            </a:r>
          </a:p>
          <a:p>
            <a:pPr marL="514350" indent="-514350">
              <a:buFont typeface="+mj-lt"/>
              <a:buAutoNum type="arabicPeriod"/>
            </a:pPr>
            <a:r>
              <a:rPr lang="en-US" sz="1600" dirty="0"/>
              <a:t>There is a relevant range.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TERMINOLOGIES</a:t>
            </a:r>
          </a:p>
        </p:txBody>
      </p:sp>
      <p:sp>
        <p:nvSpPr>
          <p:cNvPr id="3" name="Content Placeholder 2"/>
          <p:cNvSpPr>
            <a:spLocks noGrp="1"/>
          </p:cNvSpPr>
          <p:nvPr>
            <p:ph idx="1"/>
          </p:nvPr>
        </p:nvSpPr>
        <p:spPr>
          <a:ln>
            <a:prstDash val="lgDash"/>
          </a:ln>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pPr marL="514350" indent="-514350">
              <a:buFont typeface="+mj-lt"/>
              <a:buAutoNum type="arabicPeriod"/>
            </a:pPr>
            <a:r>
              <a:rPr lang="en-US" b="1" dirty="0"/>
              <a:t>Break-even: </a:t>
            </a:r>
            <a:r>
              <a:rPr lang="en-US" dirty="0"/>
              <a:t>Break even explains a situation where a company is making neither profit nor loss. A company that makes neither profit nor loss is said to be breaking even. </a:t>
            </a:r>
          </a:p>
          <a:p>
            <a:pPr marL="514350" indent="-514350">
              <a:buFont typeface="+mj-lt"/>
              <a:buAutoNum type="arabicPeriod"/>
            </a:pPr>
            <a:r>
              <a:rPr lang="en-US" b="1" dirty="0"/>
              <a:t>Contribution: </a:t>
            </a:r>
            <a:r>
              <a:rPr lang="en-US" dirty="0"/>
              <a:t>this is the difference between sales revenue and variable cost. </a:t>
            </a:r>
          </a:p>
          <a:p>
            <a:pPr marL="514350" indent="-514350">
              <a:buFont typeface="+mj-lt"/>
              <a:buAutoNum type="arabicPeriod"/>
            </a:pPr>
            <a:r>
              <a:rPr lang="en-US" b="1" dirty="0"/>
              <a:t>Contribution margin ratio (CMR): </a:t>
            </a:r>
            <a:r>
              <a:rPr lang="en-US" dirty="0"/>
              <a:t>This is also known as contribution to sales ratio (C/S ratio) or Profit volume ratio. It is designed to measure the level of contribution derivable from a specified amount. </a:t>
            </a:r>
          </a:p>
          <a:p>
            <a:pPr marL="514350" indent="-514350">
              <a:buFont typeface="+mj-lt"/>
              <a:buAutoNum type="arabicPeriod"/>
            </a:pPr>
            <a:r>
              <a:rPr lang="en-US" b="1" dirty="0"/>
              <a:t>Margin of Safety: </a:t>
            </a:r>
            <a:r>
              <a:rPr lang="en-US" dirty="0"/>
              <a:t>This indicates the extent to which sales may decrease before loss begin to set 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descr="Cost Volume Profit Analysis (Examples, Formula) | What is CVP Analys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2" name="AutoShape 4" descr="Cost Volume Profit Analysis (Examples, Formula) | What is CVP Analys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4" name="AutoShape 6" descr="Cost Volume Profit Analysis (Examples, Formula) | What is CVP Analys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2536" name="Picture 8" descr="5.5 Cost-Volume-Profit Analysis In Planning | Managerial Accounting"/>
          <p:cNvPicPr>
            <a:picLocks noChangeAspect="1" noChangeArrowheads="1"/>
          </p:cNvPicPr>
          <p:nvPr/>
        </p:nvPicPr>
        <p:blipFill>
          <a:blip r:embed="rId2"/>
          <a:srcRect t="4000"/>
          <a:stretch>
            <a:fillRect/>
          </a:stretch>
        </p:blipFill>
        <p:spPr bwMode="auto">
          <a:xfrm>
            <a:off x="685800" y="762000"/>
            <a:ext cx="7874943" cy="54864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020243026"/>
              </p:ext>
            </p:extLst>
          </p:nvPr>
        </p:nvGraphicFramePr>
        <p:xfrm>
          <a:off x="76200" y="698500"/>
          <a:ext cx="9144000" cy="546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6"/>
          </a:lnRef>
          <a:fillRef idx="1">
            <a:schemeClr val="lt1"/>
          </a:fillRef>
          <a:effectRef idx="0">
            <a:schemeClr val="accent6"/>
          </a:effectRef>
          <a:fontRef idx="minor">
            <a:schemeClr val="dk1"/>
          </a:fontRef>
        </p:style>
        <p:txBody>
          <a:bodyPr/>
          <a:lstStyle/>
          <a:p>
            <a:r>
              <a:rPr lang="en-US" b="1" u="sng" dirty="0"/>
              <a:t>PRACTICE QUESTIONS</a:t>
            </a:r>
          </a:p>
        </p:txBody>
      </p:sp>
      <p:sp>
        <p:nvSpPr>
          <p:cNvPr id="3" name="Content Placeholder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normAutofit fontScale="92500" lnSpcReduction="10000"/>
          </a:bodyPr>
          <a:lstStyle/>
          <a:p>
            <a:pPr algn="just"/>
            <a:r>
              <a:rPr lang="en-US" dirty="0"/>
              <a:t>Assume that as an investor, you are planning to enter the construction industry as a panel formwork supplier. The potential number of forthcoming projects, you forecasted that within two years, your fixed cost for producing formworks is Rs. 300,000. The variable unit cost for making one panel is Rs.  15.  The sale price for each panel will be Rs. 25. If you charge Rs. 25 for each panel, how many panels you need to sell in total, in order to start making money?</a:t>
            </a:r>
          </a:p>
          <a:p>
            <a:pPr algn="just"/>
            <a:r>
              <a:rPr lang="en-US" dirty="0"/>
              <a:t>Answer: 30,000 panels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21363"/>
          </a:xfrm>
          <a:noFill/>
        </p:spPr>
        <p:style>
          <a:lnRef idx="1">
            <a:schemeClr val="accent3"/>
          </a:lnRef>
          <a:fillRef idx="2">
            <a:schemeClr val="accent3"/>
          </a:fillRef>
          <a:effectRef idx="1">
            <a:schemeClr val="accent3"/>
          </a:effectRef>
          <a:fontRef idx="minor">
            <a:schemeClr val="dk1"/>
          </a:fontRef>
        </p:style>
        <p:txBody>
          <a:bodyPr>
            <a:normAutofit fontScale="92500" lnSpcReduction="20000"/>
          </a:bodyPr>
          <a:lstStyle/>
          <a:p>
            <a:pPr algn="just" fontAlgn="base">
              <a:buNone/>
            </a:pPr>
            <a:r>
              <a:rPr lang="en-US" dirty="0"/>
              <a:t>Suppose you intend to open a franchise business to</a:t>
            </a:r>
          </a:p>
          <a:p>
            <a:pPr algn="just" fontAlgn="base">
              <a:buNone/>
            </a:pPr>
            <a:r>
              <a:rPr lang="en-US" dirty="0"/>
              <a:t>supply a nationally-known line of women’s shoes.  You’ve</a:t>
            </a:r>
          </a:p>
          <a:p>
            <a:pPr algn="just" fontAlgn="base">
              <a:buNone/>
            </a:pPr>
            <a:r>
              <a:rPr lang="en-US" dirty="0"/>
              <a:t>found a good location in </a:t>
            </a:r>
            <a:r>
              <a:rPr lang="en-US" dirty="0" err="1"/>
              <a:t>Abbottabad</a:t>
            </a:r>
            <a:r>
              <a:rPr lang="en-US" dirty="0"/>
              <a:t> to open your shop,</a:t>
            </a:r>
          </a:p>
          <a:p>
            <a:pPr algn="just" fontAlgn="base">
              <a:buNone/>
            </a:pPr>
            <a:r>
              <a:rPr lang="en-US" dirty="0"/>
              <a:t>and have determined that the average prices and costs of</a:t>
            </a:r>
          </a:p>
          <a:p>
            <a:pPr algn="just" fontAlgn="base">
              <a:buNone/>
            </a:pPr>
            <a:r>
              <a:rPr lang="en-US" dirty="0"/>
              <a:t>operating the store are:</a:t>
            </a:r>
          </a:p>
          <a:p>
            <a:pPr algn="just" fontAlgn="base"/>
            <a:r>
              <a:rPr lang="en-US" dirty="0"/>
              <a:t>Price = Rs. 50 per pair                               </a:t>
            </a:r>
          </a:p>
          <a:p>
            <a:pPr algn="just" fontAlgn="base"/>
            <a:r>
              <a:rPr lang="en-US" dirty="0"/>
              <a:t>Cost = Rs. 30 per pair </a:t>
            </a:r>
          </a:p>
          <a:p>
            <a:pPr algn="just" fontAlgn="base"/>
            <a:r>
              <a:rPr lang="en-US" dirty="0"/>
              <a:t>Rent=Rs.2,500per month                                     </a:t>
            </a:r>
          </a:p>
          <a:p>
            <a:pPr algn="just" fontAlgn="base"/>
            <a:r>
              <a:rPr lang="en-US" dirty="0"/>
              <a:t>Insurance = Rs. 500 per month </a:t>
            </a:r>
          </a:p>
          <a:p>
            <a:pPr algn="just" fontAlgn="base"/>
            <a:r>
              <a:rPr lang="en-US" dirty="0"/>
              <a:t>Fixed Utilities &amp; Telephone = Rs. 300 per month</a:t>
            </a:r>
          </a:p>
          <a:p>
            <a:pPr algn="just" fontAlgn="base"/>
            <a:r>
              <a:rPr lang="en-US" dirty="0"/>
              <a:t>In addition, you plan to hire two sales ladies on a commission basis of 10% in order to provide them with incentive to sell shoes.  You are required determine the breakeven point in Rupees?</a:t>
            </a:r>
          </a:p>
          <a:p>
            <a:pPr algn="just" fontAlgn="base"/>
            <a:r>
              <a:rPr lang="en-US" dirty="0"/>
              <a:t>Answer: Rs. 11,000</a:t>
            </a:r>
          </a:p>
          <a:p>
            <a:pPr algn="just"/>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4038600"/>
          </a:xfrm>
          <a:noFill/>
        </p:spPr>
        <p:style>
          <a:lnRef idx="1">
            <a:schemeClr val="accent2"/>
          </a:lnRef>
          <a:fillRef idx="2">
            <a:schemeClr val="accent2"/>
          </a:fillRef>
          <a:effectRef idx="1">
            <a:schemeClr val="accent2"/>
          </a:effectRef>
          <a:fontRef idx="minor">
            <a:schemeClr val="dk1"/>
          </a:fontRef>
        </p:style>
        <p:txBody>
          <a:bodyPr>
            <a:normAutofit fontScale="92500" lnSpcReduction="20000"/>
          </a:bodyPr>
          <a:lstStyle/>
          <a:p>
            <a:pPr algn="just"/>
            <a:r>
              <a:rPr lang="en-US" sz="4000" dirty="0"/>
              <a:t>A manufacturing company supplies its products to construction job sites. The average monthly fixed cost per site is Rs. 4,500, while each unit cost Rs. 35 to produce and selling price is Rs. 50 per unit. Determine the monthly breakeven volume.</a:t>
            </a:r>
          </a:p>
          <a:p>
            <a:pPr algn="just"/>
            <a:r>
              <a:rPr lang="en-US" sz="4000" dirty="0"/>
              <a:t>Answer: 300 Units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a:noFill/>
        </p:spPr>
        <p:style>
          <a:lnRef idx="1">
            <a:schemeClr val="dk1"/>
          </a:lnRef>
          <a:fillRef idx="2">
            <a:schemeClr val="dk1"/>
          </a:fillRef>
          <a:effectRef idx="1">
            <a:schemeClr val="dk1"/>
          </a:effectRef>
          <a:fontRef idx="minor">
            <a:schemeClr val="dk1"/>
          </a:fontRef>
        </p:style>
        <p:txBody>
          <a:bodyPr>
            <a:normAutofit/>
          </a:bodyPr>
          <a:lstStyle/>
          <a:p>
            <a:pPr fontAlgn="base"/>
            <a:r>
              <a:rPr lang="en-US" sz="3200" dirty="0"/>
              <a:t>A store sells t-shirts.  The average selling price is Rs. 15 and the average variable cost (cost price) is Rs. 9.  Thus, every time the store sells a shirt it has Rs. 6 remaining after it pays the manufacturer.  This Rs. 6 is referred to as the unit contribution.</a:t>
            </a:r>
          </a:p>
          <a:p>
            <a:pPr fontAlgn="base">
              <a:buNone/>
            </a:pPr>
            <a:r>
              <a:rPr lang="en-US" sz="3200" dirty="0"/>
              <a:t>Suppose the fixed costs of operating the store (its operating expenses) are Rs. 100,000 per year.  Find Break-even in units?</a:t>
            </a:r>
          </a:p>
          <a:p>
            <a:pPr fontAlgn="base">
              <a:buNone/>
            </a:pPr>
            <a:r>
              <a:rPr lang="en-US" sz="3200" dirty="0"/>
              <a:t>Answer: 16,667 t-shirts</a:t>
            </a:r>
          </a:p>
          <a:p>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style>
          <a:lnRef idx="2">
            <a:schemeClr val="accent5"/>
          </a:lnRef>
          <a:fillRef idx="1">
            <a:schemeClr val="lt1"/>
          </a:fillRef>
          <a:effectRef idx="0">
            <a:schemeClr val="accent5"/>
          </a:effectRef>
          <a:fontRef idx="minor">
            <a:schemeClr val="dk1"/>
          </a:fontRef>
        </p:style>
        <p:txBody>
          <a:bodyPr/>
          <a:lstStyle/>
          <a:p>
            <a:r>
              <a:rPr lang="en-US" dirty="0"/>
              <a:t>R Kumar provides you with the following information.</a:t>
            </a:r>
          </a:p>
          <a:p>
            <a:r>
              <a:rPr lang="en-US" dirty="0"/>
              <a:t>Calculate PV ratio based on this information.</a:t>
            </a:r>
          </a:p>
        </p:txBody>
      </p:sp>
      <p:graphicFrame>
        <p:nvGraphicFramePr>
          <p:cNvPr id="4" name="Table 3"/>
          <p:cNvGraphicFramePr>
            <a:graphicFrameLocks noGrp="1"/>
          </p:cNvGraphicFramePr>
          <p:nvPr/>
        </p:nvGraphicFramePr>
        <p:xfrm>
          <a:off x="1371600" y="2209800"/>
          <a:ext cx="6096000" cy="11125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rgbClr val="FF0000"/>
                          </a:solidFill>
                        </a:rPr>
                        <a:t>YEAR</a:t>
                      </a:r>
                    </a:p>
                  </a:txBody>
                  <a:tcPr/>
                </a:tc>
                <a:tc>
                  <a:txBody>
                    <a:bodyPr/>
                    <a:lstStyle/>
                    <a:p>
                      <a:pPr algn="ctr"/>
                      <a:r>
                        <a:rPr lang="en-US" b="1" dirty="0">
                          <a:solidFill>
                            <a:srgbClr val="FF0000"/>
                          </a:solidFill>
                        </a:rPr>
                        <a:t>SALES</a:t>
                      </a:r>
                    </a:p>
                  </a:txBody>
                  <a:tcPr/>
                </a:tc>
                <a:tc>
                  <a:txBody>
                    <a:bodyPr/>
                    <a:lstStyle/>
                    <a:p>
                      <a:pPr algn="ctr"/>
                      <a:r>
                        <a:rPr lang="en-US" b="1" dirty="0">
                          <a:solidFill>
                            <a:srgbClr val="FF0000"/>
                          </a:solidFill>
                        </a:rPr>
                        <a:t>PROFIT</a:t>
                      </a:r>
                    </a:p>
                  </a:txBody>
                  <a:tcPr/>
                </a:tc>
                <a:extLst>
                  <a:ext uri="{0D108BD9-81ED-4DB2-BD59-A6C34878D82A}">
                    <a16:rowId xmlns:a16="http://schemas.microsoft.com/office/drawing/2014/main" val="10000"/>
                  </a:ext>
                </a:extLst>
              </a:tr>
              <a:tr h="370840">
                <a:tc>
                  <a:txBody>
                    <a:bodyPr/>
                    <a:lstStyle/>
                    <a:p>
                      <a:pPr algn="ctr"/>
                      <a:r>
                        <a:rPr lang="en-US" b="1" dirty="0"/>
                        <a:t>1990</a:t>
                      </a:r>
                    </a:p>
                  </a:txBody>
                  <a:tcPr/>
                </a:tc>
                <a:tc>
                  <a:txBody>
                    <a:bodyPr/>
                    <a:lstStyle/>
                    <a:p>
                      <a:pPr algn="ctr"/>
                      <a:r>
                        <a:rPr lang="en-US" b="1" dirty="0"/>
                        <a:t>10,000</a:t>
                      </a:r>
                    </a:p>
                  </a:txBody>
                  <a:tcPr/>
                </a:tc>
                <a:tc>
                  <a:txBody>
                    <a:bodyPr/>
                    <a:lstStyle/>
                    <a:p>
                      <a:pPr algn="ctr"/>
                      <a:r>
                        <a:rPr lang="en-US" b="1" dirty="0"/>
                        <a:t>2,000</a:t>
                      </a:r>
                    </a:p>
                  </a:txBody>
                  <a:tcPr/>
                </a:tc>
                <a:extLst>
                  <a:ext uri="{0D108BD9-81ED-4DB2-BD59-A6C34878D82A}">
                    <a16:rowId xmlns:a16="http://schemas.microsoft.com/office/drawing/2014/main" val="10001"/>
                  </a:ext>
                </a:extLst>
              </a:tr>
              <a:tr h="370840">
                <a:tc>
                  <a:txBody>
                    <a:bodyPr/>
                    <a:lstStyle/>
                    <a:p>
                      <a:pPr algn="ctr"/>
                      <a:r>
                        <a:rPr lang="en-US" b="1" dirty="0"/>
                        <a:t>2010</a:t>
                      </a:r>
                    </a:p>
                  </a:txBody>
                  <a:tcPr/>
                </a:tc>
                <a:tc>
                  <a:txBody>
                    <a:bodyPr/>
                    <a:lstStyle/>
                    <a:p>
                      <a:pPr algn="ctr"/>
                      <a:r>
                        <a:rPr lang="en-US" b="1" dirty="0"/>
                        <a:t>15,000</a:t>
                      </a:r>
                    </a:p>
                  </a:txBody>
                  <a:tcPr/>
                </a:tc>
                <a:tc>
                  <a:txBody>
                    <a:bodyPr/>
                    <a:lstStyle/>
                    <a:p>
                      <a:pPr algn="ctr"/>
                      <a:r>
                        <a:rPr lang="en-US" b="1" dirty="0"/>
                        <a:t>4,000</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DF47F30-887C-493A-BBF8-33A2242FF159}"/>
              </a:ext>
            </a:extLst>
          </p:cNvPr>
          <p:cNvGraphicFramePr>
            <a:graphicFrameLocks noGrp="1"/>
          </p:cNvGraphicFramePr>
          <p:nvPr>
            <p:ph idx="1"/>
            <p:extLst>
              <p:ext uri="{D42A27DB-BD31-4B8C-83A1-F6EECF244321}">
                <p14:modId xmlns:p14="http://schemas.microsoft.com/office/powerpoint/2010/main" val="2093494457"/>
              </p:ext>
            </p:extLst>
          </p:nvPr>
        </p:nvGraphicFramePr>
        <p:xfrm>
          <a:off x="1907710" y="2514132"/>
          <a:ext cx="5336517" cy="3421536"/>
        </p:xfrm>
        <a:graphic>
          <a:graphicData uri="http://schemas.openxmlformats.org/drawingml/2006/table">
            <a:tbl>
              <a:tblPr/>
              <a:tblGrid>
                <a:gridCol w="1778839">
                  <a:extLst>
                    <a:ext uri="{9D8B030D-6E8A-4147-A177-3AD203B41FA5}">
                      <a16:colId xmlns:a16="http://schemas.microsoft.com/office/drawing/2014/main" val="3871743610"/>
                    </a:ext>
                  </a:extLst>
                </a:gridCol>
                <a:gridCol w="1778839">
                  <a:extLst>
                    <a:ext uri="{9D8B030D-6E8A-4147-A177-3AD203B41FA5}">
                      <a16:colId xmlns:a16="http://schemas.microsoft.com/office/drawing/2014/main" val="1358350272"/>
                    </a:ext>
                  </a:extLst>
                </a:gridCol>
                <a:gridCol w="1778839">
                  <a:extLst>
                    <a:ext uri="{9D8B030D-6E8A-4147-A177-3AD203B41FA5}">
                      <a16:colId xmlns:a16="http://schemas.microsoft.com/office/drawing/2014/main" val="935120502"/>
                    </a:ext>
                  </a:extLst>
                </a:gridCol>
              </a:tblGrid>
              <a:tr h="285089">
                <a:tc>
                  <a:txBody>
                    <a:bodyPr/>
                    <a:lstStyle/>
                    <a:p>
                      <a:r>
                        <a:rPr lang="en-IN" sz="1400"/>
                        <a:t>Units (Q)</a:t>
                      </a:r>
                    </a:p>
                  </a:txBody>
                  <a:tcPr marL="71768" marR="71768" marT="35884" marB="35884" anchor="ctr">
                    <a:lnL>
                      <a:noFill/>
                    </a:lnL>
                    <a:lnR>
                      <a:noFill/>
                    </a:lnR>
                    <a:lnT>
                      <a:noFill/>
                    </a:lnT>
                    <a:lnB>
                      <a:noFill/>
                    </a:lnB>
                  </a:tcPr>
                </a:tc>
                <a:tc>
                  <a:txBody>
                    <a:bodyPr/>
                    <a:lstStyle/>
                    <a:p>
                      <a:r>
                        <a:rPr lang="en-IN" sz="1400" dirty="0"/>
                        <a:t>Total Cost (TC)</a:t>
                      </a:r>
                    </a:p>
                  </a:txBody>
                  <a:tcPr marL="71768" marR="71768" marT="35884" marB="35884" anchor="ctr">
                    <a:lnL>
                      <a:noFill/>
                    </a:lnL>
                    <a:lnR>
                      <a:noFill/>
                    </a:lnR>
                    <a:lnT>
                      <a:noFill/>
                    </a:lnT>
                    <a:lnB>
                      <a:noFill/>
                    </a:lnB>
                  </a:tcPr>
                </a:tc>
                <a:tc>
                  <a:txBody>
                    <a:bodyPr/>
                    <a:lstStyle/>
                    <a:p>
                      <a:r>
                        <a:rPr lang="en-IN" sz="1400"/>
                        <a:t>Total Revenue (TR)</a:t>
                      </a:r>
                    </a:p>
                  </a:txBody>
                  <a:tcPr marL="71768" marR="71768" marT="35884" marB="35884" anchor="ctr">
                    <a:lnL>
                      <a:noFill/>
                    </a:lnL>
                    <a:lnR>
                      <a:noFill/>
                    </a:lnR>
                    <a:lnT>
                      <a:noFill/>
                    </a:lnT>
                    <a:lnB>
                      <a:noFill/>
                    </a:lnB>
                  </a:tcPr>
                </a:tc>
                <a:extLst>
                  <a:ext uri="{0D108BD9-81ED-4DB2-BD59-A6C34878D82A}">
                    <a16:rowId xmlns:a16="http://schemas.microsoft.com/office/drawing/2014/main" val="4177885520"/>
                  </a:ext>
                </a:extLst>
              </a:tr>
              <a:tr h="285089">
                <a:tc>
                  <a:txBody>
                    <a:bodyPr/>
                    <a:lstStyle/>
                    <a:p>
                      <a:r>
                        <a:rPr lang="en-IN" sz="1400"/>
                        <a:t>0</a:t>
                      </a:r>
                    </a:p>
                  </a:txBody>
                  <a:tcPr marL="71768" marR="71768" marT="35884" marB="35884" anchor="ctr">
                    <a:lnL>
                      <a:noFill/>
                    </a:lnL>
                    <a:lnR>
                      <a:noFill/>
                    </a:lnR>
                    <a:lnT>
                      <a:noFill/>
                    </a:lnT>
                    <a:lnB>
                      <a:noFill/>
                    </a:lnB>
                  </a:tcPr>
                </a:tc>
                <a:tc>
                  <a:txBody>
                    <a:bodyPr/>
                    <a:lstStyle/>
                    <a:p>
                      <a:r>
                        <a:rPr lang="en-IN" sz="1400"/>
                        <a:t>100</a:t>
                      </a:r>
                    </a:p>
                  </a:txBody>
                  <a:tcPr marL="71768" marR="71768" marT="35884" marB="35884" anchor="ctr">
                    <a:lnL>
                      <a:noFill/>
                    </a:lnL>
                    <a:lnR>
                      <a:noFill/>
                    </a:lnR>
                    <a:lnT>
                      <a:noFill/>
                    </a:lnT>
                    <a:lnB>
                      <a:noFill/>
                    </a:lnB>
                  </a:tcPr>
                </a:tc>
                <a:tc>
                  <a:txBody>
                    <a:bodyPr/>
                    <a:lstStyle/>
                    <a:p>
                      <a:r>
                        <a:rPr lang="en-IN" sz="1400"/>
                        <a:t>0</a:t>
                      </a:r>
                    </a:p>
                  </a:txBody>
                  <a:tcPr marL="71768" marR="71768" marT="35884" marB="35884" anchor="ctr">
                    <a:lnL>
                      <a:noFill/>
                    </a:lnL>
                    <a:lnR>
                      <a:noFill/>
                    </a:lnR>
                    <a:lnT>
                      <a:noFill/>
                    </a:lnT>
                    <a:lnB>
                      <a:noFill/>
                    </a:lnB>
                  </a:tcPr>
                </a:tc>
                <a:extLst>
                  <a:ext uri="{0D108BD9-81ED-4DB2-BD59-A6C34878D82A}">
                    <a16:rowId xmlns:a16="http://schemas.microsoft.com/office/drawing/2014/main" val="3200760773"/>
                  </a:ext>
                </a:extLst>
              </a:tr>
              <a:tr h="285089">
                <a:tc>
                  <a:txBody>
                    <a:bodyPr/>
                    <a:lstStyle/>
                    <a:p>
                      <a:r>
                        <a:rPr lang="en-IN" sz="1400"/>
                        <a:t>1</a:t>
                      </a:r>
                    </a:p>
                  </a:txBody>
                  <a:tcPr marL="71768" marR="71768" marT="35884" marB="35884" anchor="ctr">
                    <a:lnL>
                      <a:noFill/>
                    </a:lnL>
                    <a:lnR>
                      <a:noFill/>
                    </a:lnR>
                    <a:lnT>
                      <a:noFill/>
                    </a:lnT>
                    <a:lnB>
                      <a:noFill/>
                    </a:lnB>
                  </a:tcPr>
                </a:tc>
                <a:tc>
                  <a:txBody>
                    <a:bodyPr/>
                    <a:lstStyle/>
                    <a:p>
                      <a:r>
                        <a:rPr lang="en-IN" sz="1400"/>
                        <a:t>120</a:t>
                      </a:r>
                    </a:p>
                  </a:txBody>
                  <a:tcPr marL="71768" marR="71768" marT="35884" marB="35884" anchor="ctr">
                    <a:lnL>
                      <a:noFill/>
                    </a:lnL>
                    <a:lnR>
                      <a:noFill/>
                    </a:lnR>
                    <a:lnT>
                      <a:noFill/>
                    </a:lnT>
                    <a:lnB>
                      <a:noFill/>
                    </a:lnB>
                  </a:tcPr>
                </a:tc>
                <a:tc>
                  <a:txBody>
                    <a:bodyPr/>
                    <a:lstStyle/>
                    <a:p>
                      <a:r>
                        <a:rPr lang="en-IN" sz="1400"/>
                        <a:t>40</a:t>
                      </a:r>
                    </a:p>
                  </a:txBody>
                  <a:tcPr marL="71768" marR="71768" marT="35884" marB="35884" anchor="ctr">
                    <a:lnL>
                      <a:noFill/>
                    </a:lnL>
                    <a:lnR>
                      <a:noFill/>
                    </a:lnR>
                    <a:lnT>
                      <a:noFill/>
                    </a:lnT>
                    <a:lnB>
                      <a:noFill/>
                    </a:lnB>
                  </a:tcPr>
                </a:tc>
                <a:extLst>
                  <a:ext uri="{0D108BD9-81ED-4DB2-BD59-A6C34878D82A}">
                    <a16:rowId xmlns:a16="http://schemas.microsoft.com/office/drawing/2014/main" val="3150637818"/>
                  </a:ext>
                </a:extLst>
              </a:tr>
              <a:tr h="285089">
                <a:tc>
                  <a:txBody>
                    <a:bodyPr/>
                    <a:lstStyle/>
                    <a:p>
                      <a:r>
                        <a:rPr lang="en-IN" sz="1400"/>
                        <a:t>2</a:t>
                      </a:r>
                    </a:p>
                  </a:txBody>
                  <a:tcPr marL="71768" marR="71768" marT="35884" marB="35884" anchor="ctr">
                    <a:lnL>
                      <a:noFill/>
                    </a:lnL>
                    <a:lnR>
                      <a:noFill/>
                    </a:lnR>
                    <a:lnT>
                      <a:noFill/>
                    </a:lnT>
                    <a:lnB>
                      <a:noFill/>
                    </a:lnB>
                  </a:tcPr>
                </a:tc>
                <a:tc>
                  <a:txBody>
                    <a:bodyPr/>
                    <a:lstStyle/>
                    <a:p>
                      <a:r>
                        <a:rPr lang="en-IN" sz="1400"/>
                        <a:t>140</a:t>
                      </a:r>
                    </a:p>
                  </a:txBody>
                  <a:tcPr marL="71768" marR="71768" marT="35884" marB="35884" anchor="ctr">
                    <a:lnL>
                      <a:noFill/>
                    </a:lnL>
                    <a:lnR>
                      <a:noFill/>
                    </a:lnR>
                    <a:lnT>
                      <a:noFill/>
                    </a:lnT>
                    <a:lnB>
                      <a:noFill/>
                    </a:lnB>
                  </a:tcPr>
                </a:tc>
                <a:tc>
                  <a:txBody>
                    <a:bodyPr/>
                    <a:lstStyle/>
                    <a:p>
                      <a:r>
                        <a:rPr lang="en-IN" sz="1400"/>
                        <a:t>80</a:t>
                      </a:r>
                    </a:p>
                  </a:txBody>
                  <a:tcPr marL="71768" marR="71768" marT="35884" marB="35884" anchor="ctr">
                    <a:lnL>
                      <a:noFill/>
                    </a:lnL>
                    <a:lnR>
                      <a:noFill/>
                    </a:lnR>
                    <a:lnT>
                      <a:noFill/>
                    </a:lnT>
                    <a:lnB>
                      <a:noFill/>
                    </a:lnB>
                  </a:tcPr>
                </a:tc>
                <a:extLst>
                  <a:ext uri="{0D108BD9-81ED-4DB2-BD59-A6C34878D82A}">
                    <a16:rowId xmlns:a16="http://schemas.microsoft.com/office/drawing/2014/main" val="2828897444"/>
                  </a:ext>
                </a:extLst>
              </a:tr>
              <a:tr h="285089">
                <a:tc>
                  <a:txBody>
                    <a:bodyPr/>
                    <a:lstStyle/>
                    <a:p>
                      <a:r>
                        <a:rPr lang="en-IN" sz="1400"/>
                        <a:t>3</a:t>
                      </a:r>
                    </a:p>
                  </a:txBody>
                  <a:tcPr marL="71768" marR="71768" marT="35884" marB="35884" anchor="ctr">
                    <a:lnL>
                      <a:noFill/>
                    </a:lnL>
                    <a:lnR>
                      <a:noFill/>
                    </a:lnR>
                    <a:lnT>
                      <a:noFill/>
                    </a:lnT>
                    <a:lnB>
                      <a:noFill/>
                    </a:lnB>
                  </a:tcPr>
                </a:tc>
                <a:tc>
                  <a:txBody>
                    <a:bodyPr/>
                    <a:lstStyle/>
                    <a:p>
                      <a:r>
                        <a:rPr lang="en-IN" sz="1400"/>
                        <a:t>160</a:t>
                      </a:r>
                    </a:p>
                  </a:txBody>
                  <a:tcPr marL="71768" marR="71768" marT="35884" marB="35884" anchor="ctr">
                    <a:lnL>
                      <a:noFill/>
                    </a:lnL>
                    <a:lnR>
                      <a:noFill/>
                    </a:lnR>
                    <a:lnT>
                      <a:noFill/>
                    </a:lnT>
                    <a:lnB>
                      <a:noFill/>
                    </a:lnB>
                  </a:tcPr>
                </a:tc>
                <a:tc>
                  <a:txBody>
                    <a:bodyPr/>
                    <a:lstStyle/>
                    <a:p>
                      <a:r>
                        <a:rPr lang="en-IN" sz="1400"/>
                        <a:t>120</a:t>
                      </a:r>
                    </a:p>
                  </a:txBody>
                  <a:tcPr marL="71768" marR="71768" marT="35884" marB="35884" anchor="ctr">
                    <a:lnL>
                      <a:noFill/>
                    </a:lnL>
                    <a:lnR>
                      <a:noFill/>
                    </a:lnR>
                    <a:lnT>
                      <a:noFill/>
                    </a:lnT>
                    <a:lnB>
                      <a:noFill/>
                    </a:lnB>
                  </a:tcPr>
                </a:tc>
                <a:extLst>
                  <a:ext uri="{0D108BD9-81ED-4DB2-BD59-A6C34878D82A}">
                    <a16:rowId xmlns:a16="http://schemas.microsoft.com/office/drawing/2014/main" val="2908585555"/>
                  </a:ext>
                </a:extLst>
              </a:tr>
              <a:tr h="285089">
                <a:tc>
                  <a:txBody>
                    <a:bodyPr/>
                    <a:lstStyle/>
                    <a:p>
                      <a:r>
                        <a:rPr lang="en-IN" sz="1400"/>
                        <a:t>4</a:t>
                      </a:r>
                    </a:p>
                  </a:txBody>
                  <a:tcPr marL="71768" marR="71768" marT="35884" marB="35884" anchor="ctr">
                    <a:lnL>
                      <a:noFill/>
                    </a:lnL>
                    <a:lnR>
                      <a:noFill/>
                    </a:lnR>
                    <a:lnT>
                      <a:noFill/>
                    </a:lnT>
                    <a:lnB>
                      <a:noFill/>
                    </a:lnB>
                  </a:tcPr>
                </a:tc>
                <a:tc>
                  <a:txBody>
                    <a:bodyPr/>
                    <a:lstStyle/>
                    <a:p>
                      <a:r>
                        <a:rPr lang="en-IN" sz="1400"/>
                        <a:t>180</a:t>
                      </a:r>
                    </a:p>
                  </a:txBody>
                  <a:tcPr marL="71768" marR="71768" marT="35884" marB="35884" anchor="ctr">
                    <a:lnL>
                      <a:noFill/>
                    </a:lnL>
                    <a:lnR>
                      <a:noFill/>
                    </a:lnR>
                    <a:lnT>
                      <a:noFill/>
                    </a:lnT>
                    <a:lnB>
                      <a:noFill/>
                    </a:lnB>
                  </a:tcPr>
                </a:tc>
                <a:tc>
                  <a:txBody>
                    <a:bodyPr/>
                    <a:lstStyle/>
                    <a:p>
                      <a:r>
                        <a:rPr lang="en-IN" sz="1400"/>
                        <a:t>160</a:t>
                      </a:r>
                    </a:p>
                  </a:txBody>
                  <a:tcPr marL="71768" marR="71768" marT="35884" marB="35884" anchor="ctr">
                    <a:lnL>
                      <a:noFill/>
                    </a:lnL>
                    <a:lnR>
                      <a:noFill/>
                    </a:lnR>
                    <a:lnT>
                      <a:noFill/>
                    </a:lnT>
                    <a:lnB>
                      <a:noFill/>
                    </a:lnB>
                  </a:tcPr>
                </a:tc>
                <a:extLst>
                  <a:ext uri="{0D108BD9-81ED-4DB2-BD59-A6C34878D82A}">
                    <a16:rowId xmlns:a16="http://schemas.microsoft.com/office/drawing/2014/main" val="3485216569"/>
                  </a:ext>
                </a:extLst>
              </a:tr>
              <a:tr h="285089">
                <a:tc>
                  <a:txBody>
                    <a:bodyPr/>
                    <a:lstStyle/>
                    <a:p>
                      <a:r>
                        <a:rPr lang="en-IN" sz="1400"/>
                        <a:t>5</a:t>
                      </a:r>
                    </a:p>
                  </a:txBody>
                  <a:tcPr marL="71768" marR="71768" marT="35884" marB="35884" anchor="ctr">
                    <a:lnL>
                      <a:noFill/>
                    </a:lnL>
                    <a:lnR>
                      <a:noFill/>
                    </a:lnR>
                    <a:lnT>
                      <a:noFill/>
                    </a:lnT>
                    <a:lnB>
                      <a:noFill/>
                    </a:lnB>
                  </a:tcPr>
                </a:tc>
                <a:tc>
                  <a:txBody>
                    <a:bodyPr/>
                    <a:lstStyle/>
                    <a:p>
                      <a:r>
                        <a:rPr lang="en-IN" sz="1400"/>
                        <a:t>200</a:t>
                      </a:r>
                    </a:p>
                  </a:txBody>
                  <a:tcPr marL="71768" marR="71768" marT="35884" marB="35884" anchor="ctr">
                    <a:lnL>
                      <a:noFill/>
                    </a:lnL>
                    <a:lnR>
                      <a:noFill/>
                    </a:lnR>
                    <a:lnT>
                      <a:noFill/>
                    </a:lnT>
                    <a:lnB>
                      <a:noFill/>
                    </a:lnB>
                  </a:tcPr>
                </a:tc>
                <a:tc>
                  <a:txBody>
                    <a:bodyPr/>
                    <a:lstStyle/>
                    <a:p>
                      <a:r>
                        <a:rPr lang="en-IN" sz="1400"/>
                        <a:t>200</a:t>
                      </a:r>
                    </a:p>
                  </a:txBody>
                  <a:tcPr marL="71768" marR="71768" marT="35884" marB="35884" anchor="ctr">
                    <a:lnL>
                      <a:noFill/>
                    </a:lnL>
                    <a:lnR>
                      <a:noFill/>
                    </a:lnR>
                    <a:lnT>
                      <a:noFill/>
                    </a:lnT>
                    <a:lnB>
                      <a:noFill/>
                    </a:lnB>
                  </a:tcPr>
                </a:tc>
                <a:extLst>
                  <a:ext uri="{0D108BD9-81ED-4DB2-BD59-A6C34878D82A}">
                    <a16:rowId xmlns:a16="http://schemas.microsoft.com/office/drawing/2014/main" val="3667170298"/>
                  </a:ext>
                </a:extLst>
              </a:tr>
              <a:tr h="285089">
                <a:tc>
                  <a:txBody>
                    <a:bodyPr/>
                    <a:lstStyle/>
                    <a:p>
                      <a:r>
                        <a:rPr lang="en-IN" sz="1400"/>
                        <a:t>6</a:t>
                      </a:r>
                    </a:p>
                  </a:txBody>
                  <a:tcPr marL="71768" marR="71768" marT="35884" marB="35884" anchor="ctr">
                    <a:lnL>
                      <a:noFill/>
                    </a:lnL>
                    <a:lnR>
                      <a:noFill/>
                    </a:lnR>
                    <a:lnT>
                      <a:noFill/>
                    </a:lnT>
                    <a:lnB>
                      <a:noFill/>
                    </a:lnB>
                  </a:tcPr>
                </a:tc>
                <a:tc>
                  <a:txBody>
                    <a:bodyPr/>
                    <a:lstStyle/>
                    <a:p>
                      <a:r>
                        <a:rPr lang="en-IN" sz="1400"/>
                        <a:t>220</a:t>
                      </a:r>
                    </a:p>
                  </a:txBody>
                  <a:tcPr marL="71768" marR="71768" marT="35884" marB="35884" anchor="ctr">
                    <a:lnL>
                      <a:noFill/>
                    </a:lnL>
                    <a:lnR>
                      <a:noFill/>
                    </a:lnR>
                    <a:lnT>
                      <a:noFill/>
                    </a:lnT>
                    <a:lnB>
                      <a:noFill/>
                    </a:lnB>
                  </a:tcPr>
                </a:tc>
                <a:tc>
                  <a:txBody>
                    <a:bodyPr/>
                    <a:lstStyle/>
                    <a:p>
                      <a:r>
                        <a:rPr lang="en-IN" sz="1400"/>
                        <a:t>240</a:t>
                      </a:r>
                    </a:p>
                  </a:txBody>
                  <a:tcPr marL="71768" marR="71768" marT="35884" marB="35884" anchor="ctr">
                    <a:lnL>
                      <a:noFill/>
                    </a:lnL>
                    <a:lnR>
                      <a:noFill/>
                    </a:lnR>
                    <a:lnT>
                      <a:noFill/>
                    </a:lnT>
                    <a:lnB>
                      <a:noFill/>
                    </a:lnB>
                  </a:tcPr>
                </a:tc>
                <a:extLst>
                  <a:ext uri="{0D108BD9-81ED-4DB2-BD59-A6C34878D82A}">
                    <a16:rowId xmlns:a16="http://schemas.microsoft.com/office/drawing/2014/main" val="3541872542"/>
                  </a:ext>
                </a:extLst>
              </a:tr>
              <a:tr h="285089">
                <a:tc>
                  <a:txBody>
                    <a:bodyPr/>
                    <a:lstStyle/>
                    <a:p>
                      <a:r>
                        <a:rPr lang="en-IN" sz="1400"/>
                        <a:t>7</a:t>
                      </a:r>
                    </a:p>
                  </a:txBody>
                  <a:tcPr marL="71768" marR="71768" marT="35884" marB="35884" anchor="ctr">
                    <a:lnL>
                      <a:noFill/>
                    </a:lnL>
                    <a:lnR>
                      <a:noFill/>
                    </a:lnR>
                    <a:lnT>
                      <a:noFill/>
                    </a:lnT>
                    <a:lnB>
                      <a:noFill/>
                    </a:lnB>
                  </a:tcPr>
                </a:tc>
                <a:tc>
                  <a:txBody>
                    <a:bodyPr/>
                    <a:lstStyle/>
                    <a:p>
                      <a:r>
                        <a:rPr lang="en-IN" sz="1400"/>
                        <a:t>240</a:t>
                      </a:r>
                    </a:p>
                  </a:txBody>
                  <a:tcPr marL="71768" marR="71768" marT="35884" marB="35884" anchor="ctr">
                    <a:lnL>
                      <a:noFill/>
                    </a:lnL>
                    <a:lnR>
                      <a:noFill/>
                    </a:lnR>
                    <a:lnT>
                      <a:noFill/>
                    </a:lnT>
                    <a:lnB>
                      <a:noFill/>
                    </a:lnB>
                  </a:tcPr>
                </a:tc>
                <a:tc>
                  <a:txBody>
                    <a:bodyPr/>
                    <a:lstStyle/>
                    <a:p>
                      <a:r>
                        <a:rPr lang="en-IN" sz="1400"/>
                        <a:t>280</a:t>
                      </a:r>
                    </a:p>
                  </a:txBody>
                  <a:tcPr marL="71768" marR="71768" marT="35884" marB="35884" anchor="ctr">
                    <a:lnL>
                      <a:noFill/>
                    </a:lnL>
                    <a:lnR>
                      <a:noFill/>
                    </a:lnR>
                    <a:lnT>
                      <a:noFill/>
                    </a:lnT>
                    <a:lnB>
                      <a:noFill/>
                    </a:lnB>
                  </a:tcPr>
                </a:tc>
                <a:extLst>
                  <a:ext uri="{0D108BD9-81ED-4DB2-BD59-A6C34878D82A}">
                    <a16:rowId xmlns:a16="http://schemas.microsoft.com/office/drawing/2014/main" val="1891160096"/>
                  </a:ext>
                </a:extLst>
              </a:tr>
              <a:tr h="285089">
                <a:tc>
                  <a:txBody>
                    <a:bodyPr/>
                    <a:lstStyle/>
                    <a:p>
                      <a:r>
                        <a:rPr lang="en-IN" sz="1400"/>
                        <a:t>8</a:t>
                      </a:r>
                    </a:p>
                  </a:txBody>
                  <a:tcPr marL="71768" marR="71768" marT="35884" marB="35884" anchor="ctr">
                    <a:lnL>
                      <a:noFill/>
                    </a:lnL>
                    <a:lnR>
                      <a:noFill/>
                    </a:lnR>
                    <a:lnT>
                      <a:noFill/>
                    </a:lnT>
                    <a:lnB>
                      <a:noFill/>
                    </a:lnB>
                  </a:tcPr>
                </a:tc>
                <a:tc>
                  <a:txBody>
                    <a:bodyPr/>
                    <a:lstStyle/>
                    <a:p>
                      <a:r>
                        <a:rPr lang="en-IN" sz="1400"/>
                        <a:t>260</a:t>
                      </a:r>
                    </a:p>
                  </a:txBody>
                  <a:tcPr marL="71768" marR="71768" marT="35884" marB="35884" anchor="ctr">
                    <a:lnL>
                      <a:noFill/>
                    </a:lnL>
                    <a:lnR>
                      <a:noFill/>
                    </a:lnR>
                    <a:lnT>
                      <a:noFill/>
                    </a:lnT>
                    <a:lnB>
                      <a:noFill/>
                    </a:lnB>
                  </a:tcPr>
                </a:tc>
                <a:tc>
                  <a:txBody>
                    <a:bodyPr/>
                    <a:lstStyle/>
                    <a:p>
                      <a:r>
                        <a:rPr lang="en-IN" sz="1400"/>
                        <a:t>320</a:t>
                      </a:r>
                    </a:p>
                  </a:txBody>
                  <a:tcPr marL="71768" marR="71768" marT="35884" marB="35884" anchor="ctr">
                    <a:lnL>
                      <a:noFill/>
                    </a:lnL>
                    <a:lnR>
                      <a:noFill/>
                    </a:lnR>
                    <a:lnT>
                      <a:noFill/>
                    </a:lnT>
                    <a:lnB>
                      <a:noFill/>
                    </a:lnB>
                  </a:tcPr>
                </a:tc>
                <a:extLst>
                  <a:ext uri="{0D108BD9-81ED-4DB2-BD59-A6C34878D82A}">
                    <a16:rowId xmlns:a16="http://schemas.microsoft.com/office/drawing/2014/main" val="2979391509"/>
                  </a:ext>
                </a:extLst>
              </a:tr>
              <a:tr h="285089">
                <a:tc>
                  <a:txBody>
                    <a:bodyPr/>
                    <a:lstStyle/>
                    <a:p>
                      <a:r>
                        <a:rPr lang="en-IN" sz="1400"/>
                        <a:t>9</a:t>
                      </a:r>
                    </a:p>
                  </a:txBody>
                  <a:tcPr marL="71768" marR="71768" marT="35884" marB="35884" anchor="ctr">
                    <a:lnL>
                      <a:noFill/>
                    </a:lnL>
                    <a:lnR>
                      <a:noFill/>
                    </a:lnR>
                    <a:lnT>
                      <a:noFill/>
                    </a:lnT>
                    <a:lnB>
                      <a:noFill/>
                    </a:lnB>
                  </a:tcPr>
                </a:tc>
                <a:tc>
                  <a:txBody>
                    <a:bodyPr/>
                    <a:lstStyle/>
                    <a:p>
                      <a:r>
                        <a:rPr lang="en-IN" sz="1400"/>
                        <a:t>280</a:t>
                      </a:r>
                    </a:p>
                  </a:txBody>
                  <a:tcPr marL="71768" marR="71768" marT="35884" marB="35884" anchor="ctr">
                    <a:lnL>
                      <a:noFill/>
                    </a:lnL>
                    <a:lnR>
                      <a:noFill/>
                    </a:lnR>
                    <a:lnT>
                      <a:noFill/>
                    </a:lnT>
                    <a:lnB>
                      <a:noFill/>
                    </a:lnB>
                  </a:tcPr>
                </a:tc>
                <a:tc>
                  <a:txBody>
                    <a:bodyPr/>
                    <a:lstStyle/>
                    <a:p>
                      <a:r>
                        <a:rPr lang="en-IN" sz="1400"/>
                        <a:t>360</a:t>
                      </a:r>
                    </a:p>
                  </a:txBody>
                  <a:tcPr marL="71768" marR="71768" marT="35884" marB="35884" anchor="ctr">
                    <a:lnL>
                      <a:noFill/>
                    </a:lnL>
                    <a:lnR>
                      <a:noFill/>
                    </a:lnR>
                    <a:lnT>
                      <a:noFill/>
                    </a:lnT>
                    <a:lnB>
                      <a:noFill/>
                    </a:lnB>
                  </a:tcPr>
                </a:tc>
                <a:extLst>
                  <a:ext uri="{0D108BD9-81ED-4DB2-BD59-A6C34878D82A}">
                    <a16:rowId xmlns:a16="http://schemas.microsoft.com/office/drawing/2014/main" val="971129601"/>
                  </a:ext>
                </a:extLst>
              </a:tr>
              <a:tr h="285089">
                <a:tc>
                  <a:txBody>
                    <a:bodyPr/>
                    <a:lstStyle/>
                    <a:p>
                      <a:r>
                        <a:rPr lang="en-IN" sz="1400"/>
                        <a:t>10</a:t>
                      </a:r>
                    </a:p>
                  </a:txBody>
                  <a:tcPr marL="71768" marR="71768" marT="35884" marB="35884" anchor="ctr">
                    <a:lnL>
                      <a:noFill/>
                    </a:lnL>
                    <a:lnR>
                      <a:noFill/>
                    </a:lnR>
                    <a:lnT>
                      <a:noFill/>
                    </a:lnT>
                    <a:lnB>
                      <a:noFill/>
                    </a:lnB>
                  </a:tcPr>
                </a:tc>
                <a:tc>
                  <a:txBody>
                    <a:bodyPr/>
                    <a:lstStyle/>
                    <a:p>
                      <a:r>
                        <a:rPr lang="en-IN" sz="1400"/>
                        <a:t>300</a:t>
                      </a:r>
                    </a:p>
                  </a:txBody>
                  <a:tcPr marL="71768" marR="71768" marT="35884" marB="35884" anchor="ctr">
                    <a:lnL>
                      <a:noFill/>
                    </a:lnL>
                    <a:lnR>
                      <a:noFill/>
                    </a:lnR>
                    <a:lnT>
                      <a:noFill/>
                    </a:lnT>
                    <a:lnB>
                      <a:noFill/>
                    </a:lnB>
                  </a:tcPr>
                </a:tc>
                <a:tc>
                  <a:txBody>
                    <a:bodyPr/>
                    <a:lstStyle/>
                    <a:p>
                      <a:r>
                        <a:rPr lang="en-IN" sz="1400" dirty="0"/>
                        <a:t>400</a:t>
                      </a:r>
                    </a:p>
                  </a:txBody>
                  <a:tcPr marL="71768" marR="71768" marT="35884" marB="35884" anchor="ctr">
                    <a:lnL>
                      <a:noFill/>
                    </a:lnL>
                    <a:lnR>
                      <a:noFill/>
                    </a:lnR>
                    <a:lnT>
                      <a:noFill/>
                    </a:lnT>
                    <a:lnB>
                      <a:noFill/>
                    </a:lnB>
                  </a:tcPr>
                </a:tc>
                <a:extLst>
                  <a:ext uri="{0D108BD9-81ED-4DB2-BD59-A6C34878D82A}">
                    <a16:rowId xmlns:a16="http://schemas.microsoft.com/office/drawing/2014/main" val="1021395222"/>
                  </a:ext>
                </a:extLst>
              </a:tr>
            </a:tbl>
          </a:graphicData>
        </a:graphic>
      </p:graphicFrame>
    </p:spTree>
    <p:extLst>
      <p:ext uri="{BB962C8B-B14F-4D97-AF65-F5344CB8AC3E}">
        <p14:creationId xmlns:p14="http://schemas.microsoft.com/office/powerpoint/2010/main" val="69457460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337</TotalTime>
  <Words>1095</Words>
  <Application>Microsoft Office PowerPoint</Application>
  <PresentationFormat>On-screen Show (4:3)</PresentationFormat>
  <Paragraphs>123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Garamond</vt:lpstr>
      <vt:lpstr>Organic</vt:lpstr>
      <vt:lpstr>COST VOLUME PROFIT ANALYSIS</vt:lpstr>
      <vt:lpstr>What is cost?</vt:lpstr>
      <vt:lpstr>TYPES OF COST</vt:lpstr>
      <vt:lpstr>PowerPoint Presentation</vt:lpstr>
      <vt:lpstr>PowerPoint Presentation</vt:lpstr>
      <vt:lpstr>PowerPoint Presentation</vt:lpstr>
      <vt:lpstr>PowerPoint Presentation</vt:lpstr>
      <vt:lpstr>PowerPoint Presentation</vt:lpstr>
      <vt:lpstr>MEANING</vt:lpstr>
      <vt:lpstr>ASSUMPTIONS OF CVP </vt:lpstr>
      <vt:lpstr>BASIC TERMINOLOGIES</vt:lpstr>
      <vt:lpstr>PowerPoint Presentation</vt:lpstr>
      <vt:lpstr>PowerPoint Presentation</vt:lpstr>
      <vt:lpstr>PRACTICE QUESTIONS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&amp; ECONOMIC COST</dc:title>
  <dc:creator>Sona</dc:creator>
  <cp:lastModifiedBy>Admin</cp:lastModifiedBy>
  <cp:revision>48</cp:revision>
  <dcterms:created xsi:type="dcterms:W3CDTF">2006-08-16T00:00:00Z</dcterms:created>
  <dcterms:modified xsi:type="dcterms:W3CDTF">2025-09-18T08:19:21Z</dcterms:modified>
</cp:coreProperties>
</file>