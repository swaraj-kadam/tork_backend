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81" r:id="rId7"/>
    <p:sldId id="282" r:id="rId8"/>
    <p:sldId id="261" r:id="rId9"/>
    <p:sldId id="271" r:id="rId10"/>
    <p:sldId id="272" r:id="rId11"/>
    <p:sldId id="264" r:id="rId12"/>
    <p:sldId id="265" r:id="rId13"/>
    <p:sldId id="273" r:id="rId14"/>
    <p:sldId id="262" r:id="rId15"/>
    <p:sldId id="269" r:id="rId16"/>
    <p:sldId id="270" r:id="rId17"/>
    <p:sldId id="263" r:id="rId18"/>
    <p:sldId id="274" r:id="rId19"/>
    <p:sldId id="266" r:id="rId20"/>
    <p:sldId id="275" r:id="rId21"/>
    <p:sldId id="276" r:id="rId22"/>
    <p:sldId id="277" r:id="rId23"/>
    <p:sldId id="267" r:id="rId24"/>
    <p:sldId id="278" r:id="rId25"/>
    <p:sldId id="279" r:id="rId26"/>
    <p:sldId id="268" r:id="rId27"/>
    <p:sldId id="280"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1860A5-2EDB-41D4-9375-D574AC118DF6}" type="doc">
      <dgm:prSet loTypeId="urn:microsoft.com/office/officeart/2005/8/layout/cycle2" loCatId="cycle" qsTypeId="urn:microsoft.com/office/officeart/2005/8/quickstyle/simple1" qsCatId="simple" csTypeId="urn:microsoft.com/office/officeart/2005/8/colors/colorful5" csCatId="colorful" phldr="1"/>
      <dgm:spPr/>
      <dgm:t>
        <a:bodyPr/>
        <a:lstStyle/>
        <a:p>
          <a:endParaRPr lang="en-IN"/>
        </a:p>
      </dgm:t>
    </dgm:pt>
    <dgm:pt modelId="{6E1D20A9-E591-4580-98F8-3C1750ECAB33}">
      <dgm:prSet phldrT="[Text]"/>
      <dgm:spPr/>
      <dgm:t>
        <a:bodyPr/>
        <a:lstStyle/>
        <a:p>
          <a:r>
            <a:rPr lang="en-US" b="1" dirty="0">
              <a:solidFill>
                <a:schemeClr val="tx1"/>
              </a:solidFill>
            </a:rPr>
            <a:t>WHO</a:t>
          </a:r>
          <a:endParaRPr lang="en-IN" b="1" dirty="0">
            <a:solidFill>
              <a:schemeClr val="tx1"/>
            </a:solidFill>
          </a:endParaRPr>
        </a:p>
      </dgm:t>
    </dgm:pt>
    <dgm:pt modelId="{0B6F9A3C-F98E-43F5-8C9F-C4DC11A51B78}" type="parTrans" cxnId="{BFDFBCE0-22E7-4B4B-9ABA-AFE12D97569C}">
      <dgm:prSet/>
      <dgm:spPr/>
      <dgm:t>
        <a:bodyPr/>
        <a:lstStyle/>
        <a:p>
          <a:endParaRPr lang="en-IN" b="1">
            <a:solidFill>
              <a:schemeClr val="tx1"/>
            </a:solidFill>
          </a:endParaRPr>
        </a:p>
      </dgm:t>
    </dgm:pt>
    <dgm:pt modelId="{3AD6E01A-5274-40A5-849B-A551AC6B8769}" type="sibTrans" cxnId="{BFDFBCE0-22E7-4B4B-9ABA-AFE12D97569C}">
      <dgm:prSet/>
      <dgm:spPr/>
      <dgm:t>
        <a:bodyPr/>
        <a:lstStyle/>
        <a:p>
          <a:endParaRPr lang="en-IN" b="1">
            <a:solidFill>
              <a:schemeClr val="tx1"/>
            </a:solidFill>
          </a:endParaRPr>
        </a:p>
      </dgm:t>
    </dgm:pt>
    <dgm:pt modelId="{A028F64F-9815-48CC-B532-5891E4DFD3CB}">
      <dgm:prSet phldrT="[Text]"/>
      <dgm:spPr/>
      <dgm:t>
        <a:bodyPr/>
        <a:lstStyle/>
        <a:p>
          <a:r>
            <a:rPr lang="en-US" b="1" dirty="0">
              <a:solidFill>
                <a:schemeClr val="tx1"/>
              </a:solidFill>
            </a:rPr>
            <a:t>WHAT</a:t>
          </a:r>
          <a:endParaRPr lang="en-IN" b="1" dirty="0">
            <a:solidFill>
              <a:schemeClr val="tx1"/>
            </a:solidFill>
          </a:endParaRPr>
        </a:p>
      </dgm:t>
    </dgm:pt>
    <dgm:pt modelId="{9ED2AF48-BFAA-4AEF-893B-74E185DC7563}" type="parTrans" cxnId="{B5F50EC0-B8A2-40FB-A7BA-BE2AE2C9ED4A}">
      <dgm:prSet/>
      <dgm:spPr/>
      <dgm:t>
        <a:bodyPr/>
        <a:lstStyle/>
        <a:p>
          <a:endParaRPr lang="en-IN" b="1">
            <a:solidFill>
              <a:schemeClr val="tx1"/>
            </a:solidFill>
          </a:endParaRPr>
        </a:p>
      </dgm:t>
    </dgm:pt>
    <dgm:pt modelId="{96195974-D5D6-4A7B-8EFC-488A0952FE0A}" type="sibTrans" cxnId="{B5F50EC0-B8A2-40FB-A7BA-BE2AE2C9ED4A}">
      <dgm:prSet/>
      <dgm:spPr/>
      <dgm:t>
        <a:bodyPr/>
        <a:lstStyle/>
        <a:p>
          <a:endParaRPr lang="en-IN" b="1">
            <a:solidFill>
              <a:schemeClr val="tx1"/>
            </a:solidFill>
          </a:endParaRPr>
        </a:p>
      </dgm:t>
    </dgm:pt>
    <dgm:pt modelId="{C24959FC-53B5-4E55-A3F8-FEEE89B20899}">
      <dgm:prSet phldrT="[Text]"/>
      <dgm:spPr/>
      <dgm:t>
        <a:bodyPr/>
        <a:lstStyle/>
        <a:p>
          <a:r>
            <a:rPr lang="en-US" b="1" dirty="0">
              <a:solidFill>
                <a:schemeClr val="tx1"/>
              </a:solidFill>
            </a:rPr>
            <a:t>WHERE</a:t>
          </a:r>
          <a:endParaRPr lang="en-IN" b="1" dirty="0">
            <a:solidFill>
              <a:schemeClr val="tx1"/>
            </a:solidFill>
          </a:endParaRPr>
        </a:p>
      </dgm:t>
    </dgm:pt>
    <dgm:pt modelId="{4A3B9A91-5436-43C4-A510-C4073D1FAD5B}" type="parTrans" cxnId="{68728A27-38D0-4331-95BB-EFE05AA2352D}">
      <dgm:prSet/>
      <dgm:spPr/>
      <dgm:t>
        <a:bodyPr/>
        <a:lstStyle/>
        <a:p>
          <a:endParaRPr lang="en-IN" b="1">
            <a:solidFill>
              <a:schemeClr val="tx1"/>
            </a:solidFill>
          </a:endParaRPr>
        </a:p>
      </dgm:t>
    </dgm:pt>
    <dgm:pt modelId="{D1C71E10-7CD5-42C5-A3C6-FCBB7C95B68C}" type="sibTrans" cxnId="{68728A27-38D0-4331-95BB-EFE05AA2352D}">
      <dgm:prSet/>
      <dgm:spPr/>
      <dgm:t>
        <a:bodyPr/>
        <a:lstStyle/>
        <a:p>
          <a:endParaRPr lang="en-IN" b="1">
            <a:solidFill>
              <a:schemeClr val="tx1"/>
            </a:solidFill>
          </a:endParaRPr>
        </a:p>
      </dgm:t>
    </dgm:pt>
    <dgm:pt modelId="{71A95353-4273-4412-A142-D4E3D67D3065}">
      <dgm:prSet phldrT="[Text]"/>
      <dgm:spPr/>
      <dgm:t>
        <a:bodyPr/>
        <a:lstStyle/>
        <a:p>
          <a:r>
            <a:rPr lang="en-US" b="1" dirty="0">
              <a:solidFill>
                <a:schemeClr val="tx1"/>
              </a:solidFill>
            </a:rPr>
            <a:t>WHEN</a:t>
          </a:r>
          <a:endParaRPr lang="en-IN" b="1" dirty="0">
            <a:solidFill>
              <a:schemeClr val="tx1"/>
            </a:solidFill>
          </a:endParaRPr>
        </a:p>
      </dgm:t>
    </dgm:pt>
    <dgm:pt modelId="{F37B1301-1EC5-457C-B131-9EAFB8BDD743}" type="parTrans" cxnId="{8A51A1A8-B5C4-44A1-9415-12291EB5248A}">
      <dgm:prSet/>
      <dgm:spPr/>
      <dgm:t>
        <a:bodyPr/>
        <a:lstStyle/>
        <a:p>
          <a:endParaRPr lang="en-IN" b="1">
            <a:solidFill>
              <a:schemeClr val="tx1"/>
            </a:solidFill>
          </a:endParaRPr>
        </a:p>
      </dgm:t>
    </dgm:pt>
    <dgm:pt modelId="{129B8686-C44D-48E4-8762-6A97A719A1A1}" type="sibTrans" cxnId="{8A51A1A8-B5C4-44A1-9415-12291EB5248A}">
      <dgm:prSet/>
      <dgm:spPr/>
      <dgm:t>
        <a:bodyPr/>
        <a:lstStyle/>
        <a:p>
          <a:endParaRPr lang="en-IN" b="1">
            <a:solidFill>
              <a:schemeClr val="tx1"/>
            </a:solidFill>
          </a:endParaRPr>
        </a:p>
      </dgm:t>
    </dgm:pt>
    <dgm:pt modelId="{C051D160-1CDD-4B3B-8502-FD3BEDFD6938}">
      <dgm:prSet phldrT="[Text]"/>
      <dgm:spPr/>
      <dgm:t>
        <a:bodyPr/>
        <a:lstStyle/>
        <a:p>
          <a:r>
            <a:rPr lang="en-US" b="1" dirty="0">
              <a:solidFill>
                <a:schemeClr val="tx1"/>
              </a:solidFill>
            </a:rPr>
            <a:t>WHY</a:t>
          </a:r>
          <a:endParaRPr lang="en-IN" b="1" dirty="0">
            <a:solidFill>
              <a:schemeClr val="tx1"/>
            </a:solidFill>
          </a:endParaRPr>
        </a:p>
      </dgm:t>
    </dgm:pt>
    <dgm:pt modelId="{BE2FA5C1-E158-40BA-BE6E-2F71E926C6E8}" type="parTrans" cxnId="{1711B5D6-7E91-4D9C-B0F6-BE124039D6D0}">
      <dgm:prSet/>
      <dgm:spPr/>
      <dgm:t>
        <a:bodyPr/>
        <a:lstStyle/>
        <a:p>
          <a:endParaRPr lang="en-IN" b="1">
            <a:solidFill>
              <a:schemeClr val="tx1"/>
            </a:solidFill>
          </a:endParaRPr>
        </a:p>
      </dgm:t>
    </dgm:pt>
    <dgm:pt modelId="{F1E1DBFF-2AC9-44A3-9E09-BD1FE7270EA4}" type="sibTrans" cxnId="{1711B5D6-7E91-4D9C-B0F6-BE124039D6D0}">
      <dgm:prSet/>
      <dgm:spPr/>
      <dgm:t>
        <a:bodyPr/>
        <a:lstStyle/>
        <a:p>
          <a:endParaRPr lang="en-IN" b="1">
            <a:solidFill>
              <a:schemeClr val="tx1"/>
            </a:solidFill>
          </a:endParaRPr>
        </a:p>
      </dgm:t>
    </dgm:pt>
    <dgm:pt modelId="{33AD2F99-4460-4F67-AE54-5C87EC582939}" type="pres">
      <dgm:prSet presAssocID="{EC1860A5-2EDB-41D4-9375-D574AC118DF6}" presName="cycle" presStyleCnt="0">
        <dgm:presLayoutVars>
          <dgm:dir/>
          <dgm:resizeHandles val="exact"/>
        </dgm:presLayoutVars>
      </dgm:prSet>
      <dgm:spPr/>
    </dgm:pt>
    <dgm:pt modelId="{4636E105-4308-435D-BA39-710F74B24BD4}" type="pres">
      <dgm:prSet presAssocID="{6E1D20A9-E591-4580-98F8-3C1750ECAB33}" presName="node" presStyleLbl="node1" presStyleIdx="0" presStyleCnt="5">
        <dgm:presLayoutVars>
          <dgm:bulletEnabled val="1"/>
        </dgm:presLayoutVars>
      </dgm:prSet>
      <dgm:spPr/>
    </dgm:pt>
    <dgm:pt modelId="{61CD9C19-61BD-4010-884D-CF4EB5394D1C}" type="pres">
      <dgm:prSet presAssocID="{3AD6E01A-5274-40A5-849B-A551AC6B8769}" presName="sibTrans" presStyleLbl="sibTrans2D1" presStyleIdx="0" presStyleCnt="5"/>
      <dgm:spPr/>
    </dgm:pt>
    <dgm:pt modelId="{1D0F337B-F834-4911-829A-ABD826FA0E83}" type="pres">
      <dgm:prSet presAssocID="{3AD6E01A-5274-40A5-849B-A551AC6B8769}" presName="connectorText" presStyleLbl="sibTrans2D1" presStyleIdx="0" presStyleCnt="5"/>
      <dgm:spPr/>
    </dgm:pt>
    <dgm:pt modelId="{B0DBD962-800A-4CE8-A78A-4FDAFAA25883}" type="pres">
      <dgm:prSet presAssocID="{A028F64F-9815-48CC-B532-5891E4DFD3CB}" presName="node" presStyleLbl="node1" presStyleIdx="1" presStyleCnt="5">
        <dgm:presLayoutVars>
          <dgm:bulletEnabled val="1"/>
        </dgm:presLayoutVars>
      </dgm:prSet>
      <dgm:spPr/>
    </dgm:pt>
    <dgm:pt modelId="{545468B7-AA93-4CB2-A019-A6149486F573}" type="pres">
      <dgm:prSet presAssocID="{96195974-D5D6-4A7B-8EFC-488A0952FE0A}" presName="sibTrans" presStyleLbl="sibTrans2D1" presStyleIdx="1" presStyleCnt="5"/>
      <dgm:spPr/>
    </dgm:pt>
    <dgm:pt modelId="{0D66BD0D-CAE4-4129-830C-918F78E33CF6}" type="pres">
      <dgm:prSet presAssocID="{96195974-D5D6-4A7B-8EFC-488A0952FE0A}" presName="connectorText" presStyleLbl="sibTrans2D1" presStyleIdx="1" presStyleCnt="5"/>
      <dgm:spPr/>
    </dgm:pt>
    <dgm:pt modelId="{9723137B-96F3-47F2-9481-240E89E6F80A}" type="pres">
      <dgm:prSet presAssocID="{C24959FC-53B5-4E55-A3F8-FEEE89B20899}" presName="node" presStyleLbl="node1" presStyleIdx="2" presStyleCnt="5">
        <dgm:presLayoutVars>
          <dgm:bulletEnabled val="1"/>
        </dgm:presLayoutVars>
      </dgm:prSet>
      <dgm:spPr/>
    </dgm:pt>
    <dgm:pt modelId="{92D50DD0-F2FB-4245-8FDD-0C0948BD6E88}" type="pres">
      <dgm:prSet presAssocID="{D1C71E10-7CD5-42C5-A3C6-FCBB7C95B68C}" presName="sibTrans" presStyleLbl="sibTrans2D1" presStyleIdx="2" presStyleCnt="5"/>
      <dgm:spPr/>
    </dgm:pt>
    <dgm:pt modelId="{70D41B6E-8675-4932-8E9A-C3E9D5A52526}" type="pres">
      <dgm:prSet presAssocID="{D1C71E10-7CD5-42C5-A3C6-FCBB7C95B68C}" presName="connectorText" presStyleLbl="sibTrans2D1" presStyleIdx="2" presStyleCnt="5"/>
      <dgm:spPr/>
    </dgm:pt>
    <dgm:pt modelId="{8C9E054C-2F08-4D21-88AE-6A9D701AD86D}" type="pres">
      <dgm:prSet presAssocID="{71A95353-4273-4412-A142-D4E3D67D3065}" presName="node" presStyleLbl="node1" presStyleIdx="3" presStyleCnt="5">
        <dgm:presLayoutVars>
          <dgm:bulletEnabled val="1"/>
        </dgm:presLayoutVars>
      </dgm:prSet>
      <dgm:spPr/>
    </dgm:pt>
    <dgm:pt modelId="{FDFBF505-2292-4661-8411-A2C0385EA3C8}" type="pres">
      <dgm:prSet presAssocID="{129B8686-C44D-48E4-8762-6A97A719A1A1}" presName="sibTrans" presStyleLbl="sibTrans2D1" presStyleIdx="3" presStyleCnt="5"/>
      <dgm:spPr/>
    </dgm:pt>
    <dgm:pt modelId="{EED1A22A-098D-4F22-8D87-FC289B11357E}" type="pres">
      <dgm:prSet presAssocID="{129B8686-C44D-48E4-8762-6A97A719A1A1}" presName="connectorText" presStyleLbl="sibTrans2D1" presStyleIdx="3" presStyleCnt="5"/>
      <dgm:spPr/>
    </dgm:pt>
    <dgm:pt modelId="{E7069127-FA2B-4A43-A2A5-B69638745391}" type="pres">
      <dgm:prSet presAssocID="{C051D160-1CDD-4B3B-8502-FD3BEDFD6938}" presName="node" presStyleLbl="node1" presStyleIdx="4" presStyleCnt="5">
        <dgm:presLayoutVars>
          <dgm:bulletEnabled val="1"/>
        </dgm:presLayoutVars>
      </dgm:prSet>
      <dgm:spPr/>
    </dgm:pt>
    <dgm:pt modelId="{92C8B3E1-710B-4A6F-8617-EB27AC7ACDDC}" type="pres">
      <dgm:prSet presAssocID="{F1E1DBFF-2AC9-44A3-9E09-BD1FE7270EA4}" presName="sibTrans" presStyleLbl="sibTrans2D1" presStyleIdx="4" presStyleCnt="5"/>
      <dgm:spPr/>
    </dgm:pt>
    <dgm:pt modelId="{F8698890-DC04-47EE-8C79-A6CC890BAE62}" type="pres">
      <dgm:prSet presAssocID="{F1E1DBFF-2AC9-44A3-9E09-BD1FE7270EA4}" presName="connectorText" presStyleLbl="sibTrans2D1" presStyleIdx="4" presStyleCnt="5"/>
      <dgm:spPr/>
    </dgm:pt>
  </dgm:ptLst>
  <dgm:cxnLst>
    <dgm:cxn modelId="{FEFDAC21-12C6-41AB-9B93-2A573CD5B74C}" type="presOf" srcId="{6E1D20A9-E591-4580-98F8-3C1750ECAB33}" destId="{4636E105-4308-435D-BA39-710F74B24BD4}" srcOrd="0" destOrd="0" presId="urn:microsoft.com/office/officeart/2005/8/layout/cycle2"/>
    <dgm:cxn modelId="{68728A27-38D0-4331-95BB-EFE05AA2352D}" srcId="{EC1860A5-2EDB-41D4-9375-D574AC118DF6}" destId="{C24959FC-53B5-4E55-A3F8-FEEE89B20899}" srcOrd="2" destOrd="0" parTransId="{4A3B9A91-5436-43C4-A510-C4073D1FAD5B}" sibTransId="{D1C71E10-7CD5-42C5-A3C6-FCBB7C95B68C}"/>
    <dgm:cxn modelId="{69441834-D3A8-4CCE-9BB7-534C84C8F3D4}" type="presOf" srcId="{D1C71E10-7CD5-42C5-A3C6-FCBB7C95B68C}" destId="{70D41B6E-8675-4932-8E9A-C3E9D5A52526}" srcOrd="1" destOrd="0" presId="urn:microsoft.com/office/officeart/2005/8/layout/cycle2"/>
    <dgm:cxn modelId="{CA94A167-97E6-4437-93C7-14A4A271B7C4}" type="presOf" srcId="{129B8686-C44D-48E4-8762-6A97A719A1A1}" destId="{FDFBF505-2292-4661-8411-A2C0385EA3C8}" srcOrd="0" destOrd="0" presId="urn:microsoft.com/office/officeart/2005/8/layout/cycle2"/>
    <dgm:cxn modelId="{40032073-F2CC-4482-AB8B-C54508237738}" type="presOf" srcId="{A028F64F-9815-48CC-B532-5891E4DFD3CB}" destId="{B0DBD962-800A-4CE8-A78A-4FDAFAA25883}" srcOrd="0" destOrd="0" presId="urn:microsoft.com/office/officeart/2005/8/layout/cycle2"/>
    <dgm:cxn modelId="{EE3D0454-9CAF-45B5-90BC-7BAD5F753339}" type="presOf" srcId="{71A95353-4273-4412-A142-D4E3D67D3065}" destId="{8C9E054C-2F08-4D21-88AE-6A9D701AD86D}" srcOrd="0" destOrd="0" presId="urn:microsoft.com/office/officeart/2005/8/layout/cycle2"/>
    <dgm:cxn modelId="{88769C55-8837-46D8-B3F3-50E1BDBC13B5}" type="presOf" srcId="{3AD6E01A-5274-40A5-849B-A551AC6B8769}" destId="{61CD9C19-61BD-4010-884D-CF4EB5394D1C}" srcOrd="0" destOrd="0" presId="urn:microsoft.com/office/officeart/2005/8/layout/cycle2"/>
    <dgm:cxn modelId="{CF374C93-DB25-4B8E-BC07-FB2E80CC12AA}" type="presOf" srcId="{C24959FC-53B5-4E55-A3F8-FEEE89B20899}" destId="{9723137B-96F3-47F2-9481-240E89E6F80A}" srcOrd="0" destOrd="0" presId="urn:microsoft.com/office/officeart/2005/8/layout/cycle2"/>
    <dgm:cxn modelId="{BEB3A89A-7427-4C86-A062-83C555122D41}" type="presOf" srcId="{129B8686-C44D-48E4-8762-6A97A719A1A1}" destId="{EED1A22A-098D-4F22-8D87-FC289B11357E}" srcOrd="1" destOrd="0" presId="urn:microsoft.com/office/officeart/2005/8/layout/cycle2"/>
    <dgm:cxn modelId="{7121A39F-3645-4A45-8D91-9900D33FE57F}" type="presOf" srcId="{3AD6E01A-5274-40A5-849B-A551AC6B8769}" destId="{1D0F337B-F834-4911-829A-ABD826FA0E83}" srcOrd="1" destOrd="0" presId="urn:microsoft.com/office/officeart/2005/8/layout/cycle2"/>
    <dgm:cxn modelId="{8A51A1A8-B5C4-44A1-9415-12291EB5248A}" srcId="{EC1860A5-2EDB-41D4-9375-D574AC118DF6}" destId="{71A95353-4273-4412-A142-D4E3D67D3065}" srcOrd="3" destOrd="0" parTransId="{F37B1301-1EC5-457C-B131-9EAFB8BDD743}" sibTransId="{129B8686-C44D-48E4-8762-6A97A719A1A1}"/>
    <dgm:cxn modelId="{59F05BAD-4F47-4FF0-AF58-BEECBDF94000}" type="presOf" srcId="{96195974-D5D6-4A7B-8EFC-488A0952FE0A}" destId="{545468B7-AA93-4CB2-A019-A6149486F573}" srcOrd="0" destOrd="0" presId="urn:microsoft.com/office/officeart/2005/8/layout/cycle2"/>
    <dgm:cxn modelId="{967818AE-D3EC-41A6-8586-0EEBC144D882}" type="presOf" srcId="{F1E1DBFF-2AC9-44A3-9E09-BD1FE7270EA4}" destId="{F8698890-DC04-47EE-8C79-A6CC890BAE62}" srcOrd="1" destOrd="0" presId="urn:microsoft.com/office/officeart/2005/8/layout/cycle2"/>
    <dgm:cxn modelId="{B09F21B4-F1BC-4BB0-AF49-B6CA7870C4E0}" type="presOf" srcId="{EC1860A5-2EDB-41D4-9375-D574AC118DF6}" destId="{33AD2F99-4460-4F67-AE54-5C87EC582939}" srcOrd="0" destOrd="0" presId="urn:microsoft.com/office/officeart/2005/8/layout/cycle2"/>
    <dgm:cxn modelId="{32534DB7-6A11-4049-993D-8908640A8216}" type="presOf" srcId="{96195974-D5D6-4A7B-8EFC-488A0952FE0A}" destId="{0D66BD0D-CAE4-4129-830C-918F78E33CF6}" srcOrd="1" destOrd="0" presId="urn:microsoft.com/office/officeart/2005/8/layout/cycle2"/>
    <dgm:cxn modelId="{B5F50EC0-B8A2-40FB-A7BA-BE2AE2C9ED4A}" srcId="{EC1860A5-2EDB-41D4-9375-D574AC118DF6}" destId="{A028F64F-9815-48CC-B532-5891E4DFD3CB}" srcOrd="1" destOrd="0" parTransId="{9ED2AF48-BFAA-4AEF-893B-74E185DC7563}" sibTransId="{96195974-D5D6-4A7B-8EFC-488A0952FE0A}"/>
    <dgm:cxn modelId="{33F315C0-F434-4700-8247-25D5F2F20022}" type="presOf" srcId="{F1E1DBFF-2AC9-44A3-9E09-BD1FE7270EA4}" destId="{92C8B3E1-710B-4A6F-8617-EB27AC7ACDDC}" srcOrd="0" destOrd="0" presId="urn:microsoft.com/office/officeart/2005/8/layout/cycle2"/>
    <dgm:cxn modelId="{AE1522D0-BD32-46AB-9175-7A140E0B3B26}" type="presOf" srcId="{C051D160-1CDD-4B3B-8502-FD3BEDFD6938}" destId="{E7069127-FA2B-4A43-A2A5-B69638745391}" srcOrd="0" destOrd="0" presId="urn:microsoft.com/office/officeart/2005/8/layout/cycle2"/>
    <dgm:cxn modelId="{1711B5D6-7E91-4D9C-B0F6-BE124039D6D0}" srcId="{EC1860A5-2EDB-41D4-9375-D574AC118DF6}" destId="{C051D160-1CDD-4B3B-8502-FD3BEDFD6938}" srcOrd="4" destOrd="0" parTransId="{BE2FA5C1-E158-40BA-BE6E-2F71E926C6E8}" sibTransId="{F1E1DBFF-2AC9-44A3-9E09-BD1FE7270EA4}"/>
    <dgm:cxn modelId="{BFDFBCE0-22E7-4B4B-9ABA-AFE12D97569C}" srcId="{EC1860A5-2EDB-41D4-9375-D574AC118DF6}" destId="{6E1D20A9-E591-4580-98F8-3C1750ECAB33}" srcOrd="0" destOrd="0" parTransId="{0B6F9A3C-F98E-43F5-8C9F-C4DC11A51B78}" sibTransId="{3AD6E01A-5274-40A5-849B-A551AC6B8769}"/>
    <dgm:cxn modelId="{92B461E3-B1AB-4EBC-A44F-00D1A67C33EC}" type="presOf" srcId="{D1C71E10-7CD5-42C5-A3C6-FCBB7C95B68C}" destId="{92D50DD0-F2FB-4245-8FDD-0C0948BD6E88}" srcOrd="0" destOrd="0" presId="urn:microsoft.com/office/officeart/2005/8/layout/cycle2"/>
    <dgm:cxn modelId="{160F806E-EE2F-43F2-9EE9-40EF2F47ECB6}" type="presParOf" srcId="{33AD2F99-4460-4F67-AE54-5C87EC582939}" destId="{4636E105-4308-435D-BA39-710F74B24BD4}" srcOrd="0" destOrd="0" presId="urn:microsoft.com/office/officeart/2005/8/layout/cycle2"/>
    <dgm:cxn modelId="{C8DD3DF6-1869-461E-A36E-12E6F47CE27D}" type="presParOf" srcId="{33AD2F99-4460-4F67-AE54-5C87EC582939}" destId="{61CD9C19-61BD-4010-884D-CF4EB5394D1C}" srcOrd="1" destOrd="0" presId="urn:microsoft.com/office/officeart/2005/8/layout/cycle2"/>
    <dgm:cxn modelId="{53CA5D4D-3DCF-4A99-BECD-5A00A38A8446}" type="presParOf" srcId="{61CD9C19-61BD-4010-884D-CF4EB5394D1C}" destId="{1D0F337B-F834-4911-829A-ABD826FA0E83}" srcOrd="0" destOrd="0" presId="urn:microsoft.com/office/officeart/2005/8/layout/cycle2"/>
    <dgm:cxn modelId="{C1B3FBE0-E974-400F-979E-89AF5C98A2B8}" type="presParOf" srcId="{33AD2F99-4460-4F67-AE54-5C87EC582939}" destId="{B0DBD962-800A-4CE8-A78A-4FDAFAA25883}" srcOrd="2" destOrd="0" presId="urn:microsoft.com/office/officeart/2005/8/layout/cycle2"/>
    <dgm:cxn modelId="{A4ACBF17-43B2-4012-9B3A-4AC85B33656E}" type="presParOf" srcId="{33AD2F99-4460-4F67-AE54-5C87EC582939}" destId="{545468B7-AA93-4CB2-A019-A6149486F573}" srcOrd="3" destOrd="0" presId="urn:microsoft.com/office/officeart/2005/8/layout/cycle2"/>
    <dgm:cxn modelId="{ADA11BA6-53B7-4754-8863-B82ADD6ACA54}" type="presParOf" srcId="{545468B7-AA93-4CB2-A019-A6149486F573}" destId="{0D66BD0D-CAE4-4129-830C-918F78E33CF6}" srcOrd="0" destOrd="0" presId="urn:microsoft.com/office/officeart/2005/8/layout/cycle2"/>
    <dgm:cxn modelId="{9542B1AA-A1AB-4FB3-A04B-F6C9369320DD}" type="presParOf" srcId="{33AD2F99-4460-4F67-AE54-5C87EC582939}" destId="{9723137B-96F3-47F2-9481-240E89E6F80A}" srcOrd="4" destOrd="0" presId="urn:microsoft.com/office/officeart/2005/8/layout/cycle2"/>
    <dgm:cxn modelId="{5608FEDA-E503-4DC1-83FE-DB5E3E093936}" type="presParOf" srcId="{33AD2F99-4460-4F67-AE54-5C87EC582939}" destId="{92D50DD0-F2FB-4245-8FDD-0C0948BD6E88}" srcOrd="5" destOrd="0" presId="urn:microsoft.com/office/officeart/2005/8/layout/cycle2"/>
    <dgm:cxn modelId="{776B0A8E-22C9-4E4A-9ABA-08C4E46C438F}" type="presParOf" srcId="{92D50DD0-F2FB-4245-8FDD-0C0948BD6E88}" destId="{70D41B6E-8675-4932-8E9A-C3E9D5A52526}" srcOrd="0" destOrd="0" presId="urn:microsoft.com/office/officeart/2005/8/layout/cycle2"/>
    <dgm:cxn modelId="{82CFE045-1EEA-4F8A-9162-353D33C3B6D8}" type="presParOf" srcId="{33AD2F99-4460-4F67-AE54-5C87EC582939}" destId="{8C9E054C-2F08-4D21-88AE-6A9D701AD86D}" srcOrd="6" destOrd="0" presId="urn:microsoft.com/office/officeart/2005/8/layout/cycle2"/>
    <dgm:cxn modelId="{ABF6CDC1-B10F-4CD5-8797-B257DE034DB5}" type="presParOf" srcId="{33AD2F99-4460-4F67-AE54-5C87EC582939}" destId="{FDFBF505-2292-4661-8411-A2C0385EA3C8}" srcOrd="7" destOrd="0" presId="urn:microsoft.com/office/officeart/2005/8/layout/cycle2"/>
    <dgm:cxn modelId="{D1C2B399-5439-462B-BABD-DD74881A1ADC}" type="presParOf" srcId="{FDFBF505-2292-4661-8411-A2C0385EA3C8}" destId="{EED1A22A-098D-4F22-8D87-FC289B11357E}" srcOrd="0" destOrd="0" presId="urn:microsoft.com/office/officeart/2005/8/layout/cycle2"/>
    <dgm:cxn modelId="{0529317A-F36D-4584-8E48-6CDB6479EC14}" type="presParOf" srcId="{33AD2F99-4460-4F67-AE54-5C87EC582939}" destId="{E7069127-FA2B-4A43-A2A5-B69638745391}" srcOrd="8" destOrd="0" presId="urn:microsoft.com/office/officeart/2005/8/layout/cycle2"/>
    <dgm:cxn modelId="{322B4D21-0623-41DA-BE1B-67E6D406D4E5}" type="presParOf" srcId="{33AD2F99-4460-4F67-AE54-5C87EC582939}" destId="{92C8B3E1-710B-4A6F-8617-EB27AC7ACDDC}" srcOrd="9" destOrd="0" presId="urn:microsoft.com/office/officeart/2005/8/layout/cycle2"/>
    <dgm:cxn modelId="{8E36783F-3A1F-4BB6-94F0-B0BE91327CF8}" type="presParOf" srcId="{92C8B3E1-710B-4A6F-8617-EB27AC7ACDDC}" destId="{F8698890-DC04-47EE-8C79-A6CC890BAE62}"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36E105-4308-435D-BA39-710F74B24BD4}">
      <dsp:nvSpPr>
        <dsp:cNvPr id="0" name=""/>
        <dsp:cNvSpPr/>
      </dsp:nvSpPr>
      <dsp:spPr>
        <a:xfrm>
          <a:off x="1769674" y="1226"/>
          <a:ext cx="1242040" cy="1242040"/>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tx1"/>
              </a:solidFill>
            </a:rPr>
            <a:t>WHO</a:t>
          </a:r>
          <a:endParaRPr lang="en-IN" sz="1900" b="1" kern="1200" dirty="0">
            <a:solidFill>
              <a:schemeClr val="tx1"/>
            </a:solidFill>
          </a:endParaRPr>
        </a:p>
      </dsp:txBody>
      <dsp:txXfrm>
        <a:off x="1951567" y="183119"/>
        <a:ext cx="878254" cy="878254"/>
      </dsp:txXfrm>
    </dsp:sp>
    <dsp:sp modelId="{61CD9C19-61BD-4010-884D-CF4EB5394D1C}">
      <dsp:nvSpPr>
        <dsp:cNvPr id="0" name=""/>
        <dsp:cNvSpPr/>
      </dsp:nvSpPr>
      <dsp:spPr>
        <a:xfrm rot="2160000">
          <a:off x="2972489" y="955337"/>
          <a:ext cx="330295" cy="419188"/>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b="1" kern="1200">
            <a:solidFill>
              <a:schemeClr val="tx1"/>
            </a:solidFill>
          </a:endParaRPr>
        </a:p>
      </dsp:txBody>
      <dsp:txXfrm>
        <a:off x="2981951" y="1010054"/>
        <a:ext cx="231207" cy="251512"/>
      </dsp:txXfrm>
    </dsp:sp>
    <dsp:sp modelId="{B0DBD962-800A-4CE8-A78A-4FDAFAA25883}">
      <dsp:nvSpPr>
        <dsp:cNvPr id="0" name=""/>
        <dsp:cNvSpPr/>
      </dsp:nvSpPr>
      <dsp:spPr>
        <a:xfrm>
          <a:off x="3278684" y="1097585"/>
          <a:ext cx="1242040" cy="1242040"/>
        </a:xfrm>
        <a:prstGeom prst="ellipse">
          <a:avLst/>
        </a:prstGeom>
        <a:solidFill>
          <a:schemeClr val="accent5">
            <a:hueOff val="2718752"/>
            <a:satOff val="-15871"/>
            <a:lumOff val="-1274"/>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tx1"/>
              </a:solidFill>
            </a:rPr>
            <a:t>WHAT</a:t>
          </a:r>
          <a:endParaRPr lang="en-IN" sz="1900" b="1" kern="1200" dirty="0">
            <a:solidFill>
              <a:schemeClr val="tx1"/>
            </a:solidFill>
          </a:endParaRPr>
        </a:p>
      </dsp:txBody>
      <dsp:txXfrm>
        <a:off x="3460577" y="1279478"/>
        <a:ext cx="878254" cy="878254"/>
      </dsp:txXfrm>
    </dsp:sp>
    <dsp:sp modelId="{545468B7-AA93-4CB2-A019-A6149486F573}">
      <dsp:nvSpPr>
        <dsp:cNvPr id="0" name=""/>
        <dsp:cNvSpPr/>
      </dsp:nvSpPr>
      <dsp:spPr>
        <a:xfrm rot="6480000">
          <a:off x="3449250" y="2387095"/>
          <a:ext cx="330295" cy="419188"/>
        </a:xfrm>
        <a:prstGeom prst="rightArrow">
          <a:avLst>
            <a:gd name="adj1" fmla="val 60000"/>
            <a:gd name="adj2" fmla="val 50000"/>
          </a:avLst>
        </a:prstGeom>
        <a:solidFill>
          <a:schemeClr val="accent5">
            <a:hueOff val="2718752"/>
            <a:satOff val="-15871"/>
            <a:lumOff val="-127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b="1" kern="1200">
            <a:solidFill>
              <a:schemeClr val="tx1"/>
            </a:solidFill>
          </a:endParaRPr>
        </a:p>
      </dsp:txBody>
      <dsp:txXfrm rot="10800000">
        <a:off x="3514104" y="2423814"/>
        <a:ext cx="231207" cy="251512"/>
      </dsp:txXfrm>
    </dsp:sp>
    <dsp:sp modelId="{9723137B-96F3-47F2-9481-240E89E6F80A}">
      <dsp:nvSpPr>
        <dsp:cNvPr id="0" name=""/>
        <dsp:cNvSpPr/>
      </dsp:nvSpPr>
      <dsp:spPr>
        <a:xfrm>
          <a:off x="2702293" y="2871533"/>
          <a:ext cx="1242040" cy="1242040"/>
        </a:xfrm>
        <a:prstGeom prst="ellipse">
          <a:avLst/>
        </a:prstGeom>
        <a:solidFill>
          <a:schemeClr val="accent5">
            <a:hueOff val="5437504"/>
            <a:satOff val="-31742"/>
            <a:lumOff val="-254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tx1"/>
              </a:solidFill>
            </a:rPr>
            <a:t>WHERE</a:t>
          </a:r>
          <a:endParaRPr lang="en-IN" sz="1900" b="1" kern="1200" dirty="0">
            <a:solidFill>
              <a:schemeClr val="tx1"/>
            </a:solidFill>
          </a:endParaRPr>
        </a:p>
      </dsp:txBody>
      <dsp:txXfrm>
        <a:off x="2884186" y="3053426"/>
        <a:ext cx="878254" cy="878254"/>
      </dsp:txXfrm>
    </dsp:sp>
    <dsp:sp modelId="{92D50DD0-F2FB-4245-8FDD-0C0948BD6E88}">
      <dsp:nvSpPr>
        <dsp:cNvPr id="0" name=""/>
        <dsp:cNvSpPr/>
      </dsp:nvSpPr>
      <dsp:spPr>
        <a:xfrm rot="10800000">
          <a:off x="2234894" y="3282959"/>
          <a:ext cx="330295" cy="419188"/>
        </a:xfrm>
        <a:prstGeom prst="rightArrow">
          <a:avLst>
            <a:gd name="adj1" fmla="val 60000"/>
            <a:gd name="adj2" fmla="val 50000"/>
          </a:avLst>
        </a:prstGeom>
        <a:solidFill>
          <a:schemeClr val="accent5">
            <a:hueOff val="5437504"/>
            <a:satOff val="-31742"/>
            <a:lumOff val="-254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b="1" kern="1200">
            <a:solidFill>
              <a:schemeClr val="tx1"/>
            </a:solidFill>
          </a:endParaRPr>
        </a:p>
      </dsp:txBody>
      <dsp:txXfrm rot="10800000">
        <a:off x="2333982" y="3366797"/>
        <a:ext cx="231207" cy="251512"/>
      </dsp:txXfrm>
    </dsp:sp>
    <dsp:sp modelId="{8C9E054C-2F08-4D21-88AE-6A9D701AD86D}">
      <dsp:nvSpPr>
        <dsp:cNvPr id="0" name=""/>
        <dsp:cNvSpPr/>
      </dsp:nvSpPr>
      <dsp:spPr>
        <a:xfrm>
          <a:off x="837054" y="2871533"/>
          <a:ext cx="1242040" cy="1242040"/>
        </a:xfrm>
        <a:prstGeom prst="ellipse">
          <a:avLst/>
        </a:prstGeom>
        <a:solidFill>
          <a:schemeClr val="accent5">
            <a:hueOff val="8156256"/>
            <a:satOff val="-47614"/>
            <a:lumOff val="-382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tx1"/>
              </a:solidFill>
            </a:rPr>
            <a:t>WHEN</a:t>
          </a:r>
          <a:endParaRPr lang="en-IN" sz="1900" b="1" kern="1200" dirty="0">
            <a:solidFill>
              <a:schemeClr val="tx1"/>
            </a:solidFill>
          </a:endParaRPr>
        </a:p>
      </dsp:txBody>
      <dsp:txXfrm>
        <a:off x="1018947" y="3053426"/>
        <a:ext cx="878254" cy="878254"/>
      </dsp:txXfrm>
    </dsp:sp>
    <dsp:sp modelId="{FDFBF505-2292-4661-8411-A2C0385EA3C8}">
      <dsp:nvSpPr>
        <dsp:cNvPr id="0" name=""/>
        <dsp:cNvSpPr/>
      </dsp:nvSpPr>
      <dsp:spPr>
        <a:xfrm rot="15120000">
          <a:off x="1007621" y="2404876"/>
          <a:ext cx="330295" cy="419188"/>
        </a:xfrm>
        <a:prstGeom prst="rightArrow">
          <a:avLst>
            <a:gd name="adj1" fmla="val 60000"/>
            <a:gd name="adj2" fmla="val 50000"/>
          </a:avLst>
        </a:prstGeom>
        <a:solidFill>
          <a:schemeClr val="accent5">
            <a:hueOff val="8156256"/>
            <a:satOff val="-47614"/>
            <a:lumOff val="-382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b="1" kern="1200">
            <a:solidFill>
              <a:schemeClr val="tx1"/>
            </a:solidFill>
          </a:endParaRPr>
        </a:p>
      </dsp:txBody>
      <dsp:txXfrm rot="10800000">
        <a:off x="1072475" y="2535833"/>
        <a:ext cx="231207" cy="251512"/>
      </dsp:txXfrm>
    </dsp:sp>
    <dsp:sp modelId="{E7069127-FA2B-4A43-A2A5-B69638745391}">
      <dsp:nvSpPr>
        <dsp:cNvPr id="0" name=""/>
        <dsp:cNvSpPr/>
      </dsp:nvSpPr>
      <dsp:spPr>
        <a:xfrm>
          <a:off x="260664" y="1097585"/>
          <a:ext cx="1242040" cy="1242040"/>
        </a:xfrm>
        <a:prstGeom prst="ellipse">
          <a:avLst/>
        </a:prstGeom>
        <a:solidFill>
          <a:schemeClr val="accent5">
            <a:hueOff val="10875008"/>
            <a:satOff val="-63485"/>
            <a:lumOff val="-509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tx1"/>
              </a:solidFill>
            </a:rPr>
            <a:t>WHY</a:t>
          </a:r>
          <a:endParaRPr lang="en-IN" sz="1900" b="1" kern="1200" dirty="0">
            <a:solidFill>
              <a:schemeClr val="tx1"/>
            </a:solidFill>
          </a:endParaRPr>
        </a:p>
      </dsp:txBody>
      <dsp:txXfrm>
        <a:off x="442557" y="1279478"/>
        <a:ext cx="878254" cy="878254"/>
      </dsp:txXfrm>
    </dsp:sp>
    <dsp:sp modelId="{92C8B3E1-710B-4A6F-8617-EB27AC7ACDDC}">
      <dsp:nvSpPr>
        <dsp:cNvPr id="0" name=""/>
        <dsp:cNvSpPr/>
      </dsp:nvSpPr>
      <dsp:spPr>
        <a:xfrm rot="19440000">
          <a:off x="1463479" y="966326"/>
          <a:ext cx="330295" cy="419188"/>
        </a:xfrm>
        <a:prstGeom prst="rightArrow">
          <a:avLst>
            <a:gd name="adj1" fmla="val 60000"/>
            <a:gd name="adj2" fmla="val 50000"/>
          </a:avLst>
        </a:prstGeom>
        <a:solidFill>
          <a:schemeClr val="accent5">
            <a:hueOff val="10875008"/>
            <a:satOff val="-63485"/>
            <a:lumOff val="-509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b="1" kern="1200">
            <a:solidFill>
              <a:schemeClr val="tx1"/>
            </a:solidFill>
          </a:endParaRPr>
        </a:p>
      </dsp:txBody>
      <dsp:txXfrm>
        <a:off x="1472941" y="1079285"/>
        <a:ext cx="231207" cy="25151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C0979B2E-42A4-44E1-A343-81663DEF13C4}" type="datetimeFigureOut">
              <a:rPr lang="en-IN" smtClean="0"/>
              <a:t>11-08-2025</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7B547765-1888-423B-8150-87EF84B4C85E}"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659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979B2E-42A4-44E1-A343-81663DEF13C4}"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547765-1888-423B-8150-87EF84B4C85E}" type="slidenum">
              <a:rPr lang="en-IN" smtClean="0"/>
              <a:t>‹#›</a:t>
            </a:fld>
            <a:endParaRPr lang="en-IN"/>
          </a:p>
        </p:txBody>
      </p:sp>
    </p:spTree>
    <p:extLst>
      <p:ext uri="{BB962C8B-B14F-4D97-AF65-F5344CB8AC3E}">
        <p14:creationId xmlns:p14="http://schemas.microsoft.com/office/powerpoint/2010/main" val="2025320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979B2E-42A4-44E1-A343-81663DEF13C4}"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547765-1888-423B-8150-87EF84B4C85E}"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2875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979B2E-42A4-44E1-A343-81663DEF13C4}"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B547765-1888-423B-8150-87EF84B4C85E}" type="slidenum">
              <a:rPr lang="en-IN" smtClean="0"/>
              <a:t>‹#›</a:t>
            </a:fld>
            <a:endParaRPr lang="en-IN"/>
          </a:p>
        </p:txBody>
      </p:sp>
    </p:spTree>
    <p:extLst>
      <p:ext uri="{BB962C8B-B14F-4D97-AF65-F5344CB8AC3E}">
        <p14:creationId xmlns:p14="http://schemas.microsoft.com/office/powerpoint/2010/main" val="1535473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979B2E-42A4-44E1-A343-81663DEF13C4}" type="datetimeFigureOut">
              <a:rPr lang="en-IN" smtClean="0"/>
              <a:t>11-08-2025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B547765-1888-423B-8150-87EF84B4C85E}" type="slidenum">
              <a:rPr lang="en-IN" smtClean="0"/>
              <a:t>‹#›</a:t>
            </a:fld>
            <a:endParaRPr lang="en-IN"/>
          </a:p>
        </p:txBody>
      </p:sp>
    </p:spTree>
    <p:extLst>
      <p:ext uri="{BB962C8B-B14F-4D97-AF65-F5344CB8AC3E}">
        <p14:creationId xmlns:p14="http://schemas.microsoft.com/office/powerpoint/2010/main" val="509301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979B2E-42A4-44E1-A343-81663DEF13C4}" type="datetimeFigureOut">
              <a:rPr lang="en-IN" smtClean="0"/>
              <a:t>11-08-2025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B547765-1888-423B-8150-87EF84B4C85E}" type="slidenum">
              <a:rPr lang="en-IN" smtClean="0"/>
              <a:t>‹#›</a:t>
            </a:fld>
            <a:endParaRPr lang="en-IN"/>
          </a:p>
        </p:txBody>
      </p:sp>
    </p:spTree>
    <p:extLst>
      <p:ext uri="{BB962C8B-B14F-4D97-AF65-F5344CB8AC3E}">
        <p14:creationId xmlns:p14="http://schemas.microsoft.com/office/powerpoint/2010/main" val="2047136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979B2E-42A4-44E1-A343-81663DEF13C4}" type="datetimeFigureOut">
              <a:rPr lang="en-IN" smtClean="0"/>
              <a:t>11-08-2025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B547765-1888-423B-8150-87EF84B4C85E}" type="slidenum">
              <a:rPr lang="en-IN" smtClean="0"/>
              <a:t>‹#›</a:t>
            </a:fld>
            <a:endParaRPr lang="en-IN"/>
          </a:p>
        </p:txBody>
      </p:sp>
    </p:spTree>
    <p:extLst>
      <p:ext uri="{BB962C8B-B14F-4D97-AF65-F5344CB8AC3E}">
        <p14:creationId xmlns:p14="http://schemas.microsoft.com/office/powerpoint/2010/main" val="185991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979B2E-42A4-44E1-A343-81663DEF13C4}"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B547765-1888-423B-8150-87EF84B4C85E}" type="slidenum">
              <a:rPr lang="en-IN" smtClean="0"/>
              <a:t>‹#›</a:t>
            </a:fld>
            <a:endParaRPr lang="en-IN"/>
          </a:p>
        </p:txBody>
      </p:sp>
    </p:spTree>
    <p:extLst>
      <p:ext uri="{BB962C8B-B14F-4D97-AF65-F5344CB8AC3E}">
        <p14:creationId xmlns:p14="http://schemas.microsoft.com/office/powerpoint/2010/main" val="3236067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979B2E-42A4-44E1-A343-81663DEF13C4}"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B547765-1888-423B-8150-87EF84B4C85E}" type="slidenum">
              <a:rPr lang="en-IN" smtClean="0"/>
              <a:t>‹#›</a:t>
            </a:fld>
            <a:endParaRPr lang="en-IN"/>
          </a:p>
        </p:txBody>
      </p:sp>
    </p:spTree>
    <p:extLst>
      <p:ext uri="{BB962C8B-B14F-4D97-AF65-F5344CB8AC3E}">
        <p14:creationId xmlns:p14="http://schemas.microsoft.com/office/powerpoint/2010/main" val="3677836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979B2E-42A4-44E1-A343-81663DEF13C4}"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547765-1888-423B-8150-87EF84B4C85E}" type="slidenum">
              <a:rPr lang="en-IN" smtClean="0"/>
              <a:t>‹#›</a:t>
            </a:fld>
            <a:endParaRPr lang="en-IN"/>
          </a:p>
        </p:txBody>
      </p:sp>
    </p:spTree>
    <p:extLst>
      <p:ext uri="{BB962C8B-B14F-4D97-AF65-F5344CB8AC3E}">
        <p14:creationId xmlns:p14="http://schemas.microsoft.com/office/powerpoint/2010/main" val="2210170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979B2E-42A4-44E1-A343-81663DEF13C4}"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547765-1888-423B-8150-87EF84B4C85E}" type="slidenum">
              <a:rPr lang="en-IN" smtClean="0"/>
              <a:t>‹#›</a:t>
            </a:fld>
            <a:endParaRPr lang="en-IN"/>
          </a:p>
        </p:txBody>
      </p:sp>
    </p:spTree>
    <p:extLst>
      <p:ext uri="{BB962C8B-B14F-4D97-AF65-F5344CB8AC3E}">
        <p14:creationId xmlns:p14="http://schemas.microsoft.com/office/powerpoint/2010/main" val="1228780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C0979B2E-42A4-44E1-A343-81663DEF13C4}" type="datetimeFigureOut">
              <a:rPr lang="en-IN" smtClean="0"/>
              <a:t>11-08-2025</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7B547765-1888-423B-8150-87EF84B4C85E}" type="slidenum">
              <a:rPr lang="en-IN" smtClean="0"/>
              <a:t>‹#›</a:t>
            </a:fld>
            <a:endParaRPr lang="en-IN"/>
          </a:p>
        </p:txBody>
      </p:sp>
    </p:spTree>
    <p:extLst>
      <p:ext uri="{BB962C8B-B14F-4D97-AF65-F5344CB8AC3E}">
        <p14:creationId xmlns:p14="http://schemas.microsoft.com/office/powerpoint/2010/main" val="14116161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AFE32-EFB2-453C-8085-F82B109D8D8A}"/>
              </a:ext>
            </a:extLst>
          </p:cNvPr>
          <p:cNvSpPr>
            <a:spLocks noGrp="1"/>
          </p:cNvSpPr>
          <p:nvPr>
            <p:ph type="title"/>
          </p:nvPr>
        </p:nvSpPr>
        <p:spPr>
          <a:xfrm>
            <a:off x="990600" y="1835336"/>
            <a:ext cx="10515600" cy="1325563"/>
          </a:xfrm>
        </p:spPr>
        <p:txBody>
          <a:bodyPr>
            <a:normAutofit/>
          </a:bodyPr>
          <a:lstStyle/>
          <a:p>
            <a:pPr algn="ctr"/>
            <a:r>
              <a:rPr lang="en-US" sz="6000" b="1" dirty="0">
                <a:latin typeface="Arial Black" panose="020B0A04020102020204" pitchFamily="34" charset="0"/>
              </a:rPr>
              <a:t>IDEA GENERATION</a:t>
            </a:r>
            <a:endParaRPr lang="en-IN" sz="6000" b="1" dirty="0">
              <a:latin typeface="Arial Black" panose="020B0A04020102020204" pitchFamily="34" charset="0"/>
            </a:endParaRPr>
          </a:p>
        </p:txBody>
      </p:sp>
      <p:pic>
        <p:nvPicPr>
          <p:cNvPr id="3" name="Picture 2">
            <a:extLst>
              <a:ext uri="{FF2B5EF4-FFF2-40B4-BE49-F238E27FC236}">
                <a16:creationId xmlns:a16="http://schemas.microsoft.com/office/drawing/2014/main" id="{11505A61-64EE-4291-BE7E-510F9F0DEB91}"/>
              </a:ext>
            </a:extLst>
          </p:cNvPr>
          <p:cNvPicPr>
            <a:picLocks noChangeAspect="1"/>
          </p:cNvPicPr>
          <p:nvPr/>
        </p:nvPicPr>
        <p:blipFill>
          <a:blip r:embed="rId2"/>
          <a:stretch>
            <a:fillRect/>
          </a:stretch>
        </p:blipFill>
        <p:spPr>
          <a:xfrm>
            <a:off x="6535270" y="3114862"/>
            <a:ext cx="4262718" cy="2898648"/>
          </a:xfrm>
          <a:prstGeom prst="rect">
            <a:avLst/>
          </a:prstGeom>
          <a:ln>
            <a:noFill/>
          </a:ln>
          <a:effectLst>
            <a:softEdge rad="112500"/>
          </a:effectLst>
        </p:spPr>
      </p:pic>
    </p:spTree>
    <p:extLst>
      <p:ext uri="{BB962C8B-B14F-4D97-AF65-F5344CB8AC3E}">
        <p14:creationId xmlns:p14="http://schemas.microsoft.com/office/powerpoint/2010/main" val="2996707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009B5-2ECD-4B51-98B1-C332167DB6B7}"/>
              </a:ext>
            </a:extLst>
          </p:cNvPr>
          <p:cNvSpPr>
            <a:spLocks noGrp="1"/>
          </p:cNvSpPr>
          <p:nvPr>
            <p:ph type="title"/>
          </p:nvPr>
        </p:nvSpPr>
        <p:spPr/>
        <p:txBody>
          <a:bodyPr/>
          <a:lstStyle/>
          <a:p>
            <a:r>
              <a:rPr lang="en-US" dirty="0"/>
              <a:t>What is Idea Generation?</a:t>
            </a:r>
            <a:endParaRPr lang="en-IN" dirty="0"/>
          </a:p>
        </p:txBody>
      </p:sp>
      <p:sp>
        <p:nvSpPr>
          <p:cNvPr id="3" name="Content Placeholder 2">
            <a:extLst>
              <a:ext uri="{FF2B5EF4-FFF2-40B4-BE49-F238E27FC236}">
                <a16:creationId xmlns:a16="http://schemas.microsoft.com/office/drawing/2014/main" id="{1AA9BCC7-C86E-4D3A-99D7-FF536BAE675F}"/>
              </a:ext>
            </a:extLst>
          </p:cNvPr>
          <p:cNvSpPr>
            <a:spLocks noGrp="1"/>
          </p:cNvSpPr>
          <p:nvPr>
            <p:ph idx="1"/>
          </p:nvPr>
        </p:nvSpPr>
        <p:spPr/>
        <p:txBody>
          <a:bodyPr>
            <a:normAutofit lnSpcReduction="10000"/>
          </a:bodyPr>
          <a:lstStyle/>
          <a:p>
            <a:pPr algn="just"/>
            <a:r>
              <a:rPr lang="en-US" b="0" i="0" dirty="0">
                <a:solidFill>
                  <a:srgbClr val="001D35"/>
                </a:solidFill>
                <a:effectLst/>
                <a:latin typeface="Google Sans"/>
              </a:rPr>
              <a:t>Idea generation is the process of </a:t>
            </a:r>
            <a:r>
              <a:rPr lang="en-US" sz="2400" b="1" i="0" dirty="0">
                <a:solidFill>
                  <a:schemeClr val="accent2">
                    <a:lumMod val="60000"/>
                    <a:lumOff val="40000"/>
                  </a:schemeClr>
                </a:solidFill>
                <a:effectLst/>
                <a:latin typeface="Google Sans"/>
              </a:rPr>
              <a:t>creating, developing, and communicating new concepts, solutions, or innovations</a:t>
            </a:r>
            <a:r>
              <a:rPr lang="en-US" b="0" i="0" dirty="0">
                <a:solidFill>
                  <a:srgbClr val="001D35"/>
                </a:solidFill>
                <a:effectLst/>
                <a:latin typeface="Google Sans"/>
              </a:rPr>
              <a:t>. </a:t>
            </a:r>
          </a:p>
          <a:p>
            <a:pPr algn="just"/>
            <a:r>
              <a:rPr lang="en-US" b="0" i="0" dirty="0">
                <a:solidFill>
                  <a:srgbClr val="001D35"/>
                </a:solidFill>
                <a:effectLst/>
                <a:latin typeface="Google Sans"/>
              </a:rPr>
              <a:t>It's a crucial initial step in problem-solving, product development, and innovation, often involving techniques like brainstorming, mind mapping, and other methods to stimulate creative thinking. </a:t>
            </a:r>
          </a:p>
          <a:p>
            <a:pPr algn="just"/>
            <a:r>
              <a:rPr lang="en-US" b="0" i="0" dirty="0">
                <a:solidFill>
                  <a:srgbClr val="001D35"/>
                </a:solidFill>
                <a:effectLst/>
                <a:latin typeface="Google Sans"/>
              </a:rPr>
              <a:t>Effective idea generation can lead to new opportunities, improved processes, and overall advancement in various fields. </a:t>
            </a:r>
          </a:p>
          <a:p>
            <a:pPr algn="just"/>
            <a:r>
              <a:rPr lang="en-US" b="0" i="0" dirty="0">
                <a:solidFill>
                  <a:srgbClr val="555555"/>
                </a:solidFill>
                <a:effectLst/>
                <a:latin typeface="-apple-system"/>
              </a:rPr>
              <a:t>Idea generation is </a:t>
            </a:r>
            <a:r>
              <a:rPr lang="en-US" b="0" i="0" u="none" strike="noStrike" dirty="0">
                <a:solidFill>
                  <a:srgbClr val="1971C2"/>
                </a:solidFill>
                <a:effectLst/>
                <a:latin typeface="-apple-system"/>
              </a:rPr>
              <a:t>described</a:t>
            </a:r>
            <a:r>
              <a:rPr lang="en-US" b="0" i="0" dirty="0">
                <a:solidFill>
                  <a:srgbClr val="555555"/>
                </a:solidFill>
                <a:effectLst/>
                <a:latin typeface="-apple-system"/>
              </a:rPr>
              <a:t> as the process of creating, developing and communicating abstract, concrete or visual ideas.</a:t>
            </a:r>
          </a:p>
          <a:p>
            <a:pPr algn="just"/>
            <a:r>
              <a:rPr lang="en-US" b="0" i="0" dirty="0">
                <a:solidFill>
                  <a:srgbClr val="555555"/>
                </a:solidFill>
                <a:effectLst/>
                <a:latin typeface="-apple-system"/>
              </a:rPr>
              <a:t>It’s the front end part of the </a:t>
            </a:r>
            <a:r>
              <a:rPr lang="en-US" b="0" i="0" u="none" strike="noStrike" dirty="0">
                <a:solidFill>
                  <a:srgbClr val="1971C2"/>
                </a:solidFill>
                <a:effectLst/>
                <a:latin typeface="-apple-system"/>
              </a:rPr>
              <a:t>idea management</a:t>
            </a:r>
            <a:r>
              <a:rPr lang="en-US" b="0" i="0" dirty="0">
                <a:solidFill>
                  <a:srgbClr val="555555"/>
                </a:solidFill>
                <a:effectLst/>
                <a:latin typeface="-apple-system"/>
              </a:rPr>
              <a:t> funnel and it focuses on coming up with possible solutions to perceived or actual problems and opportunities.</a:t>
            </a:r>
          </a:p>
          <a:p>
            <a:pPr algn="just"/>
            <a:endParaRPr lang="en-IN" dirty="0"/>
          </a:p>
        </p:txBody>
      </p:sp>
    </p:spTree>
    <p:extLst>
      <p:ext uri="{BB962C8B-B14F-4D97-AF65-F5344CB8AC3E}">
        <p14:creationId xmlns:p14="http://schemas.microsoft.com/office/powerpoint/2010/main" val="145880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80AD4E-8EEE-4843-9B2E-E1A844EE45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364" y="1318918"/>
            <a:ext cx="6249272" cy="4220164"/>
          </a:xfrm>
          <a:prstGeom prst="rect">
            <a:avLst/>
          </a:prstGeom>
        </p:spPr>
      </p:pic>
    </p:spTree>
    <p:extLst>
      <p:ext uri="{BB962C8B-B14F-4D97-AF65-F5344CB8AC3E}">
        <p14:creationId xmlns:p14="http://schemas.microsoft.com/office/powerpoint/2010/main" val="2598790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880E4D-6071-47E5-8884-1B2BD8568ACB}"/>
              </a:ext>
            </a:extLst>
          </p:cNvPr>
          <p:cNvPicPr>
            <a:picLocks noChangeAspect="1"/>
          </p:cNvPicPr>
          <p:nvPr/>
        </p:nvPicPr>
        <p:blipFill rotWithShape="1">
          <a:blip r:embed="rId2">
            <a:extLst>
              <a:ext uri="{28A0092B-C50C-407E-A947-70E740481C1C}">
                <a14:useLocalDpi xmlns:a14="http://schemas.microsoft.com/office/drawing/2010/main" val="0"/>
              </a:ext>
            </a:extLst>
          </a:blip>
          <a:srcRect r="2407"/>
          <a:stretch/>
        </p:blipFill>
        <p:spPr>
          <a:xfrm>
            <a:off x="2151530" y="1080727"/>
            <a:ext cx="8184776" cy="5054015"/>
          </a:xfrm>
          <a:prstGeom prst="rect">
            <a:avLst/>
          </a:prstGeom>
        </p:spPr>
      </p:pic>
    </p:spTree>
    <p:extLst>
      <p:ext uri="{BB962C8B-B14F-4D97-AF65-F5344CB8AC3E}">
        <p14:creationId xmlns:p14="http://schemas.microsoft.com/office/powerpoint/2010/main" val="513933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6260B-812A-4A3B-A63E-4CCC0286F482}"/>
              </a:ext>
            </a:extLst>
          </p:cNvPr>
          <p:cNvSpPr>
            <a:spLocks noGrp="1"/>
          </p:cNvSpPr>
          <p:nvPr>
            <p:ph type="title"/>
          </p:nvPr>
        </p:nvSpPr>
        <p:spPr/>
        <p:txBody>
          <a:bodyPr/>
          <a:lstStyle/>
          <a:p>
            <a:r>
              <a:rPr lang="en-US" dirty="0"/>
              <a:t>IDEA GENERATION PROCESS</a:t>
            </a:r>
            <a:endParaRPr lang="en-IN" dirty="0"/>
          </a:p>
        </p:txBody>
      </p:sp>
      <p:sp>
        <p:nvSpPr>
          <p:cNvPr id="3" name="Content Placeholder 2">
            <a:extLst>
              <a:ext uri="{FF2B5EF4-FFF2-40B4-BE49-F238E27FC236}">
                <a16:creationId xmlns:a16="http://schemas.microsoft.com/office/drawing/2014/main" id="{74D46A51-6DC8-4335-A534-BD0C803DBD9C}"/>
              </a:ext>
            </a:extLst>
          </p:cNvPr>
          <p:cNvSpPr>
            <a:spLocks noGrp="1"/>
          </p:cNvSpPr>
          <p:nvPr>
            <p:ph idx="1"/>
          </p:nvPr>
        </p:nvSpPr>
        <p:spPr/>
        <p:txBody>
          <a:bodyPr>
            <a:normAutofit lnSpcReduction="10000"/>
          </a:bodyPr>
          <a:lstStyle/>
          <a:p>
            <a:pPr algn="just"/>
            <a:r>
              <a:rPr lang="en-US" dirty="0">
                <a:solidFill>
                  <a:schemeClr val="tx1"/>
                </a:solidFill>
              </a:rPr>
              <a:t>The process may be different for different organizations and different people. But there are three main steps in the process. </a:t>
            </a:r>
          </a:p>
          <a:p>
            <a:pPr marL="502920" indent="-457200" algn="just">
              <a:buFont typeface="+mj-lt"/>
              <a:buAutoNum type="arabicPeriod"/>
            </a:pPr>
            <a:r>
              <a:rPr lang="en-US" dirty="0">
                <a:solidFill>
                  <a:schemeClr val="tx1"/>
                </a:solidFill>
              </a:rPr>
              <a:t>It starts with the </a:t>
            </a:r>
            <a:r>
              <a:rPr lang="en-US" b="1" dirty="0">
                <a:solidFill>
                  <a:srgbClr val="FF0000"/>
                </a:solidFill>
              </a:rPr>
              <a:t>identification of the question </a:t>
            </a:r>
            <a:r>
              <a:rPr lang="en-US" dirty="0">
                <a:solidFill>
                  <a:schemeClr val="tx1"/>
                </a:solidFill>
              </a:rPr>
              <a:t>or the problem we need to solve. </a:t>
            </a:r>
          </a:p>
          <a:p>
            <a:pPr marL="502920" indent="-457200" algn="just">
              <a:buFont typeface="+mj-lt"/>
              <a:buAutoNum type="arabicPeriod"/>
            </a:pPr>
            <a:r>
              <a:rPr lang="en-US" dirty="0">
                <a:solidFill>
                  <a:schemeClr val="tx1"/>
                </a:solidFill>
              </a:rPr>
              <a:t>After which we need to come up with </a:t>
            </a:r>
            <a:r>
              <a:rPr lang="en-US" b="1" dirty="0">
                <a:solidFill>
                  <a:srgbClr val="FF0000"/>
                </a:solidFill>
              </a:rPr>
              <a:t>ideas and probable solutions</a:t>
            </a:r>
            <a:r>
              <a:rPr lang="en-US" dirty="0">
                <a:solidFill>
                  <a:schemeClr val="tx1"/>
                </a:solidFill>
              </a:rPr>
              <a:t>. </a:t>
            </a:r>
          </a:p>
          <a:p>
            <a:pPr marL="502920" indent="-457200" algn="just">
              <a:buFont typeface="+mj-lt"/>
              <a:buAutoNum type="arabicPeriod"/>
            </a:pPr>
            <a:r>
              <a:rPr lang="en-US" dirty="0">
                <a:solidFill>
                  <a:schemeClr val="tx1"/>
                </a:solidFill>
              </a:rPr>
              <a:t>Finally, in the third stage, we select the most </a:t>
            </a:r>
            <a:r>
              <a:rPr lang="en-US" b="1" dirty="0">
                <a:solidFill>
                  <a:srgbClr val="FF0000"/>
                </a:solidFill>
              </a:rPr>
              <a:t>suitable idea and execute </a:t>
            </a:r>
            <a:r>
              <a:rPr lang="en-US" dirty="0">
                <a:solidFill>
                  <a:schemeClr val="tx1"/>
                </a:solidFill>
              </a:rPr>
              <a:t>it. </a:t>
            </a:r>
          </a:p>
          <a:p>
            <a:pPr algn="just"/>
            <a:r>
              <a:rPr lang="en-US" dirty="0">
                <a:solidFill>
                  <a:schemeClr val="tx1"/>
                </a:solidFill>
              </a:rPr>
              <a:t>For example, let’s suppose you are opening up a restaurant. So firstly, you need to identify what question you need to answer. Let’s assume you want to decide upon a name for the restaurant. Now you will use different techniques (brainstorming, mind mapping, </a:t>
            </a:r>
            <a:r>
              <a:rPr lang="en-US" dirty="0" err="1">
                <a:solidFill>
                  <a:schemeClr val="tx1"/>
                </a:solidFill>
              </a:rPr>
              <a:t>etc</a:t>
            </a:r>
            <a:r>
              <a:rPr lang="en-US" dirty="0">
                <a:solidFill>
                  <a:schemeClr val="tx1"/>
                </a:solidFill>
              </a:rPr>
              <a:t>) to come up with ideas for names. In the last step, you will choose the most appropriate name from the different names you came up with within the second step. </a:t>
            </a:r>
            <a:endParaRPr lang="en-IN" dirty="0">
              <a:solidFill>
                <a:schemeClr val="tx1"/>
              </a:solidFill>
            </a:endParaRPr>
          </a:p>
        </p:txBody>
      </p:sp>
    </p:spTree>
    <p:extLst>
      <p:ext uri="{BB962C8B-B14F-4D97-AF65-F5344CB8AC3E}">
        <p14:creationId xmlns:p14="http://schemas.microsoft.com/office/powerpoint/2010/main" val="126544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8BD3C9-1492-400D-920A-6C1AEE06FF4E}"/>
              </a:ext>
            </a:extLst>
          </p:cNvPr>
          <p:cNvPicPr>
            <a:picLocks noChangeAspect="1"/>
          </p:cNvPicPr>
          <p:nvPr/>
        </p:nvPicPr>
        <p:blipFill>
          <a:blip r:embed="rId2"/>
          <a:stretch>
            <a:fillRect/>
          </a:stretch>
        </p:blipFill>
        <p:spPr>
          <a:xfrm>
            <a:off x="5650" y="0"/>
            <a:ext cx="12186350" cy="6858000"/>
          </a:xfrm>
          <a:prstGeom prst="rect">
            <a:avLst/>
          </a:prstGeom>
        </p:spPr>
      </p:pic>
    </p:spTree>
    <p:extLst>
      <p:ext uri="{BB962C8B-B14F-4D97-AF65-F5344CB8AC3E}">
        <p14:creationId xmlns:p14="http://schemas.microsoft.com/office/powerpoint/2010/main" val="3312568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165AF1-20EF-40A2-AD99-E7CF3B02ECD5}"/>
              </a:ext>
            </a:extLst>
          </p:cNvPr>
          <p:cNvPicPr>
            <a:picLocks noChangeAspect="1"/>
          </p:cNvPicPr>
          <p:nvPr/>
        </p:nvPicPr>
        <p:blipFill rotWithShape="1">
          <a:blip r:embed="rId2"/>
          <a:srcRect t="19850"/>
          <a:stretch/>
        </p:blipFill>
        <p:spPr>
          <a:xfrm>
            <a:off x="1159291" y="1098456"/>
            <a:ext cx="9696127" cy="4661087"/>
          </a:xfrm>
          <a:prstGeom prst="rect">
            <a:avLst/>
          </a:prstGeom>
        </p:spPr>
      </p:pic>
    </p:spTree>
    <p:extLst>
      <p:ext uri="{BB962C8B-B14F-4D97-AF65-F5344CB8AC3E}">
        <p14:creationId xmlns:p14="http://schemas.microsoft.com/office/powerpoint/2010/main" val="206373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0028-B592-4280-B471-584C190A50FA}"/>
              </a:ext>
            </a:extLst>
          </p:cNvPr>
          <p:cNvSpPr>
            <a:spLocks noGrp="1"/>
          </p:cNvSpPr>
          <p:nvPr>
            <p:ph type="title"/>
          </p:nvPr>
        </p:nvSpPr>
        <p:spPr/>
        <p:txBody>
          <a:bodyPr/>
          <a:lstStyle/>
          <a:p>
            <a:pPr algn="ctr"/>
            <a:r>
              <a:rPr lang="en-US" dirty="0"/>
              <a:t>TECHNIQUES FOR IDEA GENERATION</a:t>
            </a:r>
            <a:endParaRPr lang="en-IN" dirty="0"/>
          </a:p>
        </p:txBody>
      </p:sp>
      <p:sp>
        <p:nvSpPr>
          <p:cNvPr id="5" name="Text Placeholder 4">
            <a:extLst>
              <a:ext uri="{FF2B5EF4-FFF2-40B4-BE49-F238E27FC236}">
                <a16:creationId xmlns:a16="http://schemas.microsoft.com/office/drawing/2014/main" id="{6D7595F0-54C3-4177-A227-68E17CDF8E1A}"/>
              </a:ext>
            </a:extLst>
          </p:cNvPr>
          <p:cNvSpPr>
            <a:spLocks noGrp="1"/>
          </p:cNvSpPr>
          <p:nvPr>
            <p:ph type="body" idx="1"/>
          </p:nvPr>
        </p:nvSpPr>
        <p:spPr/>
        <p:txBody>
          <a:bodyPr>
            <a:normAutofit fontScale="92500" lnSpcReduction="10000"/>
          </a:bodyPr>
          <a:lstStyle/>
          <a:p>
            <a:pPr algn="just"/>
            <a:r>
              <a:rPr lang="en-US" b="0" i="0" dirty="0">
                <a:solidFill>
                  <a:srgbClr val="001D35"/>
                </a:solidFill>
                <a:effectLst/>
                <a:latin typeface="Google Sans"/>
              </a:rPr>
              <a:t>Several effective techniques can be used for idea generation. Some popular methods include brainstorming, mind mapping, SCAMPER, and reverse brainstorming. These techniques help individuals and teams explore a problem, generate a wide range of potential solutions, and organize thoughts for further development. </a:t>
            </a:r>
            <a:endParaRPr lang="en-IN" dirty="0"/>
          </a:p>
        </p:txBody>
      </p:sp>
      <p:pic>
        <p:nvPicPr>
          <p:cNvPr id="4" name="Graphic 3" descr="Group brainstorm with solid fill">
            <a:extLst>
              <a:ext uri="{FF2B5EF4-FFF2-40B4-BE49-F238E27FC236}">
                <a16:creationId xmlns:a16="http://schemas.microsoft.com/office/drawing/2014/main" id="{B70DE380-39AC-4CF9-B115-6B0A267EEBD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71248" y="305943"/>
            <a:ext cx="2201551" cy="1735263"/>
          </a:xfrm>
          <a:prstGeom prst="rect">
            <a:avLst/>
          </a:prstGeom>
        </p:spPr>
      </p:pic>
    </p:spTree>
    <p:extLst>
      <p:ext uri="{BB962C8B-B14F-4D97-AF65-F5344CB8AC3E}">
        <p14:creationId xmlns:p14="http://schemas.microsoft.com/office/powerpoint/2010/main" val="378080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8366EB-DC57-4A27-8AC2-C3B4029035A2}"/>
              </a:ext>
            </a:extLst>
          </p:cNvPr>
          <p:cNvPicPr>
            <a:picLocks noChangeAspect="1"/>
          </p:cNvPicPr>
          <p:nvPr/>
        </p:nvPicPr>
        <p:blipFill>
          <a:blip r:embed="rId2"/>
          <a:stretch>
            <a:fillRect/>
          </a:stretch>
        </p:blipFill>
        <p:spPr>
          <a:xfrm>
            <a:off x="1452282" y="616043"/>
            <a:ext cx="8145693" cy="5417204"/>
          </a:xfrm>
          <a:prstGeom prst="rect">
            <a:avLst/>
          </a:prstGeom>
        </p:spPr>
      </p:pic>
    </p:spTree>
    <p:extLst>
      <p:ext uri="{BB962C8B-B14F-4D97-AF65-F5344CB8AC3E}">
        <p14:creationId xmlns:p14="http://schemas.microsoft.com/office/powerpoint/2010/main" val="3389031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80806F3-2552-457A-9865-0E391E450778}"/>
              </a:ext>
            </a:extLst>
          </p:cNvPr>
          <p:cNvPicPr>
            <a:picLocks noChangeAspect="1"/>
          </p:cNvPicPr>
          <p:nvPr/>
        </p:nvPicPr>
        <p:blipFill>
          <a:blip r:embed="rId2"/>
          <a:stretch>
            <a:fillRect/>
          </a:stretch>
        </p:blipFill>
        <p:spPr>
          <a:xfrm>
            <a:off x="4191000" y="1524000"/>
            <a:ext cx="3810000" cy="3810000"/>
          </a:xfrm>
          <a:prstGeom prst="rect">
            <a:avLst/>
          </a:prstGeom>
        </p:spPr>
      </p:pic>
    </p:spTree>
    <p:extLst>
      <p:ext uri="{BB962C8B-B14F-4D97-AF65-F5344CB8AC3E}">
        <p14:creationId xmlns:p14="http://schemas.microsoft.com/office/powerpoint/2010/main" val="3695834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3C2D-F56A-4F7B-B6A9-A50B2DE18E18}"/>
              </a:ext>
            </a:extLst>
          </p:cNvPr>
          <p:cNvSpPr>
            <a:spLocks noGrp="1"/>
          </p:cNvSpPr>
          <p:nvPr>
            <p:ph type="title"/>
          </p:nvPr>
        </p:nvSpPr>
        <p:spPr>
          <a:xfrm>
            <a:off x="1259541" y="609600"/>
            <a:ext cx="9875520" cy="502024"/>
          </a:xfrm>
        </p:spPr>
        <p:txBody>
          <a:bodyPr>
            <a:normAutofit fontScale="90000"/>
          </a:bodyPr>
          <a:lstStyle/>
          <a:p>
            <a:r>
              <a:rPr lang="en-IN" b="0" i="0" dirty="0">
                <a:solidFill>
                  <a:srgbClr val="001D35"/>
                </a:solidFill>
                <a:effectLst/>
                <a:latin typeface="Google Sans"/>
              </a:rPr>
              <a:t>Brainstorming:</a:t>
            </a:r>
            <a:br>
              <a:rPr lang="en-IN" dirty="0"/>
            </a:br>
            <a:endParaRPr lang="en-IN" dirty="0"/>
          </a:p>
        </p:txBody>
      </p:sp>
      <p:sp>
        <p:nvSpPr>
          <p:cNvPr id="3" name="Content Placeholder 2">
            <a:extLst>
              <a:ext uri="{FF2B5EF4-FFF2-40B4-BE49-F238E27FC236}">
                <a16:creationId xmlns:a16="http://schemas.microsoft.com/office/drawing/2014/main" id="{7FA326DA-5FCB-40B4-8EA7-E986375829A6}"/>
              </a:ext>
            </a:extLst>
          </p:cNvPr>
          <p:cNvSpPr>
            <a:spLocks noGrp="1"/>
          </p:cNvSpPr>
          <p:nvPr>
            <p:ph idx="1"/>
          </p:nvPr>
        </p:nvSpPr>
        <p:spPr>
          <a:xfrm>
            <a:off x="1143000" y="1111624"/>
            <a:ext cx="9872871" cy="4984376"/>
          </a:xfrm>
        </p:spPr>
        <p:txBody>
          <a:bodyPr/>
          <a:lstStyle/>
          <a:p>
            <a:pPr algn="just"/>
            <a:r>
              <a:rPr lang="en-US" b="0" i="0" dirty="0">
                <a:solidFill>
                  <a:srgbClr val="001D35"/>
                </a:solidFill>
                <a:effectLst/>
                <a:latin typeface="Google Sans"/>
              </a:rPr>
              <a:t>This involves generating ideas in a group setting without immediate criticism or judgment. The goal is to produce a large quantity of ideas, even seemingly outlandish ones, which can then be evaluated later for documenting and executing ideas smoothly. </a:t>
            </a:r>
          </a:p>
          <a:p>
            <a:pPr algn="just"/>
            <a:r>
              <a:rPr lang="en-US" b="0" i="0" dirty="0">
                <a:solidFill>
                  <a:srgbClr val="191918"/>
                </a:solidFill>
                <a:effectLst/>
                <a:latin typeface="Lyon Text"/>
              </a:rPr>
              <a:t>Blue sky thinking, or brainstorming, encourages unrestrained creativity. When developing a new project, team members throw out specific details or constraints and voice any and every idea, no matter how unconventional. </a:t>
            </a:r>
          </a:p>
          <a:p>
            <a:pPr algn="just"/>
            <a:r>
              <a:rPr lang="en-US" b="0" i="0" dirty="0">
                <a:solidFill>
                  <a:srgbClr val="191918"/>
                </a:solidFill>
                <a:effectLst/>
                <a:latin typeface="Lyon Text"/>
              </a:rPr>
              <a:t>While the approach might sound chaotic, focusing on quantity rather than the quality lets groundbreaking concepts emerge. Once brainstorming concludes, you scrap unrealistic suggestions and turn viable ones into actionable strategies aligned with your product vision board.</a:t>
            </a:r>
          </a:p>
          <a:p>
            <a:pPr algn="just"/>
            <a:endParaRPr lang="en-IN" dirty="0"/>
          </a:p>
        </p:txBody>
      </p:sp>
    </p:spTree>
    <p:extLst>
      <p:ext uri="{BB962C8B-B14F-4D97-AF65-F5344CB8AC3E}">
        <p14:creationId xmlns:p14="http://schemas.microsoft.com/office/powerpoint/2010/main" val="3788086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3C6C0-D656-4869-A75D-58B019ACAF29}"/>
              </a:ext>
            </a:extLst>
          </p:cNvPr>
          <p:cNvSpPr>
            <a:spLocks noGrp="1"/>
          </p:cNvSpPr>
          <p:nvPr>
            <p:ph type="title"/>
          </p:nvPr>
        </p:nvSpPr>
        <p:spPr>
          <a:xfrm>
            <a:off x="1143000" y="609600"/>
            <a:ext cx="9875520" cy="708212"/>
          </a:xfrm>
        </p:spPr>
        <p:txBody>
          <a:bodyPr>
            <a:normAutofit fontScale="90000"/>
          </a:bodyPr>
          <a:lstStyle/>
          <a:p>
            <a:r>
              <a:rPr lang="en-IN" b="1" dirty="0">
                <a:solidFill>
                  <a:srgbClr val="191918"/>
                </a:solidFill>
                <a:effectLst/>
                <a:latin typeface="NotionInter"/>
              </a:rPr>
              <a:t>Brainwriting</a:t>
            </a:r>
            <a:br>
              <a:rPr lang="en-IN" b="1" dirty="0">
                <a:solidFill>
                  <a:srgbClr val="191918"/>
                </a:solidFill>
                <a:effectLst/>
                <a:latin typeface="NotionInter"/>
              </a:rPr>
            </a:br>
            <a:endParaRPr lang="en-IN" dirty="0"/>
          </a:p>
        </p:txBody>
      </p:sp>
      <p:sp>
        <p:nvSpPr>
          <p:cNvPr id="3" name="Content Placeholder 2">
            <a:extLst>
              <a:ext uri="{FF2B5EF4-FFF2-40B4-BE49-F238E27FC236}">
                <a16:creationId xmlns:a16="http://schemas.microsoft.com/office/drawing/2014/main" id="{E849C394-730C-4869-A02B-1D0154D2C371}"/>
              </a:ext>
            </a:extLst>
          </p:cNvPr>
          <p:cNvSpPr>
            <a:spLocks noGrp="1"/>
          </p:cNvSpPr>
          <p:nvPr>
            <p:ph idx="1"/>
          </p:nvPr>
        </p:nvSpPr>
        <p:spPr>
          <a:xfrm>
            <a:off x="1143000" y="1407459"/>
            <a:ext cx="9872871" cy="4688541"/>
          </a:xfrm>
        </p:spPr>
        <p:txBody>
          <a:bodyPr/>
          <a:lstStyle/>
          <a:p>
            <a:pPr algn="just"/>
            <a:r>
              <a:rPr lang="en-US" b="0" i="0" dirty="0">
                <a:solidFill>
                  <a:srgbClr val="191918"/>
                </a:solidFill>
                <a:effectLst/>
                <a:latin typeface="Lyon Text"/>
              </a:rPr>
              <a:t>Like brainstorming, brainwriting focuses on amassing different perspectives. But rather than shouting out ideas, team members jot everything down on paper. They then pass their papers around in a circle, and receiving teammates build on each other’s ideas by adding new perspectives or pointing out pain points. The cycle continues until everyone has their original paper back — now fleshed out with team reactions and elaborations.</a:t>
            </a:r>
          </a:p>
          <a:p>
            <a:pPr algn="just"/>
            <a:r>
              <a:rPr lang="en-US" b="0" i="0" dirty="0">
                <a:solidFill>
                  <a:srgbClr val="191918"/>
                </a:solidFill>
                <a:effectLst/>
                <a:latin typeface="Lyon Text"/>
              </a:rPr>
              <a:t>This technique diversifies ideas and stimulates inclusivity, which is useful for large groups where some team members might be more comfortable verbally sharing ideas than others.</a:t>
            </a:r>
          </a:p>
          <a:p>
            <a:pPr algn="just"/>
            <a:endParaRPr lang="en-IN" dirty="0"/>
          </a:p>
        </p:txBody>
      </p:sp>
    </p:spTree>
    <p:extLst>
      <p:ext uri="{BB962C8B-B14F-4D97-AF65-F5344CB8AC3E}">
        <p14:creationId xmlns:p14="http://schemas.microsoft.com/office/powerpoint/2010/main" val="1914584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5B8506-AB5B-4DB0-9788-BC55DC7A68A4}"/>
              </a:ext>
            </a:extLst>
          </p:cNvPr>
          <p:cNvSpPr>
            <a:spLocks noGrp="1"/>
          </p:cNvSpPr>
          <p:nvPr>
            <p:ph idx="1"/>
          </p:nvPr>
        </p:nvSpPr>
        <p:spPr>
          <a:xfrm>
            <a:off x="224118" y="268941"/>
            <a:ext cx="10791753" cy="6320118"/>
          </a:xfrm>
        </p:spPr>
        <p:txBody>
          <a:bodyPr>
            <a:normAutofit fontScale="92500" lnSpcReduction="20000"/>
          </a:bodyPr>
          <a:lstStyle/>
          <a:p>
            <a:r>
              <a:rPr lang="en-US" b="1" dirty="0">
                <a:solidFill>
                  <a:schemeClr val="tx1"/>
                </a:solidFill>
              </a:rPr>
              <a:t>Activity: Brainwriting – “6-3-5 Method”</a:t>
            </a:r>
          </a:p>
          <a:p>
            <a:r>
              <a:rPr lang="en-US" b="1" dirty="0">
                <a:solidFill>
                  <a:schemeClr val="tx1"/>
                </a:solidFill>
              </a:rPr>
              <a:t>Objective:</a:t>
            </a:r>
            <a:br>
              <a:rPr lang="en-US" dirty="0">
                <a:solidFill>
                  <a:schemeClr val="tx1"/>
                </a:solidFill>
              </a:rPr>
            </a:br>
            <a:r>
              <a:rPr lang="en-US" dirty="0">
                <a:solidFill>
                  <a:schemeClr val="tx1"/>
                </a:solidFill>
              </a:rPr>
              <a:t>To generate a large number of business ideas or solutions </a:t>
            </a:r>
            <a:r>
              <a:rPr lang="en-US" b="1" dirty="0">
                <a:solidFill>
                  <a:schemeClr val="tx1"/>
                </a:solidFill>
              </a:rPr>
              <a:t>silently and collaboratively</a:t>
            </a:r>
            <a:r>
              <a:rPr lang="en-US" dirty="0">
                <a:solidFill>
                  <a:schemeClr val="tx1"/>
                </a:solidFill>
              </a:rPr>
              <a:t> in a short time.</a:t>
            </a:r>
          </a:p>
          <a:p>
            <a:r>
              <a:rPr lang="en-US" b="1" dirty="0">
                <a:solidFill>
                  <a:schemeClr val="tx1"/>
                </a:solidFill>
              </a:rPr>
              <a:t>Instructions (6-3-5 Method):</a:t>
            </a:r>
          </a:p>
          <a:p>
            <a:pPr>
              <a:buFont typeface="Arial" panose="020B0604020202020204" pitchFamily="34" charset="0"/>
              <a:buChar char="•"/>
            </a:pPr>
            <a:r>
              <a:rPr lang="en-US" b="1" dirty="0">
                <a:solidFill>
                  <a:schemeClr val="tx1"/>
                </a:solidFill>
              </a:rPr>
              <a:t>6 Participants</a:t>
            </a:r>
            <a:r>
              <a:rPr lang="en-US" dirty="0">
                <a:solidFill>
                  <a:schemeClr val="tx1"/>
                </a:solidFill>
              </a:rPr>
              <a:t> (can be in groups of 6)</a:t>
            </a:r>
          </a:p>
          <a:p>
            <a:pPr>
              <a:buFont typeface="Arial" panose="020B0604020202020204" pitchFamily="34" charset="0"/>
              <a:buChar char="•"/>
            </a:pPr>
            <a:r>
              <a:rPr lang="en-US" b="1" dirty="0">
                <a:solidFill>
                  <a:schemeClr val="tx1"/>
                </a:solidFill>
              </a:rPr>
              <a:t>3 Ideas per person</a:t>
            </a:r>
            <a:endParaRPr lang="en-US" dirty="0">
              <a:solidFill>
                <a:schemeClr val="tx1"/>
              </a:solidFill>
            </a:endParaRPr>
          </a:p>
          <a:p>
            <a:pPr>
              <a:buFont typeface="Arial" panose="020B0604020202020204" pitchFamily="34" charset="0"/>
              <a:buChar char="•"/>
            </a:pPr>
            <a:r>
              <a:rPr lang="en-US" b="1" dirty="0">
                <a:solidFill>
                  <a:schemeClr val="tx1"/>
                </a:solidFill>
              </a:rPr>
              <a:t>5 Rounds</a:t>
            </a:r>
            <a:r>
              <a:rPr lang="en-US" dirty="0">
                <a:solidFill>
                  <a:schemeClr val="tx1"/>
                </a:solidFill>
              </a:rPr>
              <a:t> of idea sharing</a:t>
            </a:r>
          </a:p>
          <a:p>
            <a:r>
              <a:rPr lang="en-US" b="1" dirty="0">
                <a:solidFill>
                  <a:schemeClr val="tx1"/>
                </a:solidFill>
              </a:rPr>
              <a:t>🔄 Step-by-Step:</a:t>
            </a:r>
          </a:p>
          <a:p>
            <a:pPr>
              <a:buFont typeface="+mj-lt"/>
              <a:buAutoNum type="arabicPeriod"/>
            </a:pPr>
            <a:r>
              <a:rPr lang="en-US" b="1" dirty="0">
                <a:solidFill>
                  <a:schemeClr val="tx1"/>
                </a:solidFill>
              </a:rPr>
              <a:t>Topic:</a:t>
            </a:r>
            <a:br>
              <a:rPr lang="en-US" dirty="0">
                <a:solidFill>
                  <a:schemeClr val="tx1"/>
                </a:solidFill>
              </a:rPr>
            </a:br>
            <a:r>
              <a:rPr lang="en-US" dirty="0">
                <a:solidFill>
                  <a:schemeClr val="tx1"/>
                </a:solidFill>
              </a:rPr>
              <a:t>Provide a challenge or prompt.</a:t>
            </a:r>
            <a:br>
              <a:rPr lang="en-US" dirty="0">
                <a:solidFill>
                  <a:schemeClr val="tx1"/>
                </a:solidFill>
              </a:rPr>
            </a:br>
            <a:r>
              <a:rPr lang="en-US" dirty="0">
                <a:solidFill>
                  <a:schemeClr val="tx1"/>
                </a:solidFill>
              </a:rPr>
              <a:t>👉 </a:t>
            </a:r>
            <a:r>
              <a:rPr lang="en-US" i="1" dirty="0">
                <a:solidFill>
                  <a:schemeClr val="tx1"/>
                </a:solidFill>
              </a:rPr>
              <a:t>Example:</a:t>
            </a:r>
            <a:r>
              <a:rPr lang="en-US" dirty="0">
                <a:solidFill>
                  <a:schemeClr val="tx1"/>
                </a:solidFill>
              </a:rPr>
              <a:t> "How can we reduce plastic use in daily life?" or "Business ideas using AI for students."</a:t>
            </a:r>
          </a:p>
          <a:p>
            <a:pPr>
              <a:buFont typeface="+mj-lt"/>
              <a:buAutoNum type="arabicPeriod"/>
            </a:pPr>
            <a:r>
              <a:rPr lang="en-US" b="1" dirty="0">
                <a:solidFill>
                  <a:schemeClr val="tx1"/>
                </a:solidFill>
              </a:rPr>
              <a:t>Round 1 (5 minutes):</a:t>
            </a:r>
            <a:br>
              <a:rPr lang="en-US" dirty="0">
                <a:solidFill>
                  <a:schemeClr val="tx1"/>
                </a:solidFill>
              </a:rPr>
            </a:br>
            <a:r>
              <a:rPr lang="en-US" dirty="0">
                <a:solidFill>
                  <a:schemeClr val="tx1"/>
                </a:solidFill>
              </a:rPr>
              <a:t>Each participant writes </a:t>
            </a:r>
            <a:r>
              <a:rPr lang="en-US" b="1" dirty="0">
                <a:solidFill>
                  <a:schemeClr val="tx1"/>
                </a:solidFill>
              </a:rPr>
              <a:t>3 ideas</a:t>
            </a:r>
            <a:r>
              <a:rPr lang="en-US" dirty="0">
                <a:solidFill>
                  <a:schemeClr val="tx1"/>
                </a:solidFill>
              </a:rPr>
              <a:t> silently on a sheet of paper (no talking).</a:t>
            </a:r>
          </a:p>
          <a:p>
            <a:pPr>
              <a:buFont typeface="+mj-lt"/>
              <a:buAutoNum type="arabicPeriod"/>
            </a:pPr>
            <a:r>
              <a:rPr lang="en-US" b="1" dirty="0">
                <a:solidFill>
                  <a:schemeClr val="tx1"/>
                </a:solidFill>
              </a:rPr>
              <a:t>Pass &amp; Build (5 rounds):</a:t>
            </a:r>
            <a:br>
              <a:rPr lang="en-US" dirty="0">
                <a:solidFill>
                  <a:schemeClr val="tx1"/>
                </a:solidFill>
              </a:rPr>
            </a:br>
            <a:r>
              <a:rPr lang="en-US" dirty="0">
                <a:solidFill>
                  <a:schemeClr val="tx1"/>
                </a:solidFill>
              </a:rPr>
              <a:t>After 5 minutes, everyone </a:t>
            </a:r>
            <a:r>
              <a:rPr lang="en-US" b="1" dirty="0">
                <a:solidFill>
                  <a:schemeClr val="tx1"/>
                </a:solidFill>
              </a:rPr>
              <a:t>passes their sheet to the next person</a:t>
            </a:r>
            <a:r>
              <a:rPr lang="en-US" dirty="0">
                <a:solidFill>
                  <a:schemeClr val="tx1"/>
                </a:solidFill>
              </a:rPr>
              <a:t>. Each participant then:</a:t>
            </a:r>
          </a:p>
          <a:p>
            <a:pPr marL="742950" lvl="1" indent="-285750">
              <a:buFont typeface="+mj-lt"/>
              <a:buAutoNum type="arabicPeriod"/>
            </a:pPr>
            <a:r>
              <a:rPr lang="en-US" b="1" dirty="0">
                <a:solidFill>
                  <a:schemeClr val="tx1"/>
                </a:solidFill>
              </a:rPr>
              <a:t>Reads the previous ideas</a:t>
            </a:r>
            <a:endParaRPr lang="en-US" dirty="0">
              <a:solidFill>
                <a:schemeClr val="tx1"/>
              </a:solidFill>
            </a:endParaRPr>
          </a:p>
          <a:p>
            <a:pPr marL="742950" lvl="1" indent="-285750">
              <a:buFont typeface="+mj-lt"/>
              <a:buAutoNum type="arabicPeriod"/>
            </a:pPr>
            <a:r>
              <a:rPr lang="en-US" b="1" dirty="0">
                <a:solidFill>
                  <a:schemeClr val="tx1"/>
                </a:solidFill>
              </a:rPr>
              <a:t>Builds on or adds 3 new ideas</a:t>
            </a:r>
            <a:r>
              <a:rPr lang="en-US" dirty="0">
                <a:solidFill>
                  <a:schemeClr val="tx1"/>
                </a:solidFill>
              </a:rPr>
              <a:t> inspired by what’s already written</a:t>
            </a:r>
          </a:p>
          <a:p>
            <a:pPr>
              <a:buFont typeface="+mj-lt"/>
              <a:buAutoNum type="arabicPeriod"/>
            </a:pPr>
            <a:r>
              <a:rPr lang="en-US" b="1" dirty="0">
                <a:solidFill>
                  <a:schemeClr val="tx1"/>
                </a:solidFill>
              </a:rPr>
              <a:t>Repeat</a:t>
            </a:r>
            <a:r>
              <a:rPr lang="en-US" dirty="0">
                <a:solidFill>
                  <a:schemeClr val="tx1"/>
                </a:solidFill>
              </a:rPr>
              <a:t> for 5 rounds until the original sheet returns to its owner.</a:t>
            </a:r>
          </a:p>
          <a:p>
            <a:endParaRPr lang="en-IN" dirty="0">
              <a:solidFill>
                <a:schemeClr val="tx1"/>
              </a:solidFill>
            </a:endParaRPr>
          </a:p>
        </p:txBody>
      </p:sp>
    </p:spTree>
    <p:extLst>
      <p:ext uri="{BB962C8B-B14F-4D97-AF65-F5344CB8AC3E}">
        <p14:creationId xmlns:p14="http://schemas.microsoft.com/office/powerpoint/2010/main" val="3722957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8EDBB5A-FD99-41D4-AAC1-B319DBB4C0BE}"/>
              </a:ext>
            </a:extLst>
          </p:cNvPr>
          <p:cNvSpPr>
            <a:spLocks noGrp="1"/>
          </p:cNvSpPr>
          <p:nvPr>
            <p:ph type="title"/>
          </p:nvPr>
        </p:nvSpPr>
        <p:spPr/>
        <p:txBody>
          <a:bodyPr/>
          <a:lstStyle/>
          <a:p>
            <a:r>
              <a:rPr lang="en-IN" b="0" i="0" dirty="0">
                <a:solidFill>
                  <a:srgbClr val="001D35"/>
                </a:solidFill>
                <a:effectLst/>
                <a:latin typeface="Google Sans"/>
              </a:rPr>
              <a:t>Mind Mapping</a:t>
            </a:r>
            <a:br>
              <a:rPr lang="en-IN" dirty="0"/>
            </a:br>
            <a:endParaRPr lang="en-IN" dirty="0"/>
          </a:p>
        </p:txBody>
      </p:sp>
      <p:sp>
        <p:nvSpPr>
          <p:cNvPr id="6" name="Content Placeholder 5">
            <a:extLst>
              <a:ext uri="{FF2B5EF4-FFF2-40B4-BE49-F238E27FC236}">
                <a16:creationId xmlns:a16="http://schemas.microsoft.com/office/drawing/2014/main" id="{E7B48BB7-D073-4F5B-8427-E1E2D3200CD5}"/>
              </a:ext>
            </a:extLst>
          </p:cNvPr>
          <p:cNvSpPr>
            <a:spLocks noGrp="1"/>
          </p:cNvSpPr>
          <p:nvPr>
            <p:ph idx="1"/>
          </p:nvPr>
        </p:nvSpPr>
        <p:spPr>
          <a:xfrm>
            <a:off x="1080247" y="1582271"/>
            <a:ext cx="9872871" cy="4038600"/>
          </a:xfrm>
        </p:spPr>
        <p:txBody>
          <a:bodyPr>
            <a:normAutofit/>
          </a:bodyPr>
          <a:lstStyle/>
          <a:p>
            <a:pPr algn="just"/>
            <a:r>
              <a:rPr lang="en-US" b="0" i="0" dirty="0">
                <a:solidFill>
                  <a:srgbClr val="191918"/>
                </a:solidFill>
                <a:effectLst/>
                <a:latin typeface="Lyon Text"/>
              </a:rPr>
              <a:t>Mind mapping is more than just a visual outlining method. It’s a structured approach to organizing complex information and concepts. </a:t>
            </a:r>
          </a:p>
          <a:p>
            <a:pPr algn="just"/>
            <a:r>
              <a:rPr lang="en-US" b="0" i="0" dirty="0">
                <a:solidFill>
                  <a:srgbClr val="191918"/>
                </a:solidFill>
                <a:effectLst/>
                <a:latin typeface="Lyon Text"/>
              </a:rPr>
              <a:t>Imagine you’re launching a new product. To create a mind map, you’d write the product's name in the center of your outline. From there, you’d draw branches representing major categories, such as marketing, product design, and distribution. Next, you’d add sub-branches that detail specific actions or elements. </a:t>
            </a:r>
          </a:p>
          <a:p>
            <a:pPr algn="just"/>
            <a:r>
              <a:rPr lang="en-US" b="0" i="0" dirty="0">
                <a:solidFill>
                  <a:srgbClr val="191918"/>
                </a:solidFill>
                <a:effectLst/>
                <a:latin typeface="Lyon Text"/>
              </a:rPr>
              <a:t>This visual representation focuses on organizing every project detail, highlighting interdependencies, and ensuring teams see the big picture so they can collaborate effectively. It’s a useful way to plan complex projects while keeping sight of overarching objectives. </a:t>
            </a:r>
          </a:p>
          <a:p>
            <a:pPr marL="45720" indent="0" algn="just">
              <a:buNone/>
            </a:pPr>
            <a:endParaRPr lang="en-IN" dirty="0"/>
          </a:p>
        </p:txBody>
      </p:sp>
    </p:spTree>
    <p:extLst>
      <p:ext uri="{BB962C8B-B14F-4D97-AF65-F5344CB8AC3E}">
        <p14:creationId xmlns:p14="http://schemas.microsoft.com/office/powerpoint/2010/main" val="1764729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9DEF06-FD27-4781-8D13-F7894CFF91F6}"/>
              </a:ext>
            </a:extLst>
          </p:cNvPr>
          <p:cNvPicPr>
            <a:picLocks noChangeAspect="1"/>
          </p:cNvPicPr>
          <p:nvPr/>
        </p:nvPicPr>
        <p:blipFill>
          <a:blip r:embed="rId2"/>
          <a:stretch>
            <a:fillRect/>
          </a:stretch>
        </p:blipFill>
        <p:spPr>
          <a:xfrm>
            <a:off x="245051" y="0"/>
            <a:ext cx="11701897" cy="6858000"/>
          </a:xfrm>
          <a:prstGeom prst="rect">
            <a:avLst/>
          </a:prstGeom>
        </p:spPr>
      </p:pic>
    </p:spTree>
    <p:extLst>
      <p:ext uri="{BB962C8B-B14F-4D97-AF65-F5344CB8AC3E}">
        <p14:creationId xmlns:p14="http://schemas.microsoft.com/office/powerpoint/2010/main" val="3296797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50BE20-4D63-44A8-B890-9647485C90BE}"/>
              </a:ext>
            </a:extLst>
          </p:cNvPr>
          <p:cNvSpPr>
            <a:spLocks noGrp="1"/>
          </p:cNvSpPr>
          <p:nvPr>
            <p:ph idx="1"/>
          </p:nvPr>
        </p:nvSpPr>
        <p:spPr>
          <a:xfrm>
            <a:off x="222285" y="224118"/>
            <a:ext cx="11750079" cy="6409763"/>
          </a:xfrm>
        </p:spPr>
        <p:txBody>
          <a:bodyPr>
            <a:normAutofit fontScale="92500" lnSpcReduction="20000"/>
          </a:bodyPr>
          <a:lstStyle/>
          <a:p>
            <a:r>
              <a:rPr lang="en-US" sz="1400" b="1" dirty="0">
                <a:solidFill>
                  <a:schemeClr val="tx1"/>
                </a:solidFill>
              </a:rPr>
              <a:t>Mind Mapping Activity: “Start-Up Storm”</a:t>
            </a:r>
          </a:p>
          <a:p>
            <a:pPr marL="45720" indent="0">
              <a:buNone/>
            </a:pPr>
            <a:r>
              <a:rPr lang="en-US" sz="1400" b="1" dirty="0">
                <a:solidFill>
                  <a:schemeClr val="tx1"/>
                </a:solidFill>
              </a:rPr>
              <a:t>Objective:</a:t>
            </a:r>
            <a:br>
              <a:rPr lang="en-US" sz="1400" dirty="0">
                <a:solidFill>
                  <a:schemeClr val="tx1"/>
                </a:solidFill>
              </a:rPr>
            </a:br>
            <a:r>
              <a:rPr lang="en-US" sz="1400" dirty="0">
                <a:solidFill>
                  <a:schemeClr val="tx1"/>
                </a:solidFill>
              </a:rPr>
              <a:t>To help students explore and organize ideas around a business concept using mind mapping.</a:t>
            </a:r>
          </a:p>
          <a:p>
            <a:pPr marL="45720" indent="0">
              <a:buNone/>
            </a:pPr>
            <a:r>
              <a:rPr lang="en-US" sz="1400" b="1" dirty="0">
                <a:solidFill>
                  <a:schemeClr val="tx1"/>
                </a:solidFill>
              </a:rPr>
              <a:t>📝 Instructions:</a:t>
            </a:r>
          </a:p>
          <a:p>
            <a:pPr>
              <a:buFont typeface="+mj-lt"/>
              <a:buAutoNum type="arabicPeriod"/>
            </a:pPr>
            <a:r>
              <a:rPr lang="en-US" sz="1400" b="1" dirty="0">
                <a:solidFill>
                  <a:schemeClr val="tx1"/>
                </a:solidFill>
              </a:rPr>
              <a:t>Topic at the Center:</a:t>
            </a:r>
            <a:endParaRPr lang="en-US" sz="1400" dirty="0">
              <a:solidFill>
                <a:schemeClr val="tx1"/>
              </a:solidFill>
            </a:endParaRPr>
          </a:p>
          <a:p>
            <a:pPr marL="742950" lvl="1" indent="-285750">
              <a:buFont typeface="+mj-lt"/>
              <a:buAutoNum type="arabicPeriod"/>
            </a:pPr>
            <a:r>
              <a:rPr lang="en-US" sz="1400" dirty="0">
                <a:solidFill>
                  <a:schemeClr val="tx1"/>
                </a:solidFill>
              </a:rPr>
              <a:t>Each student (or group) to write a central idea in the middle of a blank page or chart paper.</a:t>
            </a:r>
            <a:br>
              <a:rPr lang="en-US" sz="1400" dirty="0">
                <a:solidFill>
                  <a:schemeClr val="tx1"/>
                </a:solidFill>
              </a:rPr>
            </a:br>
            <a:r>
              <a:rPr lang="en-US" sz="1400" dirty="0">
                <a:solidFill>
                  <a:schemeClr val="tx1"/>
                </a:solidFill>
              </a:rPr>
              <a:t>👉 Example: </a:t>
            </a:r>
            <a:r>
              <a:rPr lang="en-US" sz="1400" b="1" dirty="0">
                <a:solidFill>
                  <a:schemeClr val="tx1"/>
                </a:solidFill>
              </a:rPr>
              <a:t>"Healthy Food Startup"</a:t>
            </a:r>
            <a:endParaRPr lang="en-US" sz="1400" dirty="0">
              <a:solidFill>
                <a:schemeClr val="tx1"/>
              </a:solidFill>
            </a:endParaRPr>
          </a:p>
          <a:p>
            <a:pPr>
              <a:buFont typeface="+mj-lt"/>
              <a:buAutoNum type="arabicPeriod"/>
            </a:pPr>
            <a:r>
              <a:rPr lang="en-US" sz="1400" b="1" dirty="0">
                <a:solidFill>
                  <a:schemeClr val="tx1"/>
                </a:solidFill>
              </a:rPr>
              <a:t>Main Branches (First Layer):</a:t>
            </a:r>
            <a:endParaRPr lang="en-US" sz="1400" dirty="0">
              <a:solidFill>
                <a:schemeClr val="tx1"/>
              </a:solidFill>
            </a:endParaRPr>
          </a:p>
          <a:p>
            <a:pPr marL="742950" lvl="1" indent="-285750">
              <a:buFont typeface="+mj-lt"/>
              <a:buAutoNum type="arabicPeriod"/>
            </a:pPr>
            <a:r>
              <a:rPr lang="en-US" sz="1400" dirty="0">
                <a:solidFill>
                  <a:schemeClr val="tx1"/>
                </a:solidFill>
              </a:rPr>
              <a:t>From the center, draw 4–6 main branches representing key areas such as:</a:t>
            </a:r>
          </a:p>
          <a:p>
            <a:pPr marL="1143000" lvl="2" indent="-228600">
              <a:buFont typeface="+mj-lt"/>
              <a:buAutoNum type="arabicPeriod"/>
            </a:pPr>
            <a:r>
              <a:rPr lang="en-US" sz="1400" dirty="0">
                <a:solidFill>
                  <a:schemeClr val="tx1"/>
                </a:solidFill>
              </a:rPr>
              <a:t>Target Market</a:t>
            </a:r>
          </a:p>
          <a:p>
            <a:pPr marL="1143000" lvl="2" indent="-228600">
              <a:buFont typeface="+mj-lt"/>
              <a:buAutoNum type="arabicPeriod"/>
            </a:pPr>
            <a:r>
              <a:rPr lang="en-US" sz="1400" dirty="0">
                <a:solidFill>
                  <a:schemeClr val="tx1"/>
                </a:solidFill>
              </a:rPr>
              <a:t>Products/Services</a:t>
            </a:r>
          </a:p>
          <a:p>
            <a:pPr marL="1143000" lvl="2" indent="-228600">
              <a:buFont typeface="+mj-lt"/>
              <a:buAutoNum type="arabicPeriod"/>
            </a:pPr>
            <a:r>
              <a:rPr lang="en-US" sz="1400" dirty="0">
                <a:solidFill>
                  <a:schemeClr val="tx1"/>
                </a:solidFill>
              </a:rPr>
              <a:t>Marketing Strategies</a:t>
            </a:r>
          </a:p>
          <a:p>
            <a:pPr marL="1143000" lvl="2" indent="-228600">
              <a:buFont typeface="+mj-lt"/>
              <a:buAutoNum type="arabicPeriod"/>
            </a:pPr>
            <a:r>
              <a:rPr lang="en-US" sz="1400" dirty="0">
                <a:solidFill>
                  <a:schemeClr val="tx1"/>
                </a:solidFill>
              </a:rPr>
              <a:t>Revenue Model</a:t>
            </a:r>
          </a:p>
          <a:p>
            <a:pPr marL="1143000" lvl="2" indent="-228600">
              <a:buFont typeface="+mj-lt"/>
              <a:buAutoNum type="arabicPeriod"/>
            </a:pPr>
            <a:r>
              <a:rPr lang="en-US" sz="1400" dirty="0">
                <a:solidFill>
                  <a:schemeClr val="tx1"/>
                </a:solidFill>
              </a:rPr>
              <a:t>Distribution Channels</a:t>
            </a:r>
          </a:p>
          <a:p>
            <a:pPr marL="1143000" lvl="2" indent="-228600">
              <a:buFont typeface="+mj-lt"/>
              <a:buAutoNum type="arabicPeriod"/>
            </a:pPr>
            <a:r>
              <a:rPr lang="en-US" sz="1400" dirty="0">
                <a:solidFill>
                  <a:schemeClr val="tx1"/>
                </a:solidFill>
              </a:rPr>
              <a:t>Technology Use</a:t>
            </a:r>
          </a:p>
          <a:p>
            <a:pPr>
              <a:buFont typeface="+mj-lt"/>
              <a:buAutoNum type="arabicPeriod"/>
            </a:pPr>
            <a:r>
              <a:rPr lang="en-US" sz="1400" b="1" dirty="0">
                <a:solidFill>
                  <a:schemeClr val="tx1"/>
                </a:solidFill>
              </a:rPr>
              <a:t>Sub-branches (Second Layer):</a:t>
            </a:r>
            <a:endParaRPr lang="en-US" sz="1400" dirty="0">
              <a:solidFill>
                <a:schemeClr val="tx1"/>
              </a:solidFill>
            </a:endParaRPr>
          </a:p>
          <a:p>
            <a:pPr marL="742950" lvl="1" indent="-285750">
              <a:buFont typeface="+mj-lt"/>
              <a:buAutoNum type="arabicPeriod"/>
            </a:pPr>
            <a:r>
              <a:rPr lang="en-US" sz="1400" dirty="0">
                <a:solidFill>
                  <a:schemeClr val="tx1"/>
                </a:solidFill>
              </a:rPr>
              <a:t>Expand each main branch with sub-ideas.</a:t>
            </a:r>
            <a:br>
              <a:rPr lang="en-US" sz="1400" dirty="0">
                <a:solidFill>
                  <a:schemeClr val="tx1"/>
                </a:solidFill>
              </a:rPr>
            </a:br>
            <a:r>
              <a:rPr lang="en-US" sz="1400" dirty="0">
                <a:solidFill>
                  <a:schemeClr val="tx1"/>
                </a:solidFill>
              </a:rPr>
              <a:t>👉 For example, under </a:t>
            </a:r>
            <a:r>
              <a:rPr lang="en-US" sz="1400" b="1" dirty="0">
                <a:solidFill>
                  <a:schemeClr val="tx1"/>
                </a:solidFill>
              </a:rPr>
              <a:t>Target Market</a:t>
            </a:r>
            <a:r>
              <a:rPr lang="en-US" sz="1400" dirty="0">
                <a:solidFill>
                  <a:schemeClr val="tx1"/>
                </a:solidFill>
              </a:rPr>
              <a:t>, sub-branches could be:</a:t>
            </a:r>
          </a:p>
          <a:p>
            <a:pPr marL="1143000" lvl="2" indent="-228600">
              <a:buFont typeface="+mj-lt"/>
              <a:buAutoNum type="arabicPeriod"/>
            </a:pPr>
            <a:r>
              <a:rPr lang="en-US" sz="1400" dirty="0">
                <a:solidFill>
                  <a:schemeClr val="tx1"/>
                </a:solidFill>
              </a:rPr>
              <a:t>Office goers</a:t>
            </a:r>
          </a:p>
          <a:p>
            <a:pPr marL="1143000" lvl="2" indent="-228600">
              <a:buFont typeface="+mj-lt"/>
              <a:buAutoNum type="arabicPeriod"/>
            </a:pPr>
            <a:r>
              <a:rPr lang="en-US" sz="1400" dirty="0">
                <a:solidFill>
                  <a:schemeClr val="tx1"/>
                </a:solidFill>
              </a:rPr>
              <a:t>Gym enthusiasts</a:t>
            </a:r>
          </a:p>
          <a:p>
            <a:pPr marL="1143000" lvl="2" indent="-228600">
              <a:buFont typeface="+mj-lt"/>
              <a:buAutoNum type="arabicPeriod"/>
            </a:pPr>
            <a:r>
              <a:rPr lang="en-US" sz="1400" dirty="0">
                <a:solidFill>
                  <a:schemeClr val="tx1"/>
                </a:solidFill>
              </a:rPr>
              <a:t>Students</a:t>
            </a:r>
          </a:p>
          <a:p>
            <a:pPr>
              <a:buFont typeface="+mj-lt"/>
              <a:buAutoNum type="arabicPeriod"/>
            </a:pPr>
            <a:r>
              <a:rPr lang="en-US" sz="1400" b="1" dirty="0">
                <a:solidFill>
                  <a:schemeClr val="tx1"/>
                </a:solidFill>
              </a:rPr>
              <a:t>Use Color &amp; Visuals:</a:t>
            </a:r>
            <a:endParaRPr lang="en-US" sz="1400" dirty="0">
              <a:solidFill>
                <a:schemeClr val="tx1"/>
              </a:solidFill>
            </a:endParaRPr>
          </a:p>
          <a:p>
            <a:pPr marL="742950" lvl="1" indent="-285750">
              <a:buFont typeface="+mj-lt"/>
              <a:buAutoNum type="arabicPeriod"/>
            </a:pPr>
            <a:r>
              <a:rPr lang="en-US" sz="1400" dirty="0">
                <a:solidFill>
                  <a:schemeClr val="tx1"/>
                </a:solidFill>
              </a:rPr>
              <a:t>Encourage use of colors, icons, or doodles to make the map more memorable and engaging.</a:t>
            </a:r>
          </a:p>
          <a:p>
            <a:pPr>
              <a:buFont typeface="+mj-lt"/>
              <a:buAutoNum type="arabicPeriod"/>
            </a:pPr>
            <a:r>
              <a:rPr lang="en-US" sz="1400" b="1" dirty="0">
                <a:solidFill>
                  <a:schemeClr val="tx1"/>
                </a:solidFill>
              </a:rPr>
              <a:t>Presentation &amp; Discussion:</a:t>
            </a:r>
            <a:endParaRPr lang="en-US" sz="1400" dirty="0">
              <a:solidFill>
                <a:schemeClr val="tx1"/>
              </a:solidFill>
            </a:endParaRPr>
          </a:p>
          <a:p>
            <a:pPr marL="742950" lvl="1" indent="-285750">
              <a:buFont typeface="+mj-lt"/>
              <a:buAutoNum type="arabicPeriod"/>
            </a:pPr>
            <a:r>
              <a:rPr lang="en-US" sz="1400" dirty="0">
                <a:solidFill>
                  <a:schemeClr val="tx1"/>
                </a:solidFill>
              </a:rPr>
              <a:t>Have individuals or groups present their mind maps to the class.</a:t>
            </a:r>
          </a:p>
          <a:p>
            <a:pPr marL="742950" lvl="1" indent="-285750">
              <a:buFont typeface="+mj-lt"/>
              <a:buAutoNum type="arabicPeriod"/>
            </a:pPr>
            <a:r>
              <a:rPr lang="en-US" sz="1400" dirty="0">
                <a:solidFill>
                  <a:schemeClr val="tx1"/>
                </a:solidFill>
              </a:rPr>
              <a:t>Discuss the diversity of approaches and highlight creative angles.</a:t>
            </a:r>
          </a:p>
          <a:p>
            <a:endParaRPr lang="en-IN" sz="700" dirty="0"/>
          </a:p>
        </p:txBody>
      </p:sp>
    </p:spTree>
    <p:extLst>
      <p:ext uri="{BB962C8B-B14F-4D97-AF65-F5344CB8AC3E}">
        <p14:creationId xmlns:p14="http://schemas.microsoft.com/office/powerpoint/2010/main" val="3232040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95177-73F3-4A9C-B325-5E83D686FBD0}"/>
              </a:ext>
            </a:extLst>
          </p:cNvPr>
          <p:cNvSpPr>
            <a:spLocks noGrp="1"/>
          </p:cNvSpPr>
          <p:nvPr>
            <p:ph type="title"/>
          </p:nvPr>
        </p:nvSpPr>
        <p:spPr/>
        <p:txBody>
          <a:bodyPr/>
          <a:lstStyle/>
          <a:p>
            <a:r>
              <a:rPr lang="en-IN" b="1" dirty="0">
                <a:solidFill>
                  <a:srgbClr val="191918"/>
                </a:solidFill>
                <a:effectLst/>
                <a:latin typeface="NotionInter"/>
              </a:rPr>
              <a:t>SCAMPER</a:t>
            </a:r>
            <a:br>
              <a:rPr lang="en-IN" b="1" dirty="0">
                <a:solidFill>
                  <a:srgbClr val="191918"/>
                </a:solidFill>
                <a:effectLst/>
                <a:latin typeface="NotionInter"/>
              </a:rPr>
            </a:br>
            <a:endParaRPr lang="en-IN" dirty="0"/>
          </a:p>
        </p:txBody>
      </p:sp>
      <p:sp>
        <p:nvSpPr>
          <p:cNvPr id="8" name="Content Placeholder 7">
            <a:extLst>
              <a:ext uri="{FF2B5EF4-FFF2-40B4-BE49-F238E27FC236}">
                <a16:creationId xmlns:a16="http://schemas.microsoft.com/office/drawing/2014/main" id="{1AE19ADB-1B4F-4CAB-826D-9BFBE8E45C73}"/>
              </a:ext>
            </a:extLst>
          </p:cNvPr>
          <p:cNvSpPr>
            <a:spLocks noGrp="1"/>
          </p:cNvSpPr>
          <p:nvPr>
            <p:ph idx="1"/>
          </p:nvPr>
        </p:nvSpPr>
        <p:spPr>
          <a:xfrm>
            <a:off x="1143000" y="1721224"/>
            <a:ext cx="9872871" cy="4374776"/>
          </a:xfrm>
        </p:spPr>
        <p:txBody>
          <a:bodyPr/>
          <a:lstStyle/>
          <a:p>
            <a:pPr algn="just"/>
            <a:r>
              <a:rPr lang="en-US" b="0" i="0" dirty="0">
                <a:solidFill>
                  <a:srgbClr val="191918"/>
                </a:solidFill>
                <a:effectLst/>
                <a:latin typeface="Lyon Text"/>
              </a:rPr>
              <a:t>SCAMPER stands for substitute, combine, adapt, modify, put to another use, eliminate, and reverse. It’s a technique to reimagine existing ideas, services, and products. For teams aiming to refresh their offerings, SCAMPER is a structured way to dream up enhancements and new directions. </a:t>
            </a:r>
          </a:p>
          <a:p>
            <a:pPr algn="just"/>
            <a:r>
              <a:rPr lang="en-US" b="0" i="0" dirty="0">
                <a:solidFill>
                  <a:srgbClr val="191918"/>
                </a:solidFill>
                <a:effectLst/>
                <a:latin typeface="Lyon Text"/>
              </a:rPr>
              <a:t>Imagine a product development team brainstorming ways to revitalize an old product to meet current consumer trends. Using the SCAMPER method, they explore multiple options for reinvention. The “substitute” prompt might lead to swapping a material for another with a lower cost, while “adapt” might stimulate ideas for tweaking the product to cater to a new audience. </a:t>
            </a:r>
          </a:p>
          <a:p>
            <a:pPr algn="just"/>
            <a:endParaRPr lang="en-IN" dirty="0"/>
          </a:p>
        </p:txBody>
      </p:sp>
    </p:spTree>
    <p:extLst>
      <p:ext uri="{BB962C8B-B14F-4D97-AF65-F5344CB8AC3E}">
        <p14:creationId xmlns:p14="http://schemas.microsoft.com/office/powerpoint/2010/main" val="3142851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66F8F9C-B82F-437B-9137-A91F3574A64A}"/>
              </a:ext>
            </a:extLst>
          </p:cNvPr>
          <p:cNvSpPr txBox="1"/>
          <p:nvPr/>
        </p:nvSpPr>
        <p:spPr>
          <a:xfrm>
            <a:off x="259976" y="286871"/>
            <a:ext cx="11591365" cy="1200329"/>
          </a:xfrm>
          <a:prstGeom prst="rect">
            <a:avLst/>
          </a:prstGeom>
          <a:noFill/>
        </p:spPr>
        <p:txBody>
          <a:bodyPr wrap="square" rtlCol="0">
            <a:spAutoFit/>
          </a:bodyPr>
          <a:lstStyle/>
          <a:p>
            <a:r>
              <a:rPr lang="en-US" b="1" dirty="0"/>
              <a:t>Activity: Innovate with SCAMPER</a:t>
            </a:r>
          </a:p>
          <a:p>
            <a:r>
              <a:rPr lang="en-US" b="1" dirty="0"/>
              <a:t>Objective:</a:t>
            </a:r>
            <a:br>
              <a:rPr lang="en-US" dirty="0"/>
            </a:br>
            <a:r>
              <a:rPr lang="en-US" dirty="0"/>
              <a:t>To help students think creatively and improve an existing product, service, or idea using the </a:t>
            </a:r>
            <a:r>
              <a:rPr lang="en-US" b="1" dirty="0"/>
              <a:t>SCAMPER</a:t>
            </a:r>
            <a:r>
              <a:rPr lang="en-US" dirty="0"/>
              <a:t> technique.</a:t>
            </a:r>
          </a:p>
          <a:p>
            <a:endParaRPr lang="en-IN" dirty="0"/>
          </a:p>
        </p:txBody>
      </p:sp>
      <p:graphicFrame>
        <p:nvGraphicFramePr>
          <p:cNvPr id="14" name="Table 13">
            <a:extLst>
              <a:ext uri="{FF2B5EF4-FFF2-40B4-BE49-F238E27FC236}">
                <a16:creationId xmlns:a16="http://schemas.microsoft.com/office/drawing/2014/main" id="{CF3AD0BF-FB69-4D35-A2A2-4EF849A89B29}"/>
              </a:ext>
            </a:extLst>
          </p:cNvPr>
          <p:cNvGraphicFramePr>
            <a:graphicFrameLocks noGrp="1"/>
          </p:cNvGraphicFramePr>
          <p:nvPr>
            <p:extLst>
              <p:ext uri="{D42A27DB-BD31-4B8C-83A1-F6EECF244321}">
                <p14:modId xmlns:p14="http://schemas.microsoft.com/office/powerpoint/2010/main" val="1683364501"/>
              </p:ext>
            </p:extLst>
          </p:nvPr>
        </p:nvGraphicFramePr>
        <p:xfrm>
          <a:off x="954742" y="2196353"/>
          <a:ext cx="9872662" cy="3199952"/>
        </p:xfrm>
        <a:graphic>
          <a:graphicData uri="http://schemas.openxmlformats.org/drawingml/2006/table">
            <a:tbl>
              <a:tblPr/>
              <a:tblGrid>
                <a:gridCol w="4936331">
                  <a:extLst>
                    <a:ext uri="{9D8B030D-6E8A-4147-A177-3AD203B41FA5}">
                      <a16:colId xmlns:a16="http://schemas.microsoft.com/office/drawing/2014/main" val="3069362156"/>
                    </a:ext>
                  </a:extLst>
                </a:gridCol>
                <a:gridCol w="4936331">
                  <a:extLst>
                    <a:ext uri="{9D8B030D-6E8A-4147-A177-3AD203B41FA5}">
                      <a16:colId xmlns:a16="http://schemas.microsoft.com/office/drawing/2014/main" val="114395148"/>
                    </a:ext>
                  </a:extLst>
                </a:gridCol>
              </a:tblGrid>
              <a:tr h="399994">
                <a:tc>
                  <a:txBody>
                    <a:bodyPr/>
                    <a:lstStyle/>
                    <a:p>
                      <a:r>
                        <a:rPr lang="en-IN" sz="1800" dirty="0"/>
                        <a:t>SCAMPER Prompt</a:t>
                      </a:r>
                    </a:p>
                  </a:txBody>
                  <a:tcPr anchor="ctr">
                    <a:lnL>
                      <a:noFill/>
                    </a:lnL>
                    <a:lnR>
                      <a:noFill/>
                    </a:lnR>
                    <a:lnT>
                      <a:noFill/>
                    </a:lnT>
                    <a:lnB>
                      <a:noFill/>
                    </a:lnB>
                  </a:tcPr>
                </a:tc>
                <a:tc>
                  <a:txBody>
                    <a:bodyPr/>
                    <a:lstStyle/>
                    <a:p>
                      <a:r>
                        <a:rPr lang="en-IN" sz="1800"/>
                        <a:t>Guiding Question Example</a:t>
                      </a:r>
                    </a:p>
                  </a:txBody>
                  <a:tcPr anchor="ctr">
                    <a:lnL>
                      <a:noFill/>
                    </a:lnL>
                    <a:lnR>
                      <a:noFill/>
                    </a:lnR>
                    <a:lnT>
                      <a:noFill/>
                    </a:lnT>
                    <a:lnB>
                      <a:noFill/>
                    </a:lnB>
                  </a:tcPr>
                </a:tc>
                <a:extLst>
                  <a:ext uri="{0D108BD9-81ED-4DB2-BD59-A6C34878D82A}">
                    <a16:rowId xmlns:a16="http://schemas.microsoft.com/office/drawing/2014/main" val="3922375049"/>
                  </a:ext>
                </a:extLst>
              </a:tr>
              <a:tr h="399994">
                <a:tc>
                  <a:txBody>
                    <a:bodyPr/>
                    <a:lstStyle/>
                    <a:p>
                      <a:r>
                        <a:rPr lang="en-IN" sz="1800" b="1" dirty="0"/>
                        <a:t>S</a:t>
                      </a:r>
                      <a:r>
                        <a:rPr lang="en-IN" sz="1800" dirty="0"/>
                        <a:t> – Substitute</a:t>
                      </a:r>
                    </a:p>
                  </a:txBody>
                  <a:tcPr anchor="ctr">
                    <a:lnL>
                      <a:noFill/>
                    </a:lnL>
                    <a:lnR>
                      <a:noFill/>
                    </a:lnR>
                    <a:lnT>
                      <a:noFill/>
                    </a:lnT>
                    <a:lnB>
                      <a:noFill/>
                    </a:lnB>
                  </a:tcPr>
                </a:tc>
                <a:tc>
                  <a:txBody>
                    <a:bodyPr/>
                    <a:lstStyle/>
                    <a:p>
                      <a:r>
                        <a:rPr lang="en-US" sz="1800"/>
                        <a:t>What can we replace? (materials, parts, people?)</a:t>
                      </a:r>
                    </a:p>
                  </a:txBody>
                  <a:tcPr anchor="ctr">
                    <a:lnL>
                      <a:noFill/>
                    </a:lnL>
                    <a:lnR>
                      <a:noFill/>
                    </a:lnR>
                    <a:lnT>
                      <a:noFill/>
                    </a:lnT>
                    <a:lnB>
                      <a:noFill/>
                    </a:lnB>
                  </a:tcPr>
                </a:tc>
                <a:extLst>
                  <a:ext uri="{0D108BD9-81ED-4DB2-BD59-A6C34878D82A}">
                    <a16:rowId xmlns:a16="http://schemas.microsoft.com/office/drawing/2014/main" val="414454248"/>
                  </a:ext>
                </a:extLst>
              </a:tr>
              <a:tr h="399994">
                <a:tc>
                  <a:txBody>
                    <a:bodyPr/>
                    <a:lstStyle/>
                    <a:p>
                      <a:r>
                        <a:rPr lang="en-IN" sz="1800" b="1"/>
                        <a:t>C</a:t>
                      </a:r>
                      <a:r>
                        <a:rPr lang="en-IN" sz="1800"/>
                        <a:t> – Combine</a:t>
                      </a:r>
                    </a:p>
                  </a:txBody>
                  <a:tcPr anchor="ctr">
                    <a:lnL>
                      <a:noFill/>
                    </a:lnL>
                    <a:lnR>
                      <a:noFill/>
                    </a:lnR>
                    <a:lnT>
                      <a:noFill/>
                    </a:lnT>
                    <a:lnB>
                      <a:noFill/>
                    </a:lnB>
                  </a:tcPr>
                </a:tc>
                <a:tc>
                  <a:txBody>
                    <a:bodyPr/>
                    <a:lstStyle/>
                    <a:p>
                      <a:r>
                        <a:rPr lang="en-US" sz="1800"/>
                        <a:t>What can we combine with this product?</a:t>
                      </a:r>
                    </a:p>
                  </a:txBody>
                  <a:tcPr anchor="ctr">
                    <a:lnL>
                      <a:noFill/>
                    </a:lnL>
                    <a:lnR>
                      <a:noFill/>
                    </a:lnR>
                    <a:lnT>
                      <a:noFill/>
                    </a:lnT>
                    <a:lnB>
                      <a:noFill/>
                    </a:lnB>
                  </a:tcPr>
                </a:tc>
                <a:extLst>
                  <a:ext uri="{0D108BD9-81ED-4DB2-BD59-A6C34878D82A}">
                    <a16:rowId xmlns:a16="http://schemas.microsoft.com/office/drawing/2014/main" val="2229460710"/>
                  </a:ext>
                </a:extLst>
              </a:tr>
              <a:tr h="399994">
                <a:tc>
                  <a:txBody>
                    <a:bodyPr/>
                    <a:lstStyle/>
                    <a:p>
                      <a:r>
                        <a:rPr lang="en-IN" sz="1800" b="1"/>
                        <a:t>A</a:t>
                      </a:r>
                      <a:r>
                        <a:rPr lang="en-IN" sz="1800"/>
                        <a:t> – Adapt</a:t>
                      </a:r>
                    </a:p>
                  </a:txBody>
                  <a:tcPr anchor="ctr">
                    <a:lnL>
                      <a:noFill/>
                    </a:lnL>
                    <a:lnR>
                      <a:noFill/>
                    </a:lnR>
                    <a:lnT>
                      <a:noFill/>
                    </a:lnT>
                    <a:lnB>
                      <a:noFill/>
                    </a:lnB>
                  </a:tcPr>
                </a:tc>
                <a:tc>
                  <a:txBody>
                    <a:bodyPr/>
                    <a:lstStyle/>
                    <a:p>
                      <a:r>
                        <a:rPr lang="en-US" sz="1800"/>
                        <a:t>What can we adapt from something else?</a:t>
                      </a:r>
                    </a:p>
                  </a:txBody>
                  <a:tcPr anchor="ctr">
                    <a:lnL>
                      <a:noFill/>
                    </a:lnL>
                    <a:lnR>
                      <a:noFill/>
                    </a:lnR>
                    <a:lnT>
                      <a:noFill/>
                    </a:lnT>
                    <a:lnB>
                      <a:noFill/>
                    </a:lnB>
                  </a:tcPr>
                </a:tc>
                <a:extLst>
                  <a:ext uri="{0D108BD9-81ED-4DB2-BD59-A6C34878D82A}">
                    <a16:rowId xmlns:a16="http://schemas.microsoft.com/office/drawing/2014/main" val="648905137"/>
                  </a:ext>
                </a:extLst>
              </a:tr>
              <a:tr h="399994">
                <a:tc>
                  <a:txBody>
                    <a:bodyPr/>
                    <a:lstStyle/>
                    <a:p>
                      <a:r>
                        <a:rPr lang="en-IN" sz="1800" b="1"/>
                        <a:t>M</a:t>
                      </a:r>
                      <a:r>
                        <a:rPr lang="en-IN" sz="1800"/>
                        <a:t> – Modify</a:t>
                      </a:r>
                    </a:p>
                  </a:txBody>
                  <a:tcPr anchor="ctr">
                    <a:lnL>
                      <a:noFill/>
                    </a:lnL>
                    <a:lnR>
                      <a:noFill/>
                    </a:lnR>
                    <a:lnT>
                      <a:noFill/>
                    </a:lnT>
                    <a:lnB>
                      <a:noFill/>
                    </a:lnB>
                  </a:tcPr>
                </a:tc>
                <a:tc>
                  <a:txBody>
                    <a:bodyPr/>
                    <a:lstStyle/>
                    <a:p>
                      <a:r>
                        <a:rPr lang="en-US" sz="1800"/>
                        <a:t>What can we change in shape, size, appearance?</a:t>
                      </a:r>
                    </a:p>
                  </a:txBody>
                  <a:tcPr anchor="ctr">
                    <a:lnL>
                      <a:noFill/>
                    </a:lnL>
                    <a:lnR>
                      <a:noFill/>
                    </a:lnR>
                    <a:lnT>
                      <a:noFill/>
                    </a:lnT>
                    <a:lnB>
                      <a:noFill/>
                    </a:lnB>
                  </a:tcPr>
                </a:tc>
                <a:extLst>
                  <a:ext uri="{0D108BD9-81ED-4DB2-BD59-A6C34878D82A}">
                    <a16:rowId xmlns:a16="http://schemas.microsoft.com/office/drawing/2014/main" val="376382251"/>
                  </a:ext>
                </a:extLst>
              </a:tr>
              <a:tr h="399994">
                <a:tc>
                  <a:txBody>
                    <a:bodyPr/>
                    <a:lstStyle/>
                    <a:p>
                      <a:r>
                        <a:rPr lang="en-US" sz="1800" b="1"/>
                        <a:t>P</a:t>
                      </a:r>
                      <a:r>
                        <a:rPr lang="en-US" sz="1800"/>
                        <a:t> – Put to Other Use</a:t>
                      </a:r>
                    </a:p>
                  </a:txBody>
                  <a:tcPr anchor="ctr">
                    <a:lnL>
                      <a:noFill/>
                    </a:lnL>
                    <a:lnR>
                      <a:noFill/>
                    </a:lnR>
                    <a:lnT>
                      <a:noFill/>
                    </a:lnT>
                    <a:lnB>
                      <a:noFill/>
                    </a:lnB>
                  </a:tcPr>
                </a:tc>
                <a:tc>
                  <a:txBody>
                    <a:bodyPr/>
                    <a:lstStyle/>
                    <a:p>
                      <a:r>
                        <a:rPr lang="en-US" sz="1800"/>
                        <a:t>Can it be used for something else entirely?</a:t>
                      </a:r>
                    </a:p>
                  </a:txBody>
                  <a:tcPr anchor="ctr">
                    <a:lnL>
                      <a:noFill/>
                    </a:lnL>
                    <a:lnR>
                      <a:noFill/>
                    </a:lnR>
                    <a:lnT>
                      <a:noFill/>
                    </a:lnT>
                    <a:lnB>
                      <a:noFill/>
                    </a:lnB>
                  </a:tcPr>
                </a:tc>
                <a:extLst>
                  <a:ext uri="{0D108BD9-81ED-4DB2-BD59-A6C34878D82A}">
                    <a16:rowId xmlns:a16="http://schemas.microsoft.com/office/drawing/2014/main" val="930039501"/>
                  </a:ext>
                </a:extLst>
              </a:tr>
              <a:tr h="399994">
                <a:tc>
                  <a:txBody>
                    <a:bodyPr/>
                    <a:lstStyle/>
                    <a:p>
                      <a:r>
                        <a:rPr lang="en-IN" sz="1800" b="1"/>
                        <a:t>E</a:t>
                      </a:r>
                      <a:r>
                        <a:rPr lang="en-IN" sz="1800"/>
                        <a:t> – Eliminate</a:t>
                      </a:r>
                    </a:p>
                  </a:txBody>
                  <a:tcPr anchor="ctr">
                    <a:lnL>
                      <a:noFill/>
                    </a:lnL>
                    <a:lnR>
                      <a:noFill/>
                    </a:lnR>
                    <a:lnT>
                      <a:noFill/>
                    </a:lnT>
                    <a:lnB>
                      <a:noFill/>
                    </a:lnB>
                  </a:tcPr>
                </a:tc>
                <a:tc>
                  <a:txBody>
                    <a:bodyPr/>
                    <a:lstStyle/>
                    <a:p>
                      <a:r>
                        <a:rPr lang="en-US" sz="1800"/>
                        <a:t>What can we remove or simplify?</a:t>
                      </a:r>
                    </a:p>
                  </a:txBody>
                  <a:tcPr anchor="ctr">
                    <a:lnL>
                      <a:noFill/>
                    </a:lnL>
                    <a:lnR>
                      <a:noFill/>
                    </a:lnR>
                    <a:lnT>
                      <a:noFill/>
                    </a:lnT>
                    <a:lnB>
                      <a:noFill/>
                    </a:lnB>
                  </a:tcPr>
                </a:tc>
                <a:extLst>
                  <a:ext uri="{0D108BD9-81ED-4DB2-BD59-A6C34878D82A}">
                    <a16:rowId xmlns:a16="http://schemas.microsoft.com/office/drawing/2014/main" val="3302112606"/>
                  </a:ext>
                </a:extLst>
              </a:tr>
              <a:tr h="399994">
                <a:tc>
                  <a:txBody>
                    <a:bodyPr/>
                    <a:lstStyle/>
                    <a:p>
                      <a:r>
                        <a:rPr lang="en-IN" sz="1800" b="1"/>
                        <a:t>R</a:t>
                      </a:r>
                      <a:r>
                        <a:rPr lang="en-IN" sz="1800"/>
                        <a:t> – Reverse/Rearrange</a:t>
                      </a:r>
                    </a:p>
                  </a:txBody>
                  <a:tcPr anchor="ctr">
                    <a:lnL>
                      <a:noFill/>
                    </a:lnL>
                    <a:lnR>
                      <a:noFill/>
                    </a:lnR>
                    <a:lnT>
                      <a:noFill/>
                    </a:lnT>
                    <a:lnB>
                      <a:noFill/>
                    </a:lnB>
                  </a:tcPr>
                </a:tc>
                <a:tc>
                  <a:txBody>
                    <a:bodyPr/>
                    <a:lstStyle/>
                    <a:p>
                      <a:r>
                        <a:rPr lang="en-US" sz="1800" dirty="0"/>
                        <a:t>What happens if we flip or rearrange parts?</a:t>
                      </a:r>
                    </a:p>
                  </a:txBody>
                  <a:tcPr anchor="ctr">
                    <a:lnL>
                      <a:noFill/>
                    </a:lnL>
                    <a:lnR>
                      <a:noFill/>
                    </a:lnR>
                    <a:lnT>
                      <a:noFill/>
                    </a:lnT>
                    <a:lnB>
                      <a:noFill/>
                    </a:lnB>
                  </a:tcPr>
                </a:tc>
                <a:extLst>
                  <a:ext uri="{0D108BD9-81ED-4DB2-BD59-A6C34878D82A}">
                    <a16:rowId xmlns:a16="http://schemas.microsoft.com/office/drawing/2014/main" val="2847509824"/>
                  </a:ext>
                </a:extLst>
              </a:tr>
            </a:tbl>
          </a:graphicData>
        </a:graphic>
      </p:graphicFrame>
    </p:spTree>
    <p:extLst>
      <p:ext uri="{BB962C8B-B14F-4D97-AF65-F5344CB8AC3E}">
        <p14:creationId xmlns:p14="http://schemas.microsoft.com/office/powerpoint/2010/main" val="1831981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03A46-8D6D-4185-AF9E-6827444278A2}"/>
              </a:ext>
            </a:extLst>
          </p:cNvPr>
          <p:cNvSpPr>
            <a:spLocks noGrp="1"/>
          </p:cNvSpPr>
          <p:nvPr>
            <p:ph type="title"/>
          </p:nvPr>
        </p:nvSpPr>
        <p:spPr/>
        <p:txBody>
          <a:bodyPr/>
          <a:lstStyle/>
          <a:p>
            <a:r>
              <a:rPr lang="en-IN" b="1" dirty="0">
                <a:solidFill>
                  <a:srgbClr val="191918"/>
                </a:solidFill>
                <a:effectLst/>
                <a:latin typeface="NotionInter"/>
              </a:rPr>
              <a:t>Role-playing</a:t>
            </a:r>
            <a:br>
              <a:rPr lang="en-IN" b="1" dirty="0">
                <a:solidFill>
                  <a:srgbClr val="191918"/>
                </a:solidFill>
                <a:effectLst/>
                <a:latin typeface="NotionInter"/>
              </a:rPr>
            </a:br>
            <a:endParaRPr lang="en-IN" dirty="0"/>
          </a:p>
        </p:txBody>
      </p:sp>
      <p:sp>
        <p:nvSpPr>
          <p:cNvPr id="3" name="Content Placeholder 2">
            <a:extLst>
              <a:ext uri="{FF2B5EF4-FFF2-40B4-BE49-F238E27FC236}">
                <a16:creationId xmlns:a16="http://schemas.microsoft.com/office/drawing/2014/main" id="{39B77150-7DD0-48B4-9D4F-B552697393D6}"/>
              </a:ext>
            </a:extLst>
          </p:cNvPr>
          <p:cNvSpPr>
            <a:spLocks noGrp="1"/>
          </p:cNvSpPr>
          <p:nvPr>
            <p:ph idx="1"/>
          </p:nvPr>
        </p:nvSpPr>
        <p:spPr>
          <a:xfrm>
            <a:off x="1143000" y="1559859"/>
            <a:ext cx="9872871" cy="4536141"/>
          </a:xfrm>
        </p:spPr>
        <p:txBody>
          <a:bodyPr>
            <a:normAutofit/>
          </a:bodyPr>
          <a:lstStyle/>
          <a:p>
            <a:r>
              <a:rPr lang="en-US" b="0" i="0" dirty="0">
                <a:solidFill>
                  <a:schemeClr val="tx1"/>
                </a:solidFill>
                <a:effectLst/>
                <a:latin typeface="Lyon Text"/>
              </a:rPr>
              <a:t>Sometimes, it’s helpful to step out of your role as a designer, developer, or project manager and think from your consumer's perspective. Role-playing requires you to simulate the users you aim to serve. </a:t>
            </a:r>
          </a:p>
          <a:p>
            <a:r>
              <a:rPr lang="en-US" b="1" dirty="0">
                <a:solidFill>
                  <a:schemeClr val="tx1"/>
                </a:solidFill>
              </a:rPr>
              <a:t>Role-playing in idea generation</a:t>
            </a:r>
            <a:r>
              <a:rPr lang="en-US" dirty="0">
                <a:solidFill>
                  <a:schemeClr val="tx1"/>
                </a:solidFill>
              </a:rPr>
              <a:t> is a creative technique where participants </a:t>
            </a:r>
            <a:r>
              <a:rPr lang="en-US" b="1" dirty="0">
                <a:solidFill>
                  <a:schemeClr val="tx1"/>
                </a:solidFill>
              </a:rPr>
              <a:t>adopt different perspectives, personas, or stakeholder roles</a:t>
            </a:r>
            <a:r>
              <a:rPr lang="en-US" dirty="0">
                <a:solidFill>
                  <a:schemeClr val="tx1"/>
                </a:solidFill>
              </a:rPr>
              <a:t> to explore new ideas and solutions.</a:t>
            </a:r>
            <a:br>
              <a:rPr lang="en-US" dirty="0">
                <a:solidFill>
                  <a:schemeClr val="tx1"/>
                </a:solidFill>
              </a:rPr>
            </a:br>
            <a:r>
              <a:rPr lang="en-US" dirty="0">
                <a:solidFill>
                  <a:schemeClr val="tx1"/>
                </a:solidFill>
              </a:rPr>
              <a:t>By stepping into someone else’s shoes, participants can break free from habitual thinking and discover innovative possibilities.</a:t>
            </a:r>
            <a:endParaRPr lang="en-US" b="0" i="0" dirty="0">
              <a:solidFill>
                <a:schemeClr val="tx1"/>
              </a:solidFill>
              <a:effectLst/>
              <a:latin typeface="Lyon Text"/>
            </a:endParaRPr>
          </a:p>
          <a:p>
            <a:r>
              <a:rPr lang="en-US" b="0" i="0" dirty="0">
                <a:solidFill>
                  <a:schemeClr val="tx1"/>
                </a:solidFill>
                <a:effectLst/>
                <a:latin typeface="Lyon Text"/>
              </a:rPr>
              <a:t>Think about building a mobile app. Instead of relying on market data alone, role-playing would have you consider the app from the perspective of your target audience. You might think of how busy parents and teenagers uniquely navigate the app, providing real-time feedback to generate potential refinements and spotlight user concerns. </a:t>
            </a:r>
          </a:p>
        </p:txBody>
      </p:sp>
    </p:spTree>
    <p:extLst>
      <p:ext uri="{BB962C8B-B14F-4D97-AF65-F5344CB8AC3E}">
        <p14:creationId xmlns:p14="http://schemas.microsoft.com/office/powerpoint/2010/main" val="1368670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D96334-E111-40C5-8EE3-590FF2089412}"/>
              </a:ext>
            </a:extLst>
          </p:cNvPr>
          <p:cNvSpPr>
            <a:spLocks noGrp="1"/>
          </p:cNvSpPr>
          <p:nvPr>
            <p:ph idx="1"/>
          </p:nvPr>
        </p:nvSpPr>
        <p:spPr>
          <a:xfrm>
            <a:off x="537882" y="484094"/>
            <a:ext cx="10883153" cy="5943600"/>
          </a:xfrm>
        </p:spPr>
        <p:txBody>
          <a:bodyPr>
            <a:normAutofit/>
          </a:bodyPr>
          <a:lstStyle/>
          <a:p>
            <a:r>
              <a:rPr lang="en-US" sz="2400" b="1" dirty="0">
                <a:solidFill>
                  <a:schemeClr val="tx1"/>
                </a:solidFill>
              </a:rPr>
              <a:t>How it works</a:t>
            </a:r>
          </a:p>
          <a:p>
            <a:pPr>
              <a:buFont typeface="+mj-lt"/>
              <a:buAutoNum type="arabicPeriod"/>
            </a:pPr>
            <a:r>
              <a:rPr lang="en-US" sz="2400" b="1" dirty="0">
                <a:solidFill>
                  <a:schemeClr val="tx1"/>
                </a:solidFill>
              </a:rPr>
              <a:t>Choose a scenario or problem</a:t>
            </a:r>
            <a:endParaRPr lang="en-US" sz="2400" dirty="0">
              <a:solidFill>
                <a:schemeClr val="tx1"/>
              </a:solidFill>
            </a:endParaRPr>
          </a:p>
          <a:p>
            <a:pPr lvl="1" indent="0">
              <a:buNone/>
            </a:pPr>
            <a:r>
              <a:rPr lang="en-US" sz="2400" dirty="0">
                <a:solidFill>
                  <a:schemeClr val="tx1"/>
                </a:solidFill>
              </a:rPr>
              <a:t>Example: Launching a new product, improving customer service, or designing a marketing campaign.</a:t>
            </a:r>
          </a:p>
          <a:p>
            <a:pPr>
              <a:buFont typeface="+mj-lt"/>
              <a:buAutoNum type="arabicPeriod"/>
            </a:pPr>
            <a:r>
              <a:rPr lang="en-US" sz="2400" b="1" dirty="0">
                <a:solidFill>
                  <a:schemeClr val="tx1"/>
                </a:solidFill>
              </a:rPr>
              <a:t>Assign roles</a:t>
            </a:r>
            <a:endParaRPr lang="en-US" sz="2400" dirty="0">
              <a:solidFill>
                <a:schemeClr val="tx1"/>
              </a:solidFill>
            </a:endParaRPr>
          </a:p>
          <a:p>
            <a:pPr lvl="1" indent="0">
              <a:buNone/>
            </a:pPr>
            <a:r>
              <a:rPr lang="en-US" sz="2400" dirty="0">
                <a:solidFill>
                  <a:schemeClr val="tx1"/>
                </a:solidFill>
              </a:rPr>
              <a:t>These can be realistic (e.g., customer, competitor, investor) or imaginative (e.g., a famous entrepreneur, a child, a time traveler).</a:t>
            </a:r>
          </a:p>
          <a:p>
            <a:pPr>
              <a:buFont typeface="+mj-lt"/>
              <a:buAutoNum type="arabicPeriod"/>
            </a:pPr>
            <a:r>
              <a:rPr lang="en-US" sz="2400" b="1" dirty="0">
                <a:solidFill>
                  <a:schemeClr val="tx1"/>
                </a:solidFill>
              </a:rPr>
              <a:t>Act out the roles</a:t>
            </a:r>
            <a:endParaRPr lang="en-US" sz="2400" dirty="0">
              <a:solidFill>
                <a:schemeClr val="tx1"/>
              </a:solidFill>
            </a:endParaRPr>
          </a:p>
          <a:p>
            <a:pPr lvl="1" indent="0">
              <a:buNone/>
            </a:pPr>
            <a:r>
              <a:rPr lang="en-US" sz="2400" dirty="0">
                <a:solidFill>
                  <a:schemeClr val="tx1"/>
                </a:solidFill>
              </a:rPr>
              <a:t>Each participant shares ideas </a:t>
            </a:r>
            <a:r>
              <a:rPr lang="en-US" sz="2400" b="1" dirty="0">
                <a:solidFill>
                  <a:schemeClr val="tx1"/>
                </a:solidFill>
              </a:rPr>
              <a:t>as if</a:t>
            </a:r>
            <a:r>
              <a:rPr lang="en-US" sz="2400" dirty="0">
                <a:solidFill>
                  <a:schemeClr val="tx1"/>
                </a:solidFill>
              </a:rPr>
              <a:t> they were in that role.</a:t>
            </a:r>
          </a:p>
          <a:p>
            <a:pPr>
              <a:buFont typeface="+mj-lt"/>
              <a:buAutoNum type="arabicPeriod"/>
            </a:pPr>
            <a:r>
              <a:rPr lang="en-US" sz="2400" b="1" dirty="0">
                <a:solidFill>
                  <a:schemeClr val="tx1"/>
                </a:solidFill>
              </a:rPr>
              <a:t>Capture ideas</a:t>
            </a:r>
            <a:endParaRPr lang="en-US" sz="2400" dirty="0">
              <a:solidFill>
                <a:schemeClr val="tx1"/>
              </a:solidFill>
            </a:endParaRPr>
          </a:p>
          <a:p>
            <a:pPr lvl="1" indent="0">
              <a:buNone/>
            </a:pPr>
            <a:r>
              <a:rPr lang="en-US" sz="2400" dirty="0">
                <a:solidFill>
                  <a:schemeClr val="tx1"/>
                </a:solidFill>
              </a:rPr>
              <a:t>All suggestions are recorded without criticism.</a:t>
            </a:r>
          </a:p>
          <a:p>
            <a:pPr>
              <a:buFont typeface="+mj-lt"/>
              <a:buAutoNum type="arabicPeriod"/>
            </a:pPr>
            <a:r>
              <a:rPr lang="en-US" sz="2400" b="1" dirty="0">
                <a:solidFill>
                  <a:schemeClr val="tx1"/>
                </a:solidFill>
              </a:rPr>
              <a:t>Discuss and refine</a:t>
            </a:r>
            <a:endParaRPr lang="en-US" sz="2400" dirty="0">
              <a:solidFill>
                <a:schemeClr val="tx1"/>
              </a:solidFill>
            </a:endParaRPr>
          </a:p>
          <a:p>
            <a:pPr lvl="1" indent="0">
              <a:buNone/>
            </a:pPr>
            <a:r>
              <a:rPr lang="en-US" sz="2400" dirty="0">
                <a:solidFill>
                  <a:schemeClr val="tx1"/>
                </a:solidFill>
              </a:rPr>
              <a:t>Evaluate the collected ideas for feasibility and originality.</a:t>
            </a:r>
          </a:p>
          <a:p>
            <a:endParaRPr lang="en-IN" sz="2400" dirty="0">
              <a:solidFill>
                <a:schemeClr val="tx1"/>
              </a:solidFill>
            </a:endParaRPr>
          </a:p>
        </p:txBody>
      </p:sp>
    </p:spTree>
    <p:extLst>
      <p:ext uri="{BB962C8B-B14F-4D97-AF65-F5344CB8AC3E}">
        <p14:creationId xmlns:p14="http://schemas.microsoft.com/office/powerpoint/2010/main" val="1928679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60F26-35FA-4074-B793-190DC700E31F}"/>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A3AE9F7F-4727-4841-ACA0-E7B0556DCBCD}"/>
              </a:ext>
            </a:extLst>
          </p:cNvPr>
          <p:cNvSpPr>
            <a:spLocks noGrp="1"/>
          </p:cNvSpPr>
          <p:nvPr>
            <p:ph idx="1"/>
          </p:nvPr>
        </p:nvSpPr>
        <p:spPr>
          <a:xfrm>
            <a:off x="1143000" y="1783976"/>
            <a:ext cx="9872871" cy="4312024"/>
          </a:xfrm>
        </p:spPr>
        <p:txBody>
          <a:bodyPr/>
          <a:lstStyle/>
          <a:p>
            <a:r>
              <a:rPr lang="en-US" b="1" dirty="0">
                <a:solidFill>
                  <a:schemeClr val="tx1"/>
                </a:solidFill>
              </a:rPr>
              <a:t>Problem:</a:t>
            </a:r>
            <a:r>
              <a:rPr lang="en-US" dirty="0">
                <a:solidFill>
                  <a:schemeClr val="tx1"/>
                </a:solidFill>
              </a:rPr>
              <a:t> How can we make our café more attractive to customers?</a:t>
            </a:r>
          </a:p>
          <a:p>
            <a:pPr>
              <a:buFont typeface="Arial" panose="020B0604020202020204" pitchFamily="34" charset="0"/>
              <a:buChar char="•"/>
            </a:pPr>
            <a:r>
              <a:rPr lang="en-US" b="1" dirty="0">
                <a:solidFill>
                  <a:schemeClr val="tx1"/>
                </a:solidFill>
              </a:rPr>
              <a:t>Role 1 (Customer):</a:t>
            </a:r>
            <a:r>
              <a:rPr lang="en-US" dirty="0">
                <a:solidFill>
                  <a:schemeClr val="tx1"/>
                </a:solidFill>
              </a:rPr>
              <a:t> “I want free Wi-Fi and a cozy corner to read.”</a:t>
            </a:r>
          </a:p>
          <a:p>
            <a:pPr>
              <a:buFont typeface="Arial" panose="020B0604020202020204" pitchFamily="34" charset="0"/>
              <a:buChar char="•"/>
            </a:pPr>
            <a:r>
              <a:rPr lang="en-US" b="1" dirty="0">
                <a:solidFill>
                  <a:schemeClr val="tx1"/>
                </a:solidFill>
              </a:rPr>
              <a:t>Role 2 (Competitor):</a:t>
            </a:r>
            <a:r>
              <a:rPr lang="en-US" dirty="0">
                <a:solidFill>
                  <a:schemeClr val="tx1"/>
                </a:solidFill>
              </a:rPr>
              <a:t> “We should offer something they don’t, like live music nights.”</a:t>
            </a:r>
          </a:p>
          <a:p>
            <a:pPr>
              <a:buFont typeface="Arial" panose="020B0604020202020204" pitchFamily="34" charset="0"/>
              <a:buChar char="•"/>
            </a:pPr>
            <a:r>
              <a:rPr lang="en-US" b="1" dirty="0">
                <a:solidFill>
                  <a:schemeClr val="tx1"/>
                </a:solidFill>
              </a:rPr>
              <a:t>Role 3 (Environmentalist):</a:t>
            </a:r>
            <a:r>
              <a:rPr lang="en-US" dirty="0">
                <a:solidFill>
                  <a:schemeClr val="tx1"/>
                </a:solidFill>
              </a:rPr>
              <a:t> “Let’s use only biodegradable packaging and promote it.”</a:t>
            </a:r>
          </a:p>
          <a:p>
            <a:endParaRPr lang="en-IN" dirty="0">
              <a:solidFill>
                <a:schemeClr val="tx1"/>
              </a:solidFill>
            </a:endParaRPr>
          </a:p>
        </p:txBody>
      </p:sp>
    </p:spTree>
    <p:extLst>
      <p:ext uri="{BB962C8B-B14F-4D97-AF65-F5344CB8AC3E}">
        <p14:creationId xmlns:p14="http://schemas.microsoft.com/office/powerpoint/2010/main" val="1417418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1B845-40FB-426C-99DA-647B3099A429}"/>
              </a:ext>
            </a:extLst>
          </p:cNvPr>
          <p:cNvSpPr>
            <a:spLocks noGrp="1"/>
          </p:cNvSpPr>
          <p:nvPr>
            <p:ph type="title"/>
          </p:nvPr>
        </p:nvSpPr>
        <p:spPr>
          <a:xfrm>
            <a:off x="1143000" y="609600"/>
            <a:ext cx="9875520" cy="519953"/>
          </a:xfrm>
        </p:spPr>
        <p:txBody>
          <a:bodyPr>
            <a:normAutofit fontScale="90000"/>
          </a:bodyPr>
          <a:lstStyle/>
          <a:p>
            <a:r>
              <a:rPr lang="en-US" dirty="0"/>
              <a:t>TO DO:-</a:t>
            </a:r>
            <a:endParaRPr lang="en-IN" dirty="0"/>
          </a:p>
        </p:txBody>
      </p:sp>
      <p:sp>
        <p:nvSpPr>
          <p:cNvPr id="3" name="Content Placeholder 2">
            <a:extLst>
              <a:ext uri="{FF2B5EF4-FFF2-40B4-BE49-F238E27FC236}">
                <a16:creationId xmlns:a16="http://schemas.microsoft.com/office/drawing/2014/main" id="{6E861534-A899-4EA3-8610-6B16562E2904}"/>
              </a:ext>
            </a:extLst>
          </p:cNvPr>
          <p:cNvSpPr>
            <a:spLocks noGrp="1"/>
          </p:cNvSpPr>
          <p:nvPr>
            <p:ph idx="1"/>
          </p:nvPr>
        </p:nvSpPr>
        <p:spPr>
          <a:xfrm>
            <a:off x="1143000" y="1272988"/>
            <a:ext cx="9872871" cy="4823012"/>
          </a:xfrm>
        </p:spPr>
        <p:txBody>
          <a:bodyPr/>
          <a:lstStyle/>
          <a:p>
            <a:r>
              <a:rPr lang="en-US" dirty="0">
                <a:solidFill>
                  <a:schemeClr val="tx1"/>
                </a:solidFill>
              </a:rPr>
              <a:t>“How can we make our campus more eco-friendly?”.</a:t>
            </a:r>
          </a:p>
          <a:p>
            <a:r>
              <a:rPr lang="en-US" dirty="0">
                <a:solidFill>
                  <a:schemeClr val="tx1"/>
                </a:solidFill>
              </a:rPr>
              <a:t>Give each participant (or group) a role. Example roles:</a:t>
            </a:r>
          </a:p>
          <a:p>
            <a:pPr marL="731520" lvl="1" indent="-457200">
              <a:buFont typeface="+mj-lt"/>
              <a:buAutoNum type="arabicPeriod"/>
            </a:pPr>
            <a:r>
              <a:rPr lang="en-US" b="1" dirty="0">
                <a:solidFill>
                  <a:schemeClr val="tx1"/>
                </a:solidFill>
              </a:rPr>
              <a:t>Customer/Student</a:t>
            </a:r>
            <a:r>
              <a:rPr lang="en-US" dirty="0">
                <a:solidFill>
                  <a:schemeClr val="tx1"/>
                </a:solidFill>
              </a:rPr>
              <a:t> (wants convenience and fun)</a:t>
            </a:r>
          </a:p>
          <a:p>
            <a:pPr marL="731520" lvl="1" indent="-457200">
              <a:buFont typeface="+mj-lt"/>
              <a:buAutoNum type="arabicPeriod"/>
            </a:pPr>
            <a:r>
              <a:rPr lang="en-US" b="1" dirty="0">
                <a:solidFill>
                  <a:schemeClr val="tx1"/>
                </a:solidFill>
              </a:rPr>
              <a:t>Competitor</a:t>
            </a:r>
            <a:r>
              <a:rPr lang="en-US" dirty="0">
                <a:solidFill>
                  <a:schemeClr val="tx1"/>
                </a:solidFill>
              </a:rPr>
              <a:t> (wants to outshine you)</a:t>
            </a:r>
          </a:p>
          <a:p>
            <a:pPr marL="731520" lvl="1" indent="-457200">
              <a:buFont typeface="+mj-lt"/>
              <a:buAutoNum type="arabicPeriod"/>
            </a:pPr>
            <a:r>
              <a:rPr lang="en-US" b="1" dirty="0">
                <a:solidFill>
                  <a:schemeClr val="tx1"/>
                </a:solidFill>
              </a:rPr>
              <a:t>Investor</a:t>
            </a:r>
            <a:r>
              <a:rPr lang="en-US" dirty="0">
                <a:solidFill>
                  <a:schemeClr val="tx1"/>
                </a:solidFill>
              </a:rPr>
              <a:t> (cares about ROI)</a:t>
            </a:r>
          </a:p>
          <a:p>
            <a:pPr marL="731520" lvl="1" indent="-457200">
              <a:buFont typeface="+mj-lt"/>
              <a:buAutoNum type="arabicPeriod"/>
            </a:pPr>
            <a:r>
              <a:rPr lang="en-US" b="1" dirty="0">
                <a:solidFill>
                  <a:schemeClr val="tx1"/>
                </a:solidFill>
              </a:rPr>
              <a:t>Environmentalist</a:t>
            </a:r>
            <a:r>
              <a:rPr lang="en-US" dirty="0">
                <a:solidFill>
                  <a:schemeClr val="tx1"/>
                </a:solidFill>
              </a:rPr>
              <a:t> (cares about sustainability)</a:t>
            </a:r>
          </a:p>
          <a:p>
            <a:pPr marL="731520" lvl="1" indent="-457200">
              <a:buFont typeface="+mj-lt"/>
              <a:buAutoNum type="arabicPeriod"/>
            </a:pPr>
            <a:r>
              <a:rPr lang="en-US" b="1" dirty="0">
                <a:solidFill>
                  <a:schemeClr val="tx1"/>
                </a:solidFill>
              </a:rPr>
              <a:t>Technologist</a:t>
            </a:r>
            <a:r>
              <a:rPr lang="en-US" dirty="0">
                <a:solidFill>
                  <a:schemeClr val="tx1"/>
                </a:solidFill>
              </a:rPr>
              <a:t> (loves innovation and automation)</a:t>
            </a:r>
          </a:p>
          <a:p>
            <a:pPr marL="731520" lvl="1" indent="-457200">
              <a:buFont typeface="+mj-lt"/>
              <a:buAutoNum type="arabicPeriod"/>
            </a:pPr>
            <a:r>
              <a:rPr lang="en-US" b="1" dirty="0">
                <a:solidFill>
                  <a:schemeClr val="tx1"/>
                </a:solidFill>
              </a:rPr>
              <a:t>Celebrity Influencer</a:t>
            </a:r>
            <a:r>
              <a:rPr lang="en-US" dirty="0">
                <a:solidFill>
                  <a:schemeClr val="tx1"/>
                </a:solidFill>
              </a:rPr>
              <a:t> (wants publicity and image boost)</a:t>
            </a:r>
          </a:p>
          <a:p>
            <a:pPr marL="45720" indent="0">
              <a:buNone/>
            </a:pPr>
            <a:endParaRPr lang="en-US" dirty="0">
              <a:solidFill>
                <a:schemeClr val="tx1"/>
              </a:solidFill>
            </a:endParaRPr>
          </a:p>
        </p:txBody>
      </p:sp>
    </p:spTree>
    <p:extLst>
      <p:ext uri="{BB962C8B-B14F-4D97-AF65-F5344CB8AC3E}">
        <p14:creationId xmlns:p14="http://schemas.microsoft.com/office/powerpoint/2010/main" val="3992718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29F3A-0003-4536-B5B1-7AC95854DFBE}"/>
              </a:ext>
            </a:extLst>
          </p:cNvPr>
          <p:cNvSpPr>
            <a:spLocks noGrp="1"/>
          </p:cNvSpPr>
          <p:nvPr>
            <p:ph type="title"/>
          </p:nvPr>
        </p:nvSpPr>
        <p:spPr/>
        <p:txBody>
          <a:bodyPr/>
          <a:lstStyle/>
          <a:p>
            <a:r>
              <a:rPr lang="en-IN" b="1" dirty="0">
                <a:solidFill>
                  <a:srgbClr val="191918"/>
                </a:solidFill>
                <a:effectLst/>
                <a:latin typeface="NotionInter"/>
              </a:rPr>
              <a:t>Storyboarding</a:t>
            </a:r>
            <a:br>
              <a:rPr lang="en-IN" b="1" dirty="0">
                <a:solidFill>
                  <a:srgbClr val="191918"/>
                </a:solidFill>
                <a:effectLst/>
                <a:latin typeface="NotionInter"/>
              </a:rPr>
            </a:br>
            <a:endParaRPr lang="en-IN" dirty="0"/>
          </a:p>
        </p:txBody>
      </p:sp>
      <p:sp>
        <p:nvSpPr>
          <p:cNvPr id="3" name="Content Placeholder 2">
            <a:extLst>
              <a:ext uri="{FF2B5EF4-FFF2-40B4-BE49-F238E27FC236}">
                <a16:creationId xmlns:a16="http://schemas.microsoft.com/office/drawing/2014/main" id="{4EAAF398-9753-4251-BD18-77137CC27CD8}"/>
              </a:ext>
            </a:extLst>
          </p:cNvPr>
          <p:cNvSpPr>
            <a:spLocks noGrp="1"/>
          </p:cNvSpPr>
          <p:nvPr>
            <p:ph idx="1"/>
          </p:nvPr>
        </p:nvSpPr>
        <p:spPr/>
        <p:txBody>
          <a:bodyPr/>
          <a:lstStyle/>
          <a:p>
            <a:pPr algn="just"/>
            <a:r>
              <a:rPr lang="en-US" dirty="0">
                <a:solidFill>
                  <a:schemeClr val="tx1"/>
                </a:solidFill>
              </a:rPr>
              <a:t>Storyboarding is a </a:t>
            </a:r>
            <a:r>
              <a:rPr lang="en-US" b="1" dirty="0">
                <a:solidFill>
                  <a:schemeClr val="tx1"/>
                </a:solidFill>
              </a:rPr>
              <a:t>visual planning tool</a:t>
            </a:r>
            <a:r>
              <a:rPr lang="en-US" dirty="0">
                <a:solidFill>
                  <a:schemeClr val="tx1"/>
                </a:solidFill>
              </a:rPr>
              <a:t> where you arrange a sequence of drawings, sketches, or images to represent the flow of an idea, process, or story.</a:t>
            </a:r>
            <a:br>
              <a:rPr lang="en-US" dirty="0">
                <a:solidFill>
                  <a:schemeClr val="tx1"/>
                </a:solidFill>
              </a:rPr>
            </a:br>
            <a:r>
              <a:rPr lang="en-US" dirty="0">
                <a:solidFill>
                  <a:schemeClr val="tx1"/>
                </a:solidFill>
              </a:rPr>
              <a:t>It helps in </a:t>
            </a:r>
            <a:r>
              <a:rPr lang="en-US" b="1" dirty="0">
                <a:solidFill>
                  <a:schemeClr val="tx1"/>
                </a:solidFill>
              </a:rPr>
              <a:t>organizing thoughts</a:t>
            </a:r>
            <a:r>
              <a:rPr lang="en-US" dirty="0">
                <a:solidFill>
                  <a:schemeClr val="tx1"/>
                </a:solidFill>
              </a:rPr>
              <a:t>, </a:t>
            </a:r>
            <a:r>
              <a:rPr lang="en-US" b="1" dirty="0">
                <a:solidFill>
                  <a:schemeClr val="tx1"/>
                </a:solidFill>
              </a:rPr>
              <a:t>visualizing solutions</a:t>
            </a:r>
            <a:r>
              <a:rPr lang="en-US" dirty="0">
                <a:solidFill>
                  <a:schemeClr val="tx1"/>
                </a:solidFill>
              </a:rPr>
              <a:t>, and identifying </a:t>
            </a:r>
            <a:r>
              <a:rPr lang="en-US" b="1" dirty="0">
                <a:solidFill>
                  <a:schemeClr val="tx1"/>
                </a:solidFill>
              </a:rPr>
              <a:t>gaps or improvements</a:t>
            </a:r>
            <a:r>
              <a:rPr lang="en-US" dirty="0">
                <a:solidFill>
                  <a:schemeClr val="tx1"/>
                </a:solidFill>
              </a:rPr>
              <a:t>.</a:t>
            </a:r>
            <a:endParaRPr lang="en-US" b="0" i="0" dirty="0">
              <a:solidFill>
                <a:schemeClr val="tx1"/>
              </a:solidFill>
              <a:effectLst/>
              <a:latin typeface="Lyon Text"/>
            </a:endParaRPr>
          </a:p>
          <a:p>
            <a:pPr algn="just"/>
            <a:r>
              <a:rPr lang="en-US" b="0" i="0" dirty="0">
                <a:solidFill>
                  <a:schemeClr val="tx1"/>
                </a:solidFill>
                <a:effectLst/>
                <a:latin typeface="Lyon Text"/>
              </a:rPr>
              <a:t>Like frames in a comic strip, storyboarding sequences your idea's journey from concept to final product. Using images, quotes, and other graphics brings procedural or product management to life. Storyboarding transforms abstract ideas into clear visual narratives, pointing out potential areas for enhancement and friction points in a way that suits visual learners. </a:t>
            </a:r>
            <a:endParaRPr lang="en-IN" dirty="0">
              <a:solidFill>
                <a:schemeClr val="tx1"/>
              </a:solidFill>
            </a:endParaRPr>
          </a:p>
        </p:txBody>
      </p:sp>
    </p:spTree>
    <p:extLst>
      <p:ext uri="{BB962C8B-B14F-4D97-AF65-F5344CB8AC3E}">
        <p14:creationId xmlns:p14="http://schemas.microsoft.com/office/powerpoint/2010/main" val="3960179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0034A7-24EC-4ACD-B8F4-3F84BB3DC00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0040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87580-E22A-4BE3-A13C-28D705242DA3}"/>
              </a:ext>
            </a:extLst>
          </p:cNvPr>
          <p:cNvSpPr>
            <a:spLocks noGrp="1"/>
          </p:cNvSpPr>
          <p:nvPr>
            <p:ph type="title"/>
          </p:nvPr>
        </p:nvSpPr>
        <p:spPr/>
        <p:txBody>
          <a:bodyPr/>
          <a:lstStyle/>
          <a:p>
            <a:r>
              <a:rPr lang="en-US" dirty="0"/>
              <a:t>HOW TO ACE IDEA GENERATION?</a:t>
            </a:r>
            <a:endParaRPr lang="en-IN" dirty="0"/>
          </a:p>
        </p:txBody>
      </p:sp>
      <p:sp>
        <p:nvSpPr>
          <p:cNvPr id="8" name="Content Placeholder 7">
            <a:extLst>
              <a:ext uri="{FF2B5EF4-FFF2-40B4-BE49-F238E27FC236}">
                <a16:creationId xmlns:a16="http://schemas.microsoft.com/office/drawing/2014/main" id="{D89782D0-C009-4E74-9E30-181E70DB7976}"/>
              </a:ext>
            </a:extLst>
          </p:cNvPr>
          <p:cNvSpPr>
            <a:spLocks noGrp="1"/>
          </p:cNvSpPr>
          <p:nvPr>
            <p:ph sz="half" idx="2"/>
          </p:nvPr>
        </p:nvSpPr>
        <p:spPr/>
        <p:txBody>
          <a:bodyPr/>
          <a:lstStyle/>
          <a:p>
            <a:r>
              <a:rPr lang="en-US" b="1" i="1" dirty="0">
                <a:solidFill>
                  <a:schemeClr val="tx1"/>
                </a:solidFill>
              </a:rPr>
              <a:t>For example, suppose you want to create a new product or a service. You can do so by asking questions like, who would use the product, why would people buy it, what would it do, etc.</a:t>
            </a:r>
            <a:endParaRPr lang="en-IN" b="1" i="1" dirty="0">
              <a:solidFill>
                <a:schemeClr val="tx1"/>
              </a:solidFill>
            </a:endParaRPr>
          </a:p>
        </p:txBody>
      </p:sp>
      <p:graphicFrame>
        <p:nvGraphicFramePr>
          <p:cNvPr id="4" name="Diagram 3">
            <a:extLst>
              <a:ext uri="{FF2B5EF4-FFF2-40B4-BE49-F238E27FC236}">
                <a16:creationId xmlns:a16="http://schemas.microsoft.com/office/drawing/2014/main" id="{E9E3E8DA-0489-482F-98DD-16498CF94B70}"/>
              </a:ext>
            </a:extLst>
          </p:cNvPr>
          <p:cNvGraphicFramePr/>
          <p:nvPr>
            <p:extLst>
              <p:ext uri="{D42A27DB-BD31-4B8C-83A1-F6EECF244321}">
                <p14:modId xmlns:p14="http://schemas.microsoft.com/office/powerpoint/2010/main" val="4214180423"/>
              </p:ext>
            </p:extLst>
          </p:nvPr>
        </p:nvGraphicFramePr>
        <p:xfrm>
          <a:off x="1142999" y="2133600"/>
          <a:ext cx="4781389"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5730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ACF20-503C-4DA0-A08E-601EF9203225}"/>
              </a:ext>
            </a:extLst>
          </p:cNvPr>
          <p:cNvSpPr>
            <a:spLocks noGrp="1"/>
          </p:cNvSpPr>
          <p:nvPr>
            <p:ph type="title"/>
          </p:nvPr>
        </p:nvSpPr>
        <p:spPr/>
        <p:txBody>
          <a:bodyPr/>
          <a:lstStyle/>
          <a:p>
            <a:r>
              <a:rPr lang="en-US" dirty="0"/>
              <a:t>3 tips for successful idea generation</a:t>
            </a:r>
            <a:endParaRPr lang="en-IN" dirty="0"/>
          </a:p>
        </p:txBody>
      </p:sp>
      <p:sp>
        <p:nvSpPr>
          <p:cNvPr id="3" name="Content Placeholder 2">
            <a:extLst>
              <a:ext uri="{FF2B5EF4-FFF2-40B4-BE49-F238E27FC236}">
                <a16:creationId xmlns:a16="http://schemas.microsoft.com/office/drawing/2014/main" id="{37D6C16C-AE32-4BA7-A557-5DFC57B52893}"/>
              </a:ext>
            </a:extLst>
          </p:cNvPr>
          <p:cNvSpPr>
            <a:spLocks noGrp="1"/>
          </p:cNvSpPr>
          <p:nvPr>
            <p:ph idx="1"/>
          </p:nvPr>
        </p:nvSpPr>
        <p:spPr>
          <a:xfrm>
            <a:off x="1143000" y="1757082"/>
            <a:ext cx="9872871" cy="4338918"/>
          </a:xfrm>
        </p:spPr>
        <p:txBody>
          <a:bodyPr>
            <a:normAutofit fontScale="92500" lnSpcReduction="20000"/>
          </a:bodyPr>
          <a:lstStyle/>
          <a:p>
            <a:pPr algn="just"/>
            <a:r>
              <a:rPr lang="en-US" b="1" i="0" dirty="0">
                <a:solidFill>
                  <a:srgbClr val="191918"/>
                </a:solidFill>
                <a:effectLst/>
                <a:latin typeface="NotionInter"/>
              </a:rPr>
              <a:t>1. Clearly define the problem or opportunity</a:t>
            </a:r>
          </a:p>
          <a:p>
            <a:pPr algn="just"/>
            <a:r>
              <a:rPr lang="en-US" b="0" i="0" dirty="0">
                <a:solidFill>
                  <a:srgbClr val="191918"/>
                </a:solidFill>
                <a:effectLst/>
                <a:latin typeface="Lyon Text"/>
              </a:rPr>
              <a:t>Ideas that successfully tackle a problem or seize an opportunity need clear frameworks. Start by giving a detailed definition of what ideation seeks to accomplish. When team members understand the core issue, it directs brainstorming efforts and ensures targeted and relevant suggestions.</a:t>
            </a:r>
          </a:p>
          <a:p>
            <a:pPr algn="just"/>
            <a:r>
              <a:rPr lang="en-US" b="1" i="0" dirty="0">
                <a:solidFill>
                  <a:srgbClr val="191918"/>
                </a:solidFill>
                <a:effectLst/>
                <a:latin typeface="NotionInter"/>
              </a:rPr>
              <a:t>2. Involve the right people</a:t>
            </a:r>
          </a:p>
          <a:p>
            <a:pPr algn="just"/>
            <a:r>
              <a:rPr lang="en-US" b="0" i="0" dirty="0">
                <a:solidFill>
                  <a:srgbClr val="191918"/>
                </a:solidFill>
                <a:effectLst/>
                <a:latin typeface="Lyon Text"/>
              </a:rPr>
              <a:t>Idea generation benefits from diversity of thought, experience, and expertise. To enrich your solutions pool, welcome insights from team members across various departments and roles. Incorporating varied viewpoints helps you anticipate cross-departmental challenges, identify overlooked opportunities, and craft well-rounded solutions. </a:t>
            </a:r>
          </a:p>
          <a:p>
            <a:pPr algn="just"/>
            <a:r>
              <a:rPr lang="en-US" b="1" i="0" dirty="0">
                <a:solidFill>
                  <a:srgbClr val="191918"/>
                </a:solidFill>
                <a:effectLst/>
                <a:latin typeface="NotionInter"/>
              </a:rPr>
              <a:t>3. Consider execution </a:t>
            </a:r>
          </a:p>
          <a:p>
            <a:pPr algn="just"/>
            <a:r>
              <a:rPr lang="en-US" b="0" i="0" dirty="0">
                <a:solidFill>
                  <a:srgbClr val="191918"/>
                </a:solidFill>
                <a:effectLst/>
                <a:latin typeface="Lyon Text"/>
              </a:rPr>
              <a:t>Throwing out ideas is just the beginning of successful ideation. It’s just as essential to develop a clear plan for evaluating, refining, and implementing new initiatives. Tools like Notion’s idea-to-execution template help nurture suggestions from start to finish. </a:t>
            </a:r>
          </a:p>
          <a:p>
            <a:pPr algn="just"/>
            <a:endParaRPr lang="en-IN" dirty="0"/>
          </a:p>
        </p:txBody>
      </p:sp>
    </p:spTree>
    <p:extLst>
      <p:ext uri="{BB962C8B-B14F-4D97-AF65-F5344CB8AC3E}">
        <p14:creationId xmlns:p14="http://schemas.microsoft.com/office/powerpoint/2010/main" val="32009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E0DDD-FEDA-4A54-AB79-029B51F3C74F}"/>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9AFE47F2-2BB7-4C5A-BE5C-B69003B6E299}"/>
              </a:ext>
            </a:extLst>
          </p:cNvPr>
          <p:cNvSpPr>
            <a:spLocks noGrp="1"/>
          </p:cNvSpPr>
          <p:nvPr>
            <p:ph idx="1"/>
          </p:nvPr>
        </p:nvSpPr>
        <p:spPr/>
        <p:txBody>
          <a:bodyPr>
            <a:normAutofit/>
          </a:bodyPr>
          <a:lstStyle/>
          <a:p>
            <a:pPr marL="45720" indent="0" algn="just">
              <a:buNone/>
            </a:pPr>
            <a:r>
              <a:rPr lang="en-US" sz="2800" b="0" i="0" dirty="0">
                <a:solidFill>
                  <a:schemeClr val="tx1"/>
                </a:solidFill>
                <a:effectLst/>
                <a:latin typeface="Inter"/>
              </a:rPr>
              <a:t>Idea generation is the lifeblood of innovation, problem-solving, and creativity in all aspects of life and industry. It’s a dynamic process that thrives on diversity of thought, conducive environments, and the ability to overcome creative blocks. Individuals and organizations can tap into their creative potential with the right techniques and mindset. It continuously produces fresh, valuable ideas that drive progress and transformation. In an ever-evolving world, the power of idea generation remains a vital force for shaping the future.</a:t>
            </a:r>
          </a:p>
          <a:p>
            <a:pPr algn="just"/>
            <a:endParaRPr lang="en-IN" sz="2800" dirty="0">
              <a:solidFill>
                <a:schemeClr val="tx1"/>
              </a:solidFill>
            </a:endParaRPr>
          </a:p>
        </p:txBody>
      </p:sp>
    </p:spTree>
    <p:extLst>
      <p:ext uri="{BB962C8B-B14F-4D97-AF65-F5344CB8AC3E}">
        <p14:creationId xmlns:p14="http://schemas.microsoft.com/office/powerpoint/2010/main" val="622060202"/>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Basis</Template>
  <TotalTime>250</TotalTime>
  <Words>2061</Words>
  <Application>Microsoft Office PowerPoint</Application>
  <PresentationFormat>Widescreen</PresentationFormat>
  <Paragraphs>131</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-apple-system</vt:lpstr>
      <vt:lpstr>Arial</vt:lpstr>
      <vt:lpstr>Arial Black</vt:lpstr>
      <vt:lpstr>Corbel</vt:lpstr>
      <vt:lpstr>Google Sans</vt:lpstr>
      <vt:lpstr>Inter</vt:lpstr>
      <vt:lpstr>Lyon Text</vt:lpstr>
      <vt:lpstr>NotionInter</vt:lpstr>
      <vt:lpstr>Basis</vt:lpstr>
      <vt:lpstr>IDEA GENERATION</vt:lpstr>
      <vt:lpstr>What is Idea Generation?</vt:lpstr>
      <vt:lpstr>PowerPoint Presentation</vt:lpstr>
      <vt:lpstr>PowerPoint Presentation</vt:lpstr>
      <vt:lpstr>IDEA GENERATION PROCESS</vt:lpstr>
      <vt:lpstr>PowerPoint Presentation</vt:lpstr>
      <vt:lpstr>PowerPoint Presentation</vt:lpstr>
      <vt:lpstr>TECHNIQUES FOR IDEA GENERATION</vt:lpstr>
      <vt:lpstr>PowerPoint Presentation</vt:lpstr>
      <vt:lpstr>PowerPoint Presentation</vt:lpstr>
      <vt:lpstr>Brainstorming: </vt:lpstr>
      <vt:lpstr>Brainwriting </vt:lpstr>
      <vt:lpstr>PowerPoint Presentation</vt:lpstr>
      <vt:lpstr>Mind Mapping </vt:lpstr>
      <vt:lpstr>PowerPoint Presentation</vt:lpstr>
      <vt:lpstr>PowerPoint Presentation</vt:lpstr>
      <vt:lpstr>SCAMPER </vt:lpstr>
      <vt:lpstr>PowerPoint Presentation</vt:lpstr>
      <vt:lpstr>Role-playing </vt:lpstr>
      <vt:lpstr>PowerPoint Presentation</vt:lpstr>
      <vt:lpstr>Example</vt:lpstr>
      <vt:lpstr>TO DO:-</vt:lpstr>
      <vt:lpstr>Storyboarding </vt:lpstr>
      <vt:lpstr>PowerPoint Presentation</vt:lpstr>
      <vt:lpstr>HOW TO ACE IDEA GENERATION?</vt:lpstr>
      <vt:lpstr>3 tips for successful idea generation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IDEA GENERATION</dc:title>
  <dc:creator>Admin</dc:creator>
  <cp:lastModifiedBy>Admin</cp:lastModifiedBy>
  <cp:revision>6</cp:revision>
  <dcterms:created xsi:type="dcterms:W3CDTF">2025-08-04T06:16:10Z</dcterms:created>
  <dcterms:modified xsi:type="dcterms:W3CDTF">2025-08-11T08:06:21Z</dcterms:modified>
</cp:coreProperties>
</file>