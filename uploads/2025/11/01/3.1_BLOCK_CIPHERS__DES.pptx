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87" r:id="rId7"/>
    <p:sldId id="285" r:id="rId8"/>
    <p:sldId id="286" r:id="rId9"/>
    <p:sldId id="289" r:id="rId10"/>
    <p:sldId id="290" r:id="rId11"/>
    <p:sldId id="282" r:id="rId12"/>
    <p:sldId id="268" r:id="rId13"/>
    <p:sldId id="267" r:id="rId14"/>
    <p:sldId id="292" r:id="rId15"/>
    <p:sldId id="263" r:id="rId16"/>
    <p:sldId id="264" r:id="rId17"/>
    <p:sldId id="269" r:id="rId18"/>
    <p:sldId id="265" r:id="rId19"/>
    <p:sldId id="266" r:id="rId20"/>
    <p:sldId id="294" r:id="rId21"/>
    <p:sldId id="270" r:id="rId22"/>
    <p:sldId id="271" r:id="rId23"/>
    <p:sldId id="272" r:id="rId24"/>
    <p:sldId id="273" r:id="rId25"/>
    <p:sldId id="295" r:id="rId26"/>
    <p:sldId id="280" r:id="rId27"/>
    <p:sldId id="281" r:id="rId28"/>
    <p:sldId id="283" r:id="rId29"/>
    <p:sldId id="284" r:id="rId30"/>
    <p:sldId id="296" r:id="rId31"/>
    <p:sldId id="297" r:id="rId32"/>
    <p:sldId id="298"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E18CC09-6E82-425B-B697-21CB6D367765}" type="datetimeFigureOut">
              <a:rPr lang="en-US" smtClean="0"/>
              <a:pPr/>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DF5FC2-691B-4BBB-9244-AB32C7BFD496}" type="slidenum">
              <a:rPr lang="en-US" smtClean="0"/>
              <a:pPr/>
              <a:t>‹#›</a:t>
            </a:fld>
            <a:endParaRPr lang="en-US"/>
          </a:p>
        </p:txBody>
      </p:sp>
    </p:spTree>
    <p:extLst>
      <p:ext uri="{BB962C8B-B14F-4D97-AF65-F5344CB8AC3E}">
        <p14:creationId xmlns:p14="http://schemas.microsoft.com/office/powerpoint/2010/main" val="57509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18CC09-6E82-425B-B697-21CB6D367765}" type="datetimeFigureOut">
              <a:rPr lang="en-US" smtClean="0"/>
              <a:pPr/>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DF5FC2-691B-4BBB-9244-AB32C7BFD496}" type="slidenum">
              <a:rPr lang="en-US" smtClean="0"/>
              <a:pPr/>
              <a:t>‹#›</a:t>
            </a:fld>
            <a:endParaRPr lang="en-US"/>
          </a:p>
        </p:txBody>
      </p:sp>
    </p:spTree>
    <p:extLst>
      <p:ext uri="{BB962C8B-B14F-4D97-AF65-F5344CB8AC3E}">
        <p14:creationId xmlns:p14="http://schemas.microsoft.com/office/powerpoint/2010/main" val="1388109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8CC09-6E82-425B-B697-21CB6D367765}" type="datetimeFigureOut">
              <a:rPr lang="en-US" smtClean="0"/>
              <a:pPr/>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DF5FC2-691B-4BBB-9244-AB32C7BFD496}" type="slidenum">
              <a:rPr lang="en-US" smtClean="0"/>
              <a:pPr/>
              <a:t>‹#›</a:t>
            </a:fld>
            <a:endParaRPr lang="en-US"/>
          </a:p>
        </p:txBody>
      </p:sp>
    </p:spTree>
    <p:extLst>
      <p:ext uri="{BB962C8B-B14F-4D97-AF65-F5344CB8AC3E}">
        <p14:creationId xmlns:p14="http://schemas.microsoft.com/office/powerpoint/2010/main" val="3761691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E18CC09-6E82-425B-B697-21CB6D367765}" type="datetimeFigureOut">
              <a:rPr lang="en-US" smtClean="0"/>
              <a:pPr/>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DF5FC2-691B-4BBB-9244-AB32C7BFD496}" type="slidenum">
              <a:rPr lang="en-US" smtClean="0"/>
              <a:pPr/>
              <a:t>‹#›</a:t>
            </a:fld>
            <a:endParaRPr lang="en-US"/>
          </a:p>
        </p:txBody>
      </p:sp>
    </p:spTree>
    <p:extLst>
      <p:ext uri="{BB962C8B-B14F-4D97-AF65-F5344CB8AC3E}">
        <p14:creationId xmlns:p14="http://schemas.microsoft.com/office/powerpoint/2010/main" val="1148609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E18CC09-6E82-425B-B697-21CB6D367765}" type="datetimeFigureOut">
              <a:rPr lang="en-US" smtClean="0"/>
              <a:pPr/>
              <a:t>9/3/2025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DF5FC2-691B-4BBB-9244-AB32C7BFD496}" type="slidenum">
              <a:rPr lang="en-US" smtClean="0"/>
              <a:pPr/>
              <a:t>‹#›</a:t>
            </a:fld>
            <a:endParaRPr lang="en-US"/>
          </a:p>
        </p:txBody>
      </p:sp>
    </p:spTree>
    <p:extLst>
      <p:ext uri="{BB962C8B-B14F-4D97-AF65-F5344CB8AC3E}">
        <p14:creationId xmlns:p14="http://schemas.microsoft.com/office/powerpoint/2010/main" val="892955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E18CC09-6E82-425B-B697-21CB6D367765}" type="datetimeFigureOut">
              <a:rPr lang="en-US" smtClean="0"/>
              <a:pPr/>
              <a:t>9/3/2025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DF5FC2-691B-4BBB-9244-AB32C7BFD496}" type="slidenum">
              <a:rPr lang="en-US" smtClean="0"/>
              <a:pPr/>
              <a:t>‹#›</a:t>
            </a:fld>
            <a:endParaRPr lang="en-US"/>
          </a:p>
        </p:txBody>
      </p:sp>
    </p:spTree>
    <p:extLst>
      <p:ext uri="{BB962C8B-B14F-4D97-AF65-F5344CB8AC3E}">
        <p14:creationId xmlns:p14="http://schemas.microsoft.com/office/powerpoint/2010/main" val="2356774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18CC09-6E82-425B-B697-21CB6D367765}" type="datetimeFigureOut">
              <a:rPr lang="en-US" smtClean="0"/>
              <a:pPr/>
              <a:t>9/3/2025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DF5FC2-691B-4BBB-9244-AB32C7BFD496}" type="slidenum">
              <a:rPr lang="en-US" smtClean="0"/>
              <a:pPr/>
              <a:t>‹#›</a:t>
            </a:fld>
            <a:endParaRPr lang="en-US"/>
          </a:p>
        </p:txBody>
      </p:sp>
    </p:spTree>
    <p:extLst>
      <p:ext uri="{BB962C8B-B14F-4D97-AF65-F5344CB8AC3E}">
        <p14:creationId xmlns:p14="http://schemas.microsoft.com/office/powerpoint/2010/main" val="4033131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18CC09-6E82-425B-B697-21CB6D367765}" type="datetimeFigureOut">
              <a:rPr lang="en-US" smtClean="0"/>
              <a:pPr/>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DF5FC2-691B-4BBB-9244-AB32C7BFD496}" type="slidenum">
              <a:rPr lang="en-US" smtClean="0"/>
              <a:pPr/>
              <a:t>‹#›</a:t>
            </a:fld>
            <a:endParaRPr lang="en-US"/>
          </a:p>
        </p:txBody>
      </p:sp>
    </p:spTree>
    <p:extLst>
      <p:ext uri="{BB962C8B-B14F-4D97-AF65-F5344CB8AC3E}">
        <p14:creationId xmlns:p14="http://schemas.microsoft.com/office/powerpoint/2010/main" val="2222931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18CC09-6E82-425B-B697-21CB6D367765}" type="datetimeFigureOut">
              <a:rPr lang="en-US" smtClean="0"/>
              <a:pPr/>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DF5FC2-691B-4BBB-9244-AB32C7BFD496}" type="slidenum">
              <a:rPr lang="en-US" smtClean="0"/>
              <a:pPr/>
              <a:t>‹#›</a:t>
            </a:fld>
            <a:endParaRPr lang="en-US"/>
          </a:p>
        </p:txBody>
      </p:sp>
    </p:spTree>
    <p:extLst>
      <p:ext uri="{BB962C8B-B14F-4D97-AF65-F5344CB8AC3E}">
        <p14:creationId xmlns:p14="http://schemas.microsoft.com/office/powerpoint/2010/main" val="2693258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18CC09-6E82-425B-B697-21CB6D367765}" type="datetimeFigureOut">
              <a:rPr lang="en-US" smtClean="0"/>
              <a:pPr/>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DF5FC2-691B-4BBB-9244-AB32C7BFD496}" type="slidenum">
              <a:rPr lang="en-US" smtClean="0"/>
              <a:pPr/>
              <a:t>‹#›</a:t>
            </a:fld>
            <a:endParaRPr lang="en-US"/>
          </a:p>
        </p:txBody>
      </p:sp>
    </p:spTree>
    <p:extLst>
      <p:ext uri="{BB962C8B-B14F-4D97-AF65-F5344CB8AC3E}">
        <p14:creationId xmlns:p14="http://schemas.microsoft.com/office/powerpoint/2010/main" val="110338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18CC09-6E82-425B-B697-21CB6D367765}" type="datetimeFigureOut">
              <a:rPr lang="en-US" smtClean="0"/>
              <a:pPr/>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DF5FC2-691B-4BBB-9244-AB32C7BFD496}" type="slidenum">
              <a:rPr lang="en-US" smtClean="0"/>
              <a:pPr/>
              <a:t>‹#›</a:t>
            </a:fld>
            <a:endParaRPr lang="en-US"/>
          </a:p>
        </p:txBody>
      </p:sp>
    </p:spTree>
    <p:extLst>
      <p:ext uri="{BB962C8B-B14F-4D97-AF65-F5344CB8AC3E}">
        <p14:creationId xmlns:p14="http://schemas.microsoft.com/office/powerpoint/2010/main" val="2739644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18CC09-6E82-425B-B697-21CB6D367765}" type="datetimeFigureOut">
              <a:rPr lang="en-US" smtClean="0"/>
              <a:pPr/>
              <a:t>9/3/2025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DF5FC2-691B-4BBB-9244-AB32C7BFD496}" type="slidenum">
              <a:rPr lang="en-US" smtClean="0"/>
              <a:pPr/>
              <a:t>‹#›</a:t>
            </a:fld>
            <a:endParaRPr lang="en-US"/>
          </a:p>
        </p:txBody>
      </p:sp>
    </p:spTree>
    <p:extLst>
      <p:ext uri="{BB962C8B-B14F-4D97-AF65-F5344CB8AC3E}">
        <p14:creationId xmlns:p14="http://schemas.microsoft.com/office/powerpoint/2010/main" val="42311117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BLOCK CIPHERS AND THE DATA</a:t>
            </a:r>
            <a:br>
              <a:rPr lang="en-US" b="1" dirty="0"/>
            </a:br>
            <a:r>
              <a:rPr lang="en-US" b="1" dirty="0"/>
              <a:t>ENCRYPTION STANDARD</a:t>
            </a:r>
            <a:endParaRPr lang="en-US" dirty="0"/>
          </a:p>
        </p:txBody>
      </p:sp>
    </p:spTree>
    <p:extLst>
      <p:ext uri="{BB962C8B-B14F-4D97-AF65-F5344CB8AC3E}">
        <p14:creationId xmlns:p14="http://schemas.microsoft.com/office/powerpoint/2010/main" val="1865710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92500"/>
          </a:bodyPr>
          <a:lstStyle/>
          <a:p>
            <a:pPr marL="0" lvl="3" indent="0" algn="just">
              <a:buNone/>
            </a:pPr>
            <a:r>
              <a:rPr lang="en-US" sz="2800" b="1" dirty="0"/>
              <a:t>The way in which the plaintext is processed.</a:t>
            </a:r>
          </a:p>
          <a:p>
            <a:pPr marL="0" lvl="3" indent="0" algn="just">
              <a:buNone/>
            </a:pPr>
            <a:r>
              <a:rPr lang="en-US" sz="2800" dirty="0">
                <a:solidFill>
                  <a:srgbClr val="FF0000"/>
                </a:solidFill>
              </a:rPr>
              <a:t>A block cipher </a:t>
            </a:r>
            <a:r>
              <a:rPr lang="en-US" sz="2800" dirty="0"/>
              <a:t>processes the input one block of elements at a time, producing an output block for each input block. </a:t>
            </a:r>
          </a:p>
          <a:p>
            <a:pPr marL="0" indent="0" algn="just">
              <a:buNone/>
            </a:pPr>
            <a:r>
              <a:rPr lang="en-US" sz="2800" dirty="0">
                <a:solidFill>
                  <a:srgbClr val="FF0000"/>
                </a:solidFill>
              </a:rPr>
              <a:t>A stream cipher </a:t>
            </a:r>
            <a:r>
              <a:rPr lang="en-US" sz="2800" dirty="0"/>
              <a:t>processes the input elements continuously, producing output one element at a time, </a:t>
            </a:r>
          </a:p>
          <a:p>
            <a:pPr marL="0" indent="0" algn="just">
              <a:buNone/>
            </a:pPr>
            <a:r>
              <a:rPr lang="en-US" sz="2800" dirty="0"/>
              <a:t>The basic scheme of a block cipher is depicted as follows −</a:t>
            </a:r>
          </a:p>
          <a:p>
            <a:pPr algn="just"/>
            <a:r>
              <a:rPr lang="en-US" sz="2800" dirty="0"/>
              <a:t>A block cipher takes a block of plaintext bits and generates a block of cipher text bits, generally of same size. The size of block is fixed in the given scheme. The choice of block size does not directly affect to the strength of encryption scheme. The strength of cipher depends up on the key length.</a:t>
            </a:r>
          </a:p>
          <a:p>
            <a:pPr marL="0" indent="0" algn="just">
              <a:buNone/>
            </a:pPr>
            <a:endParaRPr lang="en-US" dirty="0"/>
          </a:p>
        </p:txBody>
      </p:sp>
      <p:sp>
        <p:nvSpPr>
          <p:cNvPr id="4" name="Rectangle 3"/>
          <p:cNvSpPr/>
          <p:nvPr/>
        </p:nvSpPr>
        <p:spPr>
          <a:xfrm>
            <a:off x="4022202" y="3244334"/>
            <a:ext cx="184731" cy="369332"/>
          </a:xfrm>
          <a:prstGeom prst="rect">
            <a:avLst/>
          </a:prstGeom>
        </p:spPr>
        <p:txBody>
          <a:bodyPr wrap="none">
            <a:spAutoFit/>
          </a:bodyPr>
          <a:lstStyle/>
          <a:p>
            <a:endParaRPr lang="en-US" dirty="0"/>
          </a:p>
        </p:txBody>
      </p:sp>
    </p:spTree>
    <p:extLst>
      <p:ext uri="{BB962C8B-B14F-4D97-AF65-F5344CB8AC3E}">
        <p14:creationId xmlns:p14="http://schemas.microsoft.com/office/powerpoint/2010/main" val="383175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Block Size</a:t>
            </a:r>
            <a:br>
              <a:rPr lang="en-US" dirty="0"/>
            </a:br>
            <a:endParaRPr lang="en-US" dirty="0"/>
          </a:p>
        </p:txBody>
      </p:sp>
      <p:sp>
        <p:nvSpPr>
          <p:cNvPr id="3" name="Content Placeholder 2"/>
          <p:cNvSpPr>
            <a:spLocks noGrp="1"/>
          </p:cNvSpPr>
          <p:nvPr>
            <p:ph idx="1"/>
          </p:nvPr>
        </p:nvSpPr>
        <p:spPr>
          <a:xfrm>
            <a:off x="457200" y="838200"/>
            <a:ext cx="8229600" cy="5287963"/>
          </a:xfrm>
        </p:spPr>
        <p:txBody>
          <a:bodyPr>
            <a:normAutofit fontScale="77500" lnSpcReduction="20000"/>
          </a:bodyPr>
          <a:lstStyle/>
          <a:p>
            <a:pPr algn="just"/>
            <a:r>
              <a:rPr lang="en-US" dirty="0"/>
              <a:t>Though any size of block is acceptable, following aspects are borne in mind while selecting a size of a block.</a:t>
            </a:r>
          </a:p>
          <a:p>
            <a:pPr algn="just"/>
            <a:r>
              <a:rPr lang="en-US" b="1" dirty="0"/>
              <a:t>Avoid very small block size</a:t>
            </a:r>
            <a:r>
              <a:rPr lang="en-US" dirty="0"/>
              <a:t> − Say a block size is m bits. Then the possible plaintext bits combinations are then 2</a:t>
            </a:r>
            <a:r>
              <a:rPr lang="en-US" baseline="30000" dirty="0"/>
              <a:t>m</a:t>
            </a:r>
            <a:r>
              <a:rPr lang="en-US" dirty="0"/>
              <a:t>. If the attacker discovers the plain text blocks corresponding to some previously sent </a:t>
            </a:r>
            <a:r>
              <a:rPr lang="en-US" dirty="0" err="1"/>
              <a:t>ciphertext</a:t>
            </a:r>
            <a:r>
              <a:rPr lang="en-US" dirty="0"/>
              <a:t> blocks, then the attacker can launch a type of ‘dictionary attack’ by building up a dictionary of plaintext/</a:t>
            </a:r>
            <a:r>
              <a:rPr lang="en-US" dirty="0" err="1"/>
              <a:t>ciphertext</a:t>
            </a:r>
            <a:r>
              <a:rPr lang="en-US" dirty="0"/>
              <a:t> pairs sent using that encryption key. A larger block size makes attack harder as the dictionary needs to be larger.</a:t>
            </a:r>
          </a:p>
          <a:p>
            <a:pPr algn="just"/>
            <a:r>
              <a:rPr lang="en-US" b="1" dirty="0"/>
              <a:t>Do not have very large block size</a:t>
            </a:r>
            <a:r>
              <a:rPr lang="en-US" dirty="0"/>
              <a:t> − With very large block size, the cipher becomes inefficient to operate. Such plaintexts will need to be padded before being encrypted.</a:t>
            </a:r>
          </a:p>
          <a:p>
            <a:pPr algn="just"/>
            <a:r>
              <a:rPr lang="en-US" b="1" dirty="0"/>
              <a:t>Multiples of 8 bit</a:t>
            </a:r>
            <a:r>
              <a:rPr lang="en-US" dirty="0"/>
              <a:t> − A preferred block size is a multiple of 8 as it is easy for implementation as most computer processor handle data in multiple of 8 bits.</a:t>
            </a:r>
          </a:p>
          <a:p>
            <a:pPr algn="just"/>
            <a:endParaRPr lang="en-US" dirty="0"/>
          </a:p>
        </p:txBody>
      </p:sp>
    </p:spTree>
    <p:extLst>
      <p:ext uri="{BB962C8B-B14F-4D97-AF65-F5344CB8AC3E}">
        <p14:creationId xmlns:p14="http://schemas.microsoft.com/office/powerpoint/2010/main" val="4270674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31837"/>
            <a:ext cx="8229600" cy="5668963"/>
          </a:xfrm>
        </p:spPr>
        <p:txBody>
          <a:bodyPr>
            <a:normAutofit fontScale="85000" lnSpcReduction="10000"/>
          </a:bodyPr>
          <a:lstStyle/>
          <a:p>
            <a:pPr algn="just"/>
            <a:r>
              <a:rPr lang="en-US" dirty="0"/>
              <a:t>Block ciphers process blocks of fixed sizes (say 64 bits). The length of plaintexts is mostly not a multiple of the block size. For example, a 150-bit plaintext provides two blocks of 64 bits each with third block of balance 22 bits. The last block of bits needs to be padded up with redundant information so that the length of the final block equal to block size of the scheme. In our example, the remaining 22 bits need to have additional 42 redundant bits added to provide a complete block. The process of adding bits to the last block is referred to as </a:t>
            </a:r>
            <a:r>
              <a:rPr lang="en-US" b="1" dirty="0"/>
              <a:t>padding</a:t>
            </a:r>
            <a:r>
              <a:rPr lang="en-US" dirty="0"/>
              <a:t>.</a:t>
            </a:r>
          </a:p>
          <a:p>
            <a:pPr algn="just"/>
            <a:r>
              <a:rPr lang="en-US" dirty="0"/>
              <a:t>Too much padding makes the system inefficient. Also, padding may render the system insecure at times, if the padding is done with same bits always.</a:t>
            </a:r>
          </a:p>
          <a:p>
            <a:pPr marL="0" indent="0" algn="just">
              <a:buNone/>
            </a:pPr>
            <a:endParaRPr lang="en-US" dirty="0"/>
          </a:p>
        </p:txBody>
      </p:sp>
    </p:spTree>
    <p:extLst>
      <p:ext uri="{BB962C8B-B14F-4D97-AF65-F5344CB8AC3E}">
        <p14:creationId xmlns:p14="http://schemas.microsoft.com/office/powerpoint/2010/main" val="2495508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1066800"/>
            <a:ext cx="6019800" cy="502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9065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dirty="0"/>
              <a:t>Feistel Block Cipher</a:t>
            </a:r>
          </a:p>
        </p:txBody>
      </p:sp>
      <p:sp>
        <p:nvSpPr>
          <p:cNvPr id="3" name="Content Placeholder 2"/>
          <p:cNvSpPr>
            <a:spLocks noGrp="1"/>
          </p:cNvSpPr>
          <p:nvPr>
            <p:ph idx="1"/>
          </p:nvPr>
        </p:nvSpPr>
        <p:spPr>
          <a:xfrm>
            <a:off x="457200" y="1143000"/>
            <a:ext cx="8229600" cy="5334000"/>
          </a:xfrm>
        </p:spPr>
        <p:txBody>
          <a:bodyPr>
            <a:normAutofit fontScale="77500" lnSpcReduction="20000"/>
          </a:bodyPr>
          <a:lstStyle/>
          <a:p>
            <a:pPr marL="0" indent="0" algn="just">
              <a:buNone/>
            </a:pPr>
            <a:r>
              <a:rPr lang="en-US" dirty="0"/>
              <a:t>Feistel Cipher is not a specific scheme of block cipher. It is a design model from which many different block ciphers are derived. DES is just one example of a Feistel Cipher. A cryptographic system based on Feistel cipher structure uses the same algorithm for both encryption and decryption.</a:t>
            </a:r>
          </a:p>
          <a:p>
            <a:pPr marL="0" indent="0" algn="just">
              <a:buNone/>
            </a:pPr>
            <a:r>
              <a:rPr lang="en-US" dirty="0"/>
              <a:t>FEISTEL CIPHER DESIGN ELEMENTS</a:t>
            </a:r>
          </a:p>
          <a:p>
            <a:pPr algn="just"/>
            <a:r>
              <a:rPr lang="en-US" dirty="0"/>
              <a:t>block size </a:t>
            </a:r>
          </a:p>
          <a:p>
            <a:pPr algn="just"/>
            <a:r>
              <a:rPr lang="en-US" dirty="0"/>
              <a:t>key size</a:t>
            </a:r>
          </a:p>
          <a:p>
            <a:pPr algn="just"/>
            <a:r>
              <a:rPr lang="en-US" dirty="0"/>
              <a:t>number of rounds </a:t>
            </a:r>
          </a:p>
          <a:p>
            <a:pPr algn="just"/>
            <a:r>
              <a:rPr lang="en-US" dirty="0" err="1"/>
              <a:t>subkey</a:t>
            </a:r>
            <a:r>
              <a:rPr lang="en-US" dirty="0"/>
              <a:t> generation algorithm </a:t>
            </a:r>
          </a:p>
          <a:p>
            <a:pPr algn="just"/>
            <a:r>
              <a:rPr lang="en-US" dirty="0"/>
              <a:t>round function</a:t>
            </a:r>
          </a:p>
          <a:p>
            <a:pPr algn="just"/>
            <a:r>
              <a:rPr lang="en-US" dirty="0"/>
              <a:t>fast software </a:t>
            </a:r>
            <a:r>
              <a:rPr lang="en-US" dirty="0" err="1"/>
              <a:t>en</a:t>
            </a:r>
            <a:r>
              <a:rPr lang="en-US" dirty="0"/>
              <a:t>/decryption </a:t>
            </a:r>
          </a:p>
          <a:p>
            <a:pPr algn="just"/>
            <a:r>
              <a:rPr lang="en-US" dirty="0"/>
              <a:t>ease of analysis</a:t>
            </a:r>
          </a:p>
        </p:txBody>
      </p:sp>
    </p:spTree>
    <p:extLst>
      <p:ext uri="{BB962C8B-B14F-4D97-AF65-F5344CB8AC3E}">
        <p14:creationId xmlns:p14="http://schemas.microsoft.com/office/powerpoint/2010/main" val="3004125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a:bodyPr>
          <a:lstStyle/>
          <a:p>
            <a:pPr algn="just"/>
            <a:r>
              <a:rPr lang="en-US" b="1" dirty="0"/>
              <a:t>Substitution: </a:t>
            </a:r>
            <a:r>
              <a:rPr lang="en-US" dirty="0"/>
              <a:t>Each plaintext element or group of elements is uniquely replaced by a corresponding </a:t>
            </a:r>
            <a:r>
              <a:rPr lang="en-US" dirty="0" err="1"/>
              <a:t>ciphertext</a:t>
            </a:r>
            <a:r>
              <a:rPr lang="en-US" dirty="0"/>
              <a:t> element or group of elements.</a:t>
            </a:r>
          </a:p>
          <a:p>
            <a:pPr algn="just"/>
            <a:r>
              <a:rPr lang="en-US" b="1" dirty="0"/>
              <a:t>Permutation: </a:t>
            </a:r>
            <a:r>
              <a:rPr lang="en-US" dirty="0"/>
              <a:t>A sequence of plaintext elements are replaced by a permutation of that sequence. That is, no elements are added or deleted or replaced in the sequence, rather the order in which the elements appear in the sequence is changed.</a:t>
            </a:r>
          </a:p>
        </p:txBody>
      </p:sp>
    </p:spTree>
    <p:extLst>
      <p:ext uri="{BB962C8B-B14F-4D97-AF65-F5344CB8AC3E}">
        <p14:creationId xmlns:p14="http://schemas.microsoft.com/office/powerpoint/2010/main" val="2578367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3200400"/>
          </a:xfrm>
        </p:spPr>
        <p:txBody>
          <a:bodyPr>
            <a:noAutofit/>
          </a:bodyPr>
          <a:lstStyle/>
          <a:p>
            <a:pPr marL="0" indent="0" algn="just">
              <a:lnSpc>
                <a:spcPct val="150000"/>
              </a:lnSpc>
              <a:buNone/>
            </a:pPr>
            <a:r>
              <a:rPr lang="en-US" sz="2500" dirty="0"/>
              <a:t>In fact, </a:t>
            </a:r>
            <a:r>
              <a:rPr lang="en-US" sz="2500" dirty="0" err="1"/>
              <a:t>Feistel’s</a:t>
            </a:r>
            <a:r>
              <a:rPr lang="en-US" sz="2500" dirty="0"/>
              <a:t> is a practical application of a proposal by Claude Shannon to develop a product cipher that alternates </a:t>
            </a:r>
            <a:r>
              <a:rPr lang="en-US" sz="2500" i="1" dirty="0"/>
              <a:t>confusion </a:t>
            </a:r>
            <a:r>
              <a:rPr lang="en-US" sz="2500" dirty="0"/>
              <a:t>and </a:t>
            </a:r>
            <a:r>
              <a:rPr lang="en-US" sz="2500" i="1" dirty="0"/>
              <a:t>diffusion </a:t>
            </a:r>
            <a:r>
              <a:rPr lang="en-US" sz="2500" dirty="0"/>
              <a:t>functions [SHAN49]. The Feistel cipher structure, which dates back over a quarter century and which, in turn, is based on Shannon’s proposal of 1945, is the structure used by many significant symmetric block ciphers currently in use. </a:t>
            </a:r>
          </a:p>
        </p:txBody>
      </p:sp>
    </p:spTree>
    <p:extLst>
      <p:ext uri="{BB962C8B-B14F-4D97-AF65-F5344CB8AC3E}">
        <p14:creationId xmlns:p14="http://schemas.microsoft.com/office/powerpoint/2010/main" val="4219140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lgn="just">
              <a:buNone/>
            </a:pPr>
            <a:r>
              <a:rPr lang="en-US" dirty="0">
                <a:solidFill>
                  <a:srgbClr val="FF0000"/>
                </a:solidFill>
              </a:rPr>
              <a:t>In </a:t>
            </a:r>
            <a:r>
              <a:rPr lang="en-US" b="1" dirty="0">
                <a:solidFill>
                  <a:srgbClr val="FF0000"/>
                </a:solidFill>
              </a:rPr>
              <a:t>diffusion</a:t>
            </a:r>
            <a:r>
              <a:rPr lang="en-US" dirty="0"/>
              <a:t>, the statistical structure of the plaintext is degenerate into long-range statistics of the </a:t>
            </a:r>
            <a:r>
              <a:rPr lang="en-US" dirty="0" err="1"/>
              <a:t>ciphertext</a:t>
            </a:r>
            <a:r>
              <a:rPr lang="en-US" dirty="0"/>
              <a:t>. This is achieved by having each plaintext digit affect the value of many </a:t>
            </a:r>
            <a:r>
              <a:rPr lang="en-US" dirty="0" err="1"/>
              <a:t>ciphertext</a:t>
            </a:r>
            <a:r>
              <a:rPr lang="en-US" dirty="0"/>
              <a:t> digits; generally, this is equivalent to having each </a:t>
            </a:r>
            <a:r>
              <a:rPr lang="en-US" dirty="0" err="1"/>
              <a:t>ciphertext</a:t>
            </a:r>
            <a:r>
              <a:rPr lang="en-US" dirty="0"/>
              <a:t> digit be affected by many plaintext digits.</a:t>
            </a:r>
          </a:p>
        </p:txBody>
      </p:sp>
    </p:spTree>
    <p:extLst>
      <p:ext uri="{BB962C8B-B14F-4D97-AF65-F5344CB8AC3E}">
        <p14:creationId xmlns:p14="http://schemas.microsoft.com/office/powerpoint/2010/main" val="3558085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IN" dirty="0">
                <a:solidFill>
                  <a:srgbClr val="FF0000"/>
                </a:solidFill>
              </a:rPr>
              <a:t>The confusion </a:t>
            </a:r>
            <a:r>
              <a:rPr lang="en-IN" dirty="0"/>
              <a:t>seeks to make the relationship between the statistics of the </a:t>
            </a:r>
            <a:r>
              <a:rPr lang="en-IN" dirty="0" err="1"/>
              <a:t>ciphertext</a:t>
            </a:r>
            <a:r>
              <a:rPr lang="en-IN" dirty="0"/>
              <a:t> and the value of the encryption key as complex as possible . It should be as complex as attacker must be confused to deduce the key. This is achieved by the use of complex substitution algorithm.</a:t>
            </a:r>
          </a:p>
        </p:txBody>
      </p:sp>
    </p:spTree>
    <p:extLst>
      <p:ext uri="{BB962C8B-B14F-4D97-AF65-F5344CB8AC3E}">
        <p14:creationId xmlns:p14="http://schemas.microsoft.com/office/powerpoint/2010/main" val="819322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DES (History)</a:t>
            </a:r>
          </a:p>
        </p:txBody>
      </p:sp>
      <p:sp>
        <p:nvSpPr>
          <p:cNvPr id="3" name="Content Placeholder 2"/>
          <p:cNvSpPr>
            <a:spLocks noGrp="1"/>
          </p:cNvSpPr>
          <p:nvPr>
            <p:ph idx="1"/>
          </p:nvPr>
        </p:nvSpPr>
        <p:spPr>
          <a:xfrm>
            <a:off x="457200" y="1722437"/>
            <a:ext cx="8229600" cy="4525963"/>
          </a:xfrm>
        </p:spPr>
        <p:txBody>
          <a:bodyPr/>
          <a:lstStyle/>
          <a:p>
            <a:pPr algn="just"/>
            <a:r>
              <a:rPr lang="en-US" dirty="0"/>
              <a:t>IBM developed Lucifer cipher – by team led by Feistel in late 60’s – used 64‐bit data blocks with 128‐bit key • then redeveloped as a commercial cipher with input from NSA and others • in 1973 NBS issued request for proposals for a national cipher standard • IBM submitted their revised Lucifer which was eventually accepted as the DES</a:t>
            </a:r>
          </a:p>
        </p:txBody>
      </p:sp>
    </p:spTree>
    <p:extLst>
      <p:ext uri="{BB962C8B-B14F-4D97-AF65-F5344CB8AC3E}">
        <p14:creationId xmlns:p14="http://schemas.microsoft.com/office/powerpoint/2010/main" val="1165501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 Encryption Standard</a:t>
            </a:r>
          </a:p>
        </p:txBody>
      </p:sp>
      <p:sp>
        <p:nvSpPr>
          <p:cNvPr id="3" name="Content Placeholder 2"/>
          <p:cNvSpPr>
            <a:spLocks noGrp="1"/>
          </p:cNvSpPr>
          <p:nvPr>
            <p:ph idx="1"/>
          </p:nvPr>
        </p:nvSpPr>
        <p:spPr/>
        <p:txBody>
          <a:bodyPr>
            <a:normAutofit fontScale="85000" lnSpcReduction="10000"/>
          </a:bodyPr>
          <a:lstStyle/>
          <a:p>
            <a:pPr algn="just"/>
            <a:r>
              <a:rPr lang="en-US" dirty="0"/>
              <a:t>The Data Encryption Standard (DES) is a symmetric-key block cipher published by the National Institute of Standards and Technology (NIST).</a:t>
            </a:r>
          </a:p>
          <a:p>
            <a:pPr algn="just"/>
            <a:r>
              <a:rPr lang="en-US" dirty="0"/>
              <a:t>DES is an implementation of a Feistel Cipher. </a:t>
            </a:r>
            <a:r>
              <a:rPr lang="en-US" dirty="0">
                <a:solidFill>
                  <a:srgbClr val="FF0000"/>
                </a:solidFill>
              </a:rPr>
              <a:t>It uses 16 round Feistel structure. The block size is 64-bit. Though, key length is 64-bit, DES has an effective key length of 56 bits, since 8 of the 64 bits of the key are </a:t>
            </a:r>
            <a:r>
              <a:rPr lang="en-US" dirty="0"/>
              <a:t>not used by the encryption algorithm (function as check bits only). General Structure of DES is depicted in the following illustration −</a:t>
            </a:r>
          </a:p>
        </p:txBody>
      </p:sp>
    </p:spTree>
    <p:extLst>
      <p:ext uri="{BB962C8B-B14F-4D97-AF65-F5344CB8AC3E}">
        <p14:creationId xmlns:p14="http://schemas.microsoft.com/office/powerpoint/2010/main" val="3864106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Encryption Process-----</a:t>
            </a:r>
          </a:p>
        </p:txBody>
      </p:sp>
      <p:sp>
        <p:nvSpPr>
          <p:cNvPr id="3" name="Content Placeholder 2"/>
          <p:cNvSpPr>
            <a:spLocks noGrp="1"/>
          </p:cNvSpPr>
          <p:nvPr>
            <p:ph idx="1"/>
          </p:nvPr>
        </p:nvSpPr>
        <p:spPr/>
        <p:txBody>
          <a:bodyPr/>
          <a:lstStyle/>
          <a:p>
            <a:pPr marL="0" indent="0" algn="just">
              <a:buNone/>
            </a:pPr>
            <a:r>
              <a:rPr lang="en-US" dirty="0"/>
              <a:t>The encryption process uses the Feistel structure consisting multiple rounds of processing of the plaintext, each round consisting of a “substitution” step followed by a permutation step.</a:t>
            </a:r>
          </a:p>
          <a:p>
            <a:pPr marL="0" indent="0">
              <a:buNone/>
            </a:pPr>
            <a:r>
              <a:rPr lang="en-US" dirty="0"/>
              <a:t>Feistel Structure is shown in the following illustration −</a:t>
            </a:r>
          </a:p>
          <a:p>
            <a:pPr marL="0" indent="0">
              <a:buNone/>
            </a:pPr>
            <a:endParaRPr lang="en-US" dirty="0"/>
          </a:p>
          <a:p>
            <a:endParaRPr lang="en-US" dirty="0"/>
          </a:p>
        </p:txBody>
      </p:sp>
    </p:spTree>
    <p:extLst>
      <p:ext uri="{BB962C8B-B14F-4D97-AF65-F5344CB8AC3E}">
        <p14:creationId xmlns:p14="http://schemas.microsoft.com/office/powerpoint/2010/main" val="822301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04800" y="-39329"/>
            <a:ext cx="8305800" cy="6629400"/>
          </a:xfrm>
        </p:spPr>
      </p:pic>
    </p:spTree>
    <p:extLst>
      <p:ext uri="{BB962C8B-B14F-4D97-AF65-F5344CB8AC3E}">
        <p14:creationId xmlns:p14="http://schemas.microsoft.com/office/powerpoint/2010/main" val="3215880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normAutofit fontScale="85000" lnSpcReduction="20000"/>
          </a:bodyPr>
          <a:lstStyle/>
          <a:p>
            <a:pPr marL="0" indent="0" algn="just">
              <a:buNone/>
            </a:pPr>
            <a:r>
              <a:rPr lang="en-US" dirty="0"/>
              <a:t>STEPS</a:t>
            </a:r>
          </a:p>
          <a:p>
            <a:pPr algn="just"/>
            <a:r>
              <a:rPr lang="en-US" dirty="0"/>
              <a:t>The input block to each round is divided into two halves that can be denoted as L and R for the left half and the right half.</a:t>
            </a:r>
          </a:p>
          <a:p>
            <a:pPr algn="just"/>
            <a:r>
              <a:rPr lang="en-US" dirty="0"/>
              <a:t>In each round, the right half of the block, R, goes through unchanged. But the left half, L, goes through an operation that depends on R and the encryption key. First, we apply an encrypting function ‘f’ that takes two input − the key K and R. The function produces the output f(R,K). Then, we XOR the output of the mathematical function with L.</a:t>
            </a:r>
          </a:p>
          <a:p>
            <a:pPr algn="just"/>
            <a:r>
              <a:rPr lang="en-US" dirty="0"/>
              <a:t>In real implementation of the Feistel Cipher, such as DES, instead of using the whole encryption key during each round, a round-dependent key (a </a:t>
            </a:r>
            <a:r>
              <a:rPr lang="en-US" dirty="0" err="1"/>
              <a:t>subkey</a:t>
            </a:r>
            <a:r>
              <a:rPr lang="en-US" dirty="0"/>
              <a:t>) is derived from the encryption key. This means that each round uses a different key, although all these </a:t>
            </a:r>
            <a:r>
              <a:rPr lang="en-US" dirty="0" err="1"/>
              <a:t>subkeys</a:t>
            </a:r>
            <a:r>
              <a:rPr lang="en-US" dirty="0"/>
              <a:t> are related to the original key.</a:t>
            </a:r>
          </a:p>
          <a:p>
            <a:pPr algn="just"/>
            <a:endParaRPr lang="en-US" dirty="0"/>
          </a:p>
        </p:txBody>
      </p:sp>
    </p:spTree>
    <p:extLst>
      <p:ext uri="{BB962C8B-B14F-4D97-AF65-F5344CB8AC3E}">
        <p14:creationId xmlns:p14="http://schemas.microsoft.com/office/powerpoint/2010/main" val="506030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85000" lnSpcReduction="20000"/>
          </a:bodyPr>
          <a:lstStyle/>
          <a:p>
            <a:pPr algn="just"/>
            <a:r>
              <a:rPr lang="en-US" dirty="0"/>
              <a:t>The permutation step at the end of each round swaps the modified L and unmodified R. Therefore, the L for the next round would be R of the current round. And R for the next round be the output L of the current round.</a:t>
            </a:r>
          </a:p>
          <a:p>
            <a:pPr algn="just"/>
            <a:r>
              <a:rPr lang="en-US" dirty="0"/>
              <a:t>Above substitution and permutation steps form a ‘round’. The number of rounds are specified by the algorithm design.</a:t>
            </a:r>
          </a:p>
          <a:p>
            <a:pPr algn="just"/>
            <a:r>
              <a:rPr lang="en-US" dirty="0"/>
              <a:t>Once the last round is completed then the two sub blocks, ‘R’ and ‘L’ are concatenated in this order to form the </a:t>
            </a:r>
            <a:r>
              <a:rPr lang="en-US" dirty="0" err="1"/>
              <a:t>ciphertext</a:t>
            </a:r>
            <a:r>
              <a:rPr lang="en-US" dirty="0"/>
              <a:t> block.</a:t>
            </a:r>
          </a:p>
          <a:p>
            <a:pPr algn="just"/>
            <a:r>
              <a:rPr lang="en-US" dirty="0"/>
              <a:t>The difficult part of designing a Feistel Cipher is selection of round function ‘f’. In order to be unbreakable scheme, this function needs to have several important properties that are beyond the scope of our discussion.</a:t>
            </a:r>
          </a:p>
          <a:p>
            <a:pPr algn="just"/>
            <a:endParaRPr lang="en-US" dirty="0"/>
          </a:p>
        </p:txBody>
      </p:sp>
    </p:spTree>
    <p:extLst>
      <p:ext uri="{BB962C8B-B14F-4D97-AF65-F5344CB8AC3E}">
        <p14:creationId xmlns:p14="http://schemas.microsoft.com/office/powerpoint/2010/main" val="2433186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09600" y="228600"/>
            <a:ext cx="7772400" cy="6629400"/>
          </a:xfrm>
        </p:spPr>
      </p:pic>
    </p:spTree>
    <p:extLst>
      <p:ext uri="{BB962C8B-B14F-4D97-AF65-F5344CB8AC3E}">
        <p14:creationId xmlns:p14="http://schemas.microsoft.com/office/powerpoint/2010/main" val="27984862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Decryption Process</a:t>
            </a:r>
          </a:p>
        </p:txBody>
      </p:sp>
      <p:sp>
        <p:nvSpPr>
          <p:cNvPr id="3" name="Content Placeholder 2"/>
          <p:cNvSpPr>
            <a:spLocks noGrp="1"/>
          </p:cNvSpPr>
          <p:nvPr>
            <p:ph idx="1"/>
          </p:nvPr>
        </p:nvSpPr>
        <p:spPr>
          <a:xfrm>
            <a:off x="457200" y="1371600"/>
            <a:ext cx="8229600" cy="4953000"/>
          </a:xfrm>
        </p:spPr>
        <p:txBody>
          <a:bodyPr>
            <a:normAutofit fontScale="85000" lnSpcReduction="20000"/>
          </a:bodyPr>
          <a:lstStyle/>
          <a:p>
            <a:pPr algn="just"/>
            <a:r>
              <a:rPr lang="en-US" dirty="0"/>
              <a:t>The process of decryption in Feistel cipher is almost similar. Instead of starting with a block of plaintext, the </a:t>
            </a:r>
            <a:r>
              <a:rPr lang="en-US" dirty="0" err="1"/>
              <a:t>ciphertext</a:t>
            </a:r>
            <a:r>
              <a:rPr lang="en-US" dirty="0"/>
              <a:t> block is fed into the start of the Feistel structure and then the process thereafter is exactly the same as described in the given illustration.</a:t>
            </a:r>
          </a:p>
          <a:p>
            <a:pPr algn="just"/>
            <a:r>
              <a:rPr lang="en-US" dirty="0"/>
              <a:t>The process is said to be almost similar and not exactly same. In the case of decryption, the only difference is that the </a:t>
            </a:r>
            <a:r>
              <a:rPr lang="en-US" dirty="0" err="1"/>
              <a:t>subkeys</a:t>
            </a:r>
            <a:r>
              <a:rPr lang="en-US" dirty="0"/>
              <a:t> used in encryption are used in the reverse order.</a:t>
            </a:r>
          </a:p>
          <a:p>
            <a:pPr algn="just"/>
            <a:r>
              <a:rPr lang="en-US" dirty="0"/>
              <a:t>The final swapping of ‘L’ and ‘R’ in last step of the Feistel Cipher is essential. If these are not swapped then the resulting </a:t>
            </a:r>
            <a:r>
              <a:rPr lang="en-US" dirty="0" err="1"/>
              <a:t>ciphertext</a:t>
            </a:r>
            <a:r>
              <a:rPr lang="en-US" dirty="0"/>
              <a:t> could not be decrypted using the same algorithm.</a:t>
            </a:r>
          </a:p>
          <a:p>
            <a:pPr algn="just"/>
            <a:endParaRPr lang="en-US" dirty="0"/>
          </a:p>
        </p:txBody>
      </p:sp>
    </p:spTree>
    <p:extLst>
      <p:ext uri="{BB962C8B-B14F-4D97-AF65-F5344CB8AC3E}">
        <p14:creationId xmlns:p14="http://schemas.microsoft.com/office/powerpoint/2010/main" val="32580482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Number of Rounds</a:t>
            </a:r>
          </a:p>
        </p:txBody>
      </p:sp>
      <p:sp>
        <p:nvSpPr>
          <p:cNvPr id="3" name="Content Placeholder 2"/>
          <p:cNvSpPr>
            <a:spLocks noGrp="1"/>
          </p:cNvSpPr>
          <p:nvPr>
            <p:ph idx="1"/>
          </p:nvPr>
        </p:nvSpPr>
        <p:spPr/>
        <p:txBody>
          <a:bodyPr>
            <a:normAutofit/>
          </a:bodyPr>
          <a:lstStyle/>
          <a:p>
            <a:pPr algn="just"/>
            <a:r>
              <a:rPr lang="en-US" dirty="0"/>
              <a:t>The number of rounds used in a Feistel Cipher depends on desired security from the system. More number of rounds provide more secure system. But at the same time, more rounds mean the inefficient slow encryption and decryption processes. Number of rounds in the systems thus depend upon efficiency–security tradeoff.</a:t>
            </a:r>
          </a:p>
          <a:p>
            <a:pPr algn="just"/>
            <a:endParaRPr lang="en-US" dirty="0"/>
          </a:p>
        </p:txBody>
      </p:sp>
    </p:spTree>
    <p:extLst>
      <p:ext uri="{BB962C8B-B14F-4D97-AF65-F5344CB8AC3E}">
        <p14:creationId xmlns:p14="http://schemas.microsoft.com/office/powerpoint/2010/main" val="951733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421B35-C398-4B99-80FC-28EF64D5272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9BB1AF6B-EE31-4775-9FBF-939B436E205F}"/>
              </a:ext>
            </a:extLst>
          </p:cNvPr>
          <p:cNvSpPr>
            <a:spLocks noGrp="1"/>
          </p:cNvSpPr>
          <p:nvPr>
            <p:ph idx="1"/>
          </p:nvPr>
        </p:nvSpPr>
        <p:spPr/>
        <p:txBody>
          <a:bodyPr/>
          <a:lstStyle/>
          <a:p>
            <a:r>
              <a:rPr lang="en-US" dirty="0"/>
              <a:t>128 bit</a:t>
            </a:r>
          </a:p>
          <a:p>
            <a:r>
              <a:rPr lang="en-US" dirty="0"/>
              <a:t>64 bit                 64 bit  R(56 bits key)K1</a:t>
            </a:r>
          </a:p>
          <a:p>
            <a:r>
              <a:rPr lang="en-IN" dirty="0"/>
              <a:t> (F(K, k1)</a:t>
            </a:r>
          </a:p>
          <a:p>
            <a:r>
              <a:rPr lang="en-IN" dirty="0"/>
              <a:t>L (64 bit)+56 bit (XOR)</a:t>
            </a:r>
          </a:p>
          <a:p>
            <a:r>
              <a:rPr lang="en-IN" dirty="0"/>
              <a:t>Output-</a:t>
            </a:r>
            <a:r>
              <a:rPr lang="en-IN" dirty="0">
                <a:sym typeface="Wingdings" panose="05000000000000000000" pitchFamily="2" charset="2"/>
              </a:rPr>
              <a:t>   R</a:t>
            </a:r>
            <a:endParaRPr lang="en-IN" dirty="0"/>
          </a:p>
        </p:txBody>
      </p:sp>
    </p:spTree>
    <p:extLst>
      <p:ext uri="{BB962C8B-B14F-4D97-AF65-F5344CB8AC3E}">
        <p14:creationId xmlns:p14="http://schemas.microsoft.com/office/powerpoint/2010/main" val="21179623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Since DES is based on the Feistel Cipher, all that is required to specify DES is −</a:t>
            </a:r>
          </a:p>
          <a:p>
            <a:r>
              <a:rPr lang="en-US" dirty="0"/>
              <a:t>Round function</a:t>
            </a:r>
          </a:p>
          <a:p>
            <a:r>
              <a:rPr lang="en-US" dirty="0"/>
              <a:t>Key schedule</a:t>
            </a:r>
          </a:p>
          <a:p>
            <a:r>
              <a:rPr lang="en-US" dirty="0"/>
              <a:t>Any additional processing − Initial and final permutation</a:t>
            </a:r>
          </a:p>
          <a:p>
            <a:endParaRPr lang="en-US" dirty="0"/>
          </a:p>
        </p:txBody>
      </p:sp>
    </p:spTree>
    <p:extLst>
      <p:ext uri="{BB962C8B-B14F-4D97-AF65-F5344CB8AC3E}">
        <p14:creationId xmlns:p14="http://schemas.microsoft.com/office/powerpoint/2010/main" val="3594900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Initial and Final Permutation</a:t>
            </a:r>
          </a:p>
        </p:txBody>
      </p:sp>
      <p:sp>
        <p:nvSpPr>
          <p:cNvPr id="3" name="Content Placeholder 2"/>
          <p:cNvSpPr>
            <a:spLocks noGrp="1"/>
          </p:cNvSpPr>
          <p:nvPr>
            <p:ph idx="1"/>
          </p:nvPr>
        </p:nvSpPr>
        <p:spPr/>
        <p:txBody>
          <a:bodyPr/>
          <a:lstStyle/>
          <a:p>
            <a:pPr algn="just"/>
            <a:r>
              <a:rPr lang="en-US" dirty="0"/>
              <a:t>The initial and final permutations are straight Permutation boxes (P-boxes) that are inverses of each other. They have no cryptography significance in DES. The initial and final permutations are shown as follows −</a:t>
            </a:r>
            <a:br>
              <a:rPr lang="en-US" dirty="0"/>
            </a:br>
            <a:endParaRPr lang="en-US" dirty="0"/>
          </a:p>
        </p:txBody>
      </p:sp>
    </p:spTree>
    <p:extLst>
      <p:ext uri="{BB962C8B-B14F-4D97-AF65-F5344CB8AC3E}">
        <p14:creationId xmlns:p14="http://schemas.microsoft.com/office/powerpoint/2010/main" val="17482765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2400" y="304800"/>
            <a:ext cx="8534399" cy="5943600"/>
          </a:xfrm>
        </p:spPr>
      </p:pic>
    </p:spTree>
    <p:extLst>
      <p:ext uri="{BB962C8B-B14F-4D97-AF65-F5344CB8AC3E}">
        <p14:creationId xmlns:p14="http://schemas.microsoft.com/office/powerpoint/2010/main" val="3539361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dirty="0"/>
              <a:t>Round Function</a:t>
            </a:r>
            <a:br>
              <a:rPr lang="en-US" dirty="0"/>
            </a:br>
            <a:r>
              <a:rPr lang="en-US" sz="2700" dirty="0"/>
              <a:t>The heart of this cipher is the DES function, </a:t>
            </a:r>
            <a:r>
              <a:rPr lang="en-US" sz="2700" i="1" dirty="0"/>
              <a:t>f</a:t>
            </a:r>
            <a:r>
              <a:rPr lang="en-US" sz="2700" dirty="0"/>
              <a:t>. The DES function applies a 48-bit key to the rightmost 32 bits to </a:t>
            </a:r>
            <a:r>
              <a:rPr lang="en-US" sz="2200" dirty="0"/>
              <a:t>produce a 32-bit output.   </a:t>
            </a:r>
            <a:r>
              <a:rPr lang="en-US" sz="2200" dirty="0">
                <a:solidFill>
                  <a:srgbClr val="FF0000"/>
                </a:solidFill>
              </a:rPr>
              <a:t>64 bits key-56bit-k1(48bit)</a:t>
            </a:r>
            <a:endParaRPr lang="en-US" sz="2200"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600200" y="2133600"/>
            <a:ext cx="5638799" cy="4343400"/>
          </a:xfrm>
        </p:spPr>
      </p:pic>
    </p:spTree>
    <p:extLst>
      <p:ext uri="{BB962C8B-B14F-4D97-AF65-F5344CB8AC3E}">
        <p14:creationId xmlns:p14="http://schemas.microsoft.com/office/powerpoint/2010/main" val="22156183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436AF3-350C-45A6-8B5F-B31221D942F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317B2347-5AE6-42D6-9DA8-1D76A7FDC32A}"/>
              </a:ext>
            </a:extLst>
          </p:cNvPr>
          <p:cNvSpPr>
            <a:spLocks noGrp="1"/>
          </p:cNvSpPr>
          <p:nvPr>
            <p:ph idx="1"/>
          </p:nvPr>
        </p:nvSpPr>
        <p:spPr/>
        <p:txBody>
          <a:bodyPr>
            <a:normAutofit fontScale="70000" lnSpcReduction="20000"/>
          </a:bodyPr>
          <a:lstStyle/>
          <a:p>
            <a:r>
              <a:rPr lang="en-US" dirty="0"/>
              <a:t>64 bits PT</a:t>
            </a:r>
          </a:p>
          <a:p>
            <a:r>
              <a:rPr lang="en-US" dirty="0"/>
              <a:t>Initial permutation</a:t>
            </a:r>
          </a:p>
          <a:p>
            <a:r>
              <a:rPr lang="en-US" dirty="0"/>
              <a:t>L(32)    R(32)</a:t>
            </a:r>
          </a:p>
          <a:p>
            <a:r>
              <a:rPr lang="en-US" dirty="0"/>
              <a:t>Key Length-K 64bit (56 bits)-</a:t>
            </a:r>
            <a:r>
              <a:rPr lang="en-US" dirty="0">
                <a:sym typeface="Wingdings" panose="05000000000000000000" pitchFamily="2" charset="2"/>
              </a:rPr>
              <a:t>K1(Sub-key)48 bit</a:t>
            </a:r>
          </a:p>
          <a:p>
            <a:r>
              <a:rPr lang="en-US" dirty="0"/>
              <a:t>K1(48 bits) R(32)</a:t>
            </a:r>
          </a:p>
          <a:p>
            <a:r>
              <a:rPr lang="en-US" dirty="0"/>
              <a:t>K1(48 bit) R(48 bit) (expand) </a:t>
            </a:r>
            <a:r>
              <a:rPr lang="en-US" dirty="0" err="1"/>
              <a:t>and,or,nor,xor,xand</a:t>
            </a:r>
            <a:endParaRPr lang="en-US" dirty="0"/>
          </a:p>
          <a:p>
            <a:r>
              <a:rPr lang="en-US" dirty="0"/>
              <a:t>F(K,R)—XOR=output(48) </a:t>
            </a:r>
            <a:r>
              <a:rPr lang="en-US" dirty="0" err="1"/>
              <a:t>xor</a:t>
            </a:r>
            <a:r>
              <a:rPr lang="en-US" dirty="0"/>
              <a:t> Left hand side(32)</a:t>
            </a:r>
          </a:p>
          <a:p>
            <a:r>
              <a:rPr lang="en-US" dirty="0"/>
              <a:t>Output –shift Right</a:t>
            </a:r>
          </a:p>
          <a:p>
            <a:r>
              <a:rPr lang="en-US" dirty="0"/>
              <a:t>Right(32)-shift Left</a:t>
            </a:r>
          </a:p>
          <a:p>
            <a:r>
              <a:rPr lang="en-US" dirty="0"/>
              <a:t>16 round</a:t>
            </a:r>
          </a:p>
          <a:p>
            <a:r>
              <a:rPr lang="en-US" dirty="0"/>
              <a:t>Final permutation</a:t>
            </a:r>
          </a:p>
          <a:p>
            <a:r>
              <a:rPr lang="en-US" dirty="0"/>
              <a:t>Cipher text</a:t>
            </a:r>
            <a:endParaRPr lang="en-IN" dirty="0"/>
          </a:p>
        </p:txBody>
      </p:sp>
    </p:spTree>
    <p:extLst>
      <p:ext uri="{BB962C8B-B14F-4D97-AF65-F5344CB8AC3E}">
        <p14:creationId xmlns:p14="http://schemas.microsoft.com/office/powerpoint/2010/main" val="27185163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 Analysis</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a:t>The DES satisfies both the desired properties of block cipher. These two properties make cipher very strong.</a:t>
            </a:r>
          </a:p>
          <a:p>
            <a:pPr algn="just"/>
            <a:r>
              <a:rPr lang="en-US" smtClean="0"/>
              <a:t> </a:t>
            </a:r>
            <a:r>
              <a:rPr lang="en-US" dirty="0"/>
              <a:t>A small change in plaintext results in the very great change in the </a:t>
            </a:r>
            <a:r>
              <a:rPr lang="en-US" dirty="0" err="1"/>
              <a:t>ciphertext</a:t>
            </a:r>
            <a:r>
              <a:rPr lang="en-US" dirty="0"/>
              <a:t>.</a:t>
            </a:r>
          </a:p>
          <a:p>
            <a:pPr algn="just"/>
            <a:r>
              <a:rPr lang="en-US" b="1" dirty="0"/>
              <a:t>Completeness</a:t>
            </a:r>
            <a:r>
              <a:rPr lang="en-US" dirty="0"/>
              <a:t> − Each bit of </a:t>
            </a:r>
            <a:r>
              <a:rPr lang="en-US" dirty="0" err="1"/>
              <a:t>ciphertext</a:t>
            </a:r>
            <a:r>
              <a:rPr lang="en-US" dirty="0"/>
              <a:t> depends on many bits of plaintext. During the last few years, cryptanalysis have found some weaknesses in DES when key selected are weak keys. These keys shall be avoided.</a:t>
            </a:r>
          </a:p>
          <a:p>
            <a:pPr algn="just"/>
            <a:r>
              <a:rPr lang="en-US" dirty="0"/>
              <a:t>DES has proved to be a very well designed block cipher. There have been no significant cryptanalytic attacks on DES other than exhaustive key search.</a:t>
            </a:r>
          </a:p>
          <a:p>
            <a:pPr algn="just"/>
            <a:endParaRPr lang="en-US" dirty="0"/>
          </a:p>
        </p:txBody>
      </p:sp>
    </p:spTree>
    <p:extLst>
      <p:ext uri="{BB962C8B-B14F-4D97-AF65-F5344CB8AC3E}">
        <p14:creationId xmlns:p14="http://schemas.microsoft.com/office/powerpoint/2010/main" val="382933395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STRENGTH OF DES – KEY SIZE</a:t>
            </a:r>
          </a:p>
        </p:txBody>
      </p:sp>
      <p:sp>
        <p:nvSpPr>
          <p:cNvPr id="3" name="Content Placeholder 2"/>
          <p:cNvSpPr>
            <a:spLocks noGrp="1"/>
          </p:cNvSpPr>
          <p:nvPr>
            <p:ph idx="1"/>
          </p:nvPr>
        </p:nvSpPr>
        <p:spPr/>
        <p:txBody>
          <a:bodyPr>
            <a:normAutofit/>
          </a:bodyPr>
          <a:lstStyle/>
          <a:p>
            <a:pPr algn="just"/>
            <a:r>
              <a:rPr lang="en-US" dirty="0"/>
              <a:t>56‐bit keys have 256 = 7.2 x 1016 values </a:t>
            </a:r>
          </a:p>
          <a:p>
            <a:pPr marL="0" indent="0" algn="just">
              <a:buNone/>
            </a:pPr>
            <a:r>
              <a:rPr lang="en-US" dirty="0"/>
              <a:t>• brute force search looks hard </a:t>
            </a:r>
          </a:p>
          <a:p>
            <a:pPr marL="0" indent="0" algn="just">
              <a:buNone/>
            </a:pPr>
            <a:endParaRPr lang="en-US" dirty="0"/>
          </a:p>
        </p:txBody>
      </p:sp>
    </p:spTree>
    <p:extLst>
      <p:ext uri="{BB962C8B-B14F-4D97-AF65-F5344CB8AC3E}">
        <p14:creationId xmlns:p14="http://schemas.microsoft.com/office/powerpoint/2010/main" val="106933943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Strength of DES – Analytic Attack</a:t>
            </a:r>
          </a:p>
        </p:txBody>
      </p:sp>
      <p:sp>
        <p:nvSpPr>
          <p:cNvPr id="3" name="Content Placeholder 2"/>
          <p:cNvSpPr>
            <a:spLocks noGrp="1"/>
          </p:cNvSpPr>
          <p:nvPr>
            <p:ph idx="1"/>
          </p:nvPr>
        </p:nvSpPr>
        <p:spPr>
          <a:xfrm>
            <a:off x="457200" y="1600200"/>
            <a:ext cx="8229600" cy="4953000"/>
          </a:xfrm>
        </p:spPr>
        <p:txBody>
          <a:bodyPr>
            <a:normAutofit/>
          </a:bodyPr>
          <a:lstStyle/>
          <a:p>
            <a:pPr marL="0" indent="0" algn="just">
              <a:buNone/>
            </a:pPr>
            <a:r>
              <a:rPr lang="en-US" dirty="0" smtClean="0"/>
              <a:t>• </a:t>
            </a:r>
            <a:r>
              <a:rPr lang="en-US" dirty="0"/>
              <a:t>generally these are statistical attacks</a:t>
            </a:r>
          </a:p>
          <a:p>
            <a:pPr marL="0" indent="0" algn="just">
              <a:buNone/>
            </a:pPr>
            <a:r>
              <a:rPr lang="en-US" dirty="0"/>
              <a:t> • include – differential cryptanalysis – linear cryptanalysis – related key attacks</a:t>
            </a:r>
          </a:p>
        </p:txBody>
      </p:sp>
    </p:spTree>
    <p:extLst>
      <p:ext uri="{BB962C8B-B14F-4D97-AF65-F5344CB8AC3E}">
        <p14:creationId xmlns:p14="http://schemas.microsoft.com/office/powerpoint/2010/main" val="3033183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Strength of DES – Timing attack</a:t>
            </a:r>
          </a:p>
        </p:txBody>
      </p:sp>
      <p:sp>
        <p:nvSpPr>
          <p:cNvPr id="3" name="Content Placeholder 2"/>
          <p:cNvSpPr>
            <a:spLocks noGrp="1"/>
          </p:cNvSpPr>
          <p:nvPr>
            <p:ph idx="1"/>
          </p:nvPr>
        </p:nvSpPr>
        <p:spPr/>
        <p:txBody>
          <a:bodyPr/>
          <a:lstStyle/>
          <a:p>
            <a:pPr algn="just"/>
            <a:r>
              <a:rPr lang="en-US" dirty="0"/>
              <a:t>attacks actual implementation of cipher</a:t>
            </a:r>
          </a:p>
          <a:p>
            <a:pPr marL="0" indent="0" algn="just">
              <a:buNone/>
            </a:pPr>
            <a:r>
              <a:rPr lang="en-US" dirty="0"/>
              <a:t> • use knowledge of consequences of implementation to derive information about some/all </a:t>
            </a:r>
            <a:r>
              <a:rPr lang="en-US" dirty="0" err="1"/>
              <a:t>subkey</a:t>
            </a:r>
            <a:r>
              <a:rPr lang="en-US" dirty="0"/>
              <a:t> bits</a:t>
            </a:r>
          </a:p>
          <a:p>
            <a:pPr marL="0" indent="0" algn="just">
              <a:buNone/>
            </a:pPr>
            <a:r>
              <a:rPr lang="en-US" dirty="0"/>
              <a:t> • specifically use fact that calculations can take varying times depending on the value of the inputs to it</a:t>
            </a:r>
          </a:p>
        </p:txBody>
      </p:sp>
    </p:spTree>
    <p:extLst>
      <p:ext uri="{BB962C8B-B14F-4D97-AF65-F5344CB8AC3E}">
        <p14:creationId xmlns:p14="http://schemas.microsoft.com/office/powerpoint/2010/main" val="14212787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dirty="0"/>
              <a:t>DOUBLE DES</a:t>
            </a:r>
          </a:p>
        </p:txBody>
      </p:sp>
      <p:sp>
        <p:nvSpPr>
          <p:cNvPr id="3" name="Content Placeholder 2"/>
          <p:cNvSpPr>
            <a:spLocks noGrp="1"/>
          </p:cNvSpPr>
          <p:nvPr>
            <p:ph idx="1"/>
          </p:nvPr>
        </p:nvSpPr>
        <p:spPr/>
        <p:txBody>
          <a:bodyPr>
            <a:normAutofit fontScale="70000" lnSpcReduction="20000"/>
          </a:bodyPr>
          <a:lstStyle/>
          <a:p>
            <a:endParaRPr lang="en-US" dirty="0"/>
          </a:p>
          <a:p>
            <a:endParaRPr lang="en-US" dirty="0"/>
          </a:p>
          <a:p>
            <a:r>
              <a:rPr lang="en-US" dirty="0"/>
              <a:t>The simplest form of multiple encryption has two encryption stages and two keys ‐Double‐</a:t>
            </a:r>
            <a:r>
              <a:rPr lang="en-US" dirty="0" err="1"/>
              <a:t>DES.could</a:t>
            </a:r>
            <a:r>
              <a:rPr lang="en-US" dirty="0"/>
              <a:t> use 2 DES encrypts on each block</a:t>
            </a:r>
          </a:p>
          <a:p>
            <a:r>
              <a:rPr lang="en-US" dirty="0"/>
              <a:t>C = EK2(EK1(P))</a:t>
            </a:r>
          </a:p>
          <a:p>
            <a:r>
              <a:rPr lang="en-US" dirty="0"/>
              <a:t>Encrypt (K1,P)=E(C,K2)=final cipher</a:t>
            </a:r>
          </a:p>
          <a:p>
            <a:endParaRPr lang="en-US" dirty="0"/>
          </a:p>
          <a:p>
            <a:r>
              <a:rPr lang="en-US" dirty="0"/>
              <a:t>•issue of reduction to single stage (might have a single key that is equivalent to using 2 keys as above)</a:t>
            </a:r>
          </a:p>
          <a:p>
            <a:r>
              <a:rPr lang="en-US" dirty="0"/>
              <a:t>•“meet‐in‐the‐middle” </a:t>
            </a:r>
            <a:r>
              <a:rPr lang="en-US" dirty="0" err="1"/>
              <a:t>attackworks</a:t>
            </a:r>
            <a:r>
              <a:rPr lang="en-US" dirty="0"/>
              <a:t> whenever use a cipher twice</a:t>
            </a:r>
          </a:p>
          <a:p>
            <a:r>
              <a:rPr lang="en-US" dirty="0"/>
              <a:t>known plaintext attack </a:t>
            </a:r>
          </a:p>
          <a:p>
            <a:r>
              <a:rPr lang="en-US" dirty="0"/>
              <a:t>since X = EK1(P) = DK2(C)</a:t>
            </a:r>
          </a:p>
          <a:p>
            <a:r>
              <a:rPr lang="en-US" dirty="0"/>
              <a:t>takes O(256)search steps</a:t>
            </a:r>
          </a:p>
          <a:p>
            <a:endParaRPr lang="en-US" dirty="0"/>
          </a:p>
          <a:p>
            <a:endParaRPr lang="en-US" dirty="0"/>
          </a:p>
        </p:txBody>
      </p:sp>
    </p:spTree>
    <p:extLst>
      <p:ext uri="{BB962C8B-B14F-4D97-AF65-F5344CB8AC3E}">
        <p14:creationId xmlns:p14="http://schemas.microsoft.com/office/powerpoint/2010/main" val="245124347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dirty="0"/>
              <a:t>TRIPLE‐DES WITH TWO‐KEYS</a:t>
            </a:r>
          </a:p>
        </p:txBody>
      </p:sp>
      <p:sp>
        <p:nvSpPr>
          <p:cNvPr id="3" name="Content Placeholder 2"/>
          <p:cNvSpPr>
            <a:spLocks noGrp="1"/>
          </p:cNvSpPr>
          <p:nvPr>
            <p:ph idx="1"/>
          </p:nvPr>
        </p:nvSpPr>
        <p:spPr/>
        <p:txBody>
          <a:bodyPr>
            <a:normAutofit fontScale="77500" lnSpcReduction="20000"/>
          </a:bodyPr>
          <a:lstStyle/>
          <a:p>
            <a:endParaRPr lang="en-US" dirty="0"/>
          </a:p>
          <a:p>
            <a:endParaRPr lang="en-US" dirty="0"/>
          </a:p>
          <a:p>
            <a:r>
              <a:rPr lang="en-US" dirty="0"/>
              <a:t>Triple‐DES with two keys is a popular alternative to single‐DES</a:t>
            </a:r>
          </a:p>
          <a:p>
            <a:r>
              <a:rPr lang="en-US" dirty="0"/>
              <a:t>•Encryption &amp; decryption stages are equivalent, but the chosen structure allows for compatibility with single‐DES implementations</a:t>
            </a:r>
          </a:p>
          <a:p>
            <a:pPr lvl="1"/>
            <a:r>
              <a:rPr lang="en-US" sz="3200" dirty="0"/>
              <a:t>•hence must use 3 </a:t>
            </a:r>
            <a:r>
              <a:rPr lang="en-US" sz="3200" dirty="0" err="1"/>
              <a:t>encryptions</a:t>
            </a:r>
            <a:r>
              <a:rPr lang="en-US" dirty="0" err="1"/>
              <a:t>would</a:t>
            </a:r>
            <a:r>
              <a:rPr lang="en-US" dirty="0"/>
              <a:t> seem to need 3 distinct keys</a:t>
            </a:r>
          </a:p>
          <a:p>
            <a:pPr lvl="1"/>
            <a:endParaRPr lang="en-US" dirty="0"/>
          </a:p>
          <a:p>
            <a:pPr lvl="1"/>
            <a:r>
              <a:rPr lang="en-US" dirty="0"/>
              <a:t>•but can use 2 keys with E‐D‐E </a:t>
            </a:r>
            <a:r>
              <a:rPr lang="en-US" dirty="0" err="1"/>
              <a:t>sequence</a:t>
            </a:r>
            <a:r>
              <a:rPr lang="en-US" sz="2400" dirty="0" err="1"/>
              <a:t>C</a:t>
            </a:r>
            <a:r>
              <a:rPr lang="en-US" sz="2400" dirty="0"/>
              <a:t> = E</a:t>
            </a:r>
            <a:r>
              <a:rPr lang="en-US" sz="1600" dirty="0"/>
              <a:t>K1</a:t>
            </a:r>
            <a:r>
              <a:rPr lang="en-US" sz="2400" dirty="0"/>
              <a:t>(D</a:t>
            </a:r>
            <a:r>
              <a:rPr lang="en-US" sz="1600" dirty="0"/>
              <a:t>K2</a:t>
            </a:r>
            <a:r>
              <a:rPr lang="en-US" sz="2400" dirty="0"/>
              <a:t>(E</a:t>
            </a:r>
            <a:r>
              <a:rPr lang="en-US" sz="1600" dirty="0"/>
              <a:t>K1</a:t>
            </a:r>
            <a:r>
              <a:rPr lang="en-US" sz="2400" dirty="0"/>
              <a:t>(P)))</a:t>
            </a:r>
          </a:p>
          <a:p>
            <a:pPr lvl="1"/>
            <a:r>
              <a:rPr lang="en-US" dirty="0"/>
              <a:t>encrypt &amp; decrypt equivalent in security</a:t>
            </a:r>
          </a:p>
          <a:p>
            <a:pPr lvl="1"/>
            <a:r>
              <a:rPr lang="en-US" dirty="0"/>
              <a:t>if K1=K2then can work as single DES</a:t>
            </a:r>
          </a:p>
          <a:p>
            <a:pPr lvl="1"/>
            <a:endParaRPr lang="en-US" dirty="0"/>
          </a:p>
          <a:p>
            <a:endParaRPr lang="en-US" dirty="0"/>
          </a:p>
        </p:txBody>
      </p:sp>
    </p:spTree>
    <p:extLst>
      <p:ext uri="{BB962C8B-B14F-4D97-AF65-F5344CB8AC3E}">
        <p14:creationId xmlns:p14="http://schemas.microsoft.com/office/powerpoint/2010/main" val="239840868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dirty="0"/>
              <a:t>TRIPLE‐DES WITH THREE‐KEYS</a:t>
            </a:r>
          </a:p>
        </p:txBody>
      </p:sp>
      <p:sp>
        <p:nvSpPr>
          <p:cNvPr id="3" name="Content Placeholder 2"/>
          <p:cNvSpPr>
            <a:spLocks noGrp="1"/>
          </p:cNvSpPr>
          <p:nvPr>
            <p:ph idx="1"/>
          </p:nvPr>
        </p:nvSpPr>
        <p:spPr/>
        <p:txBody>
          <a:bodyPr>
            <a:normAutofit lnSpcReduction="10000"/>
          </a:bodyPr>
          <a:lstStyle/>
          <a:p>
            <a:endParaRPr lang="en-US" dirty="0"/>
          </a:p>
          <a:p>
            <a:endParaRPr lang="en-US" dirty="0"/>
          </a:p>
          <a:p>
            <a:r>
              <a:rPr lang="en-US" dirty="0"/>
              <a:t>Although are no practical attacks on two‐key Triple‐DES have some indications</a:t>
            </a:r>
          </a:p>
          <a:p>
            <a:pPr lvl="1"/>
            <a:r>
              <a:rPr lang="en-US" dirty="0"/>
              <a:t>•We can use Triple‐DES with Three‐Keys to avoid even </a:t>
            </a:r>
            <a:r>
              <a:rPr lang="en-US" dirty="0" err="1"/>
              <a:t>these</a:t>
            </a:r>
            <a:r>
              <a:rPr lang="en-US" sz="2400" dirty="0" err="1"/>
              <a:t>C</a:t>
            </a:r>
            <a:r>
              <a:rPr lang="en-US" sz="2400" dirty="0"/>
              <a:t> = E</a:t>
            </a:r>
            <a:r>
              <a:rPr lang="en-US" sz="1600" dirty="0"/>
              <a:t>K3</a:t>
            </a:r>
            <a:r>
              <a:rPr lang="en-US" sz="2400" dirty="0"/>
              <a:t>(D</a:t>
            </a:r>
            <a:r>
              <a:rPr lang="en-US" sz="1600" dirty="0"/>
              <a:t>K2</a:t>
            </a:r>
            <a:r>
              <a:rPr lang="en-US" sz="2400" dirty="0"/>
              <a:t>(E</a:t>
            </a:r>
            <a:r>
              <a:rPr lang="en-US" sz="1600" dirty="0"/>
              <a:t>K1</a:t>
            </a:r>
            <a:r>
              <a:rPr lang="en-US" sz="2400" dirty="0"/>
              <a:t>(P)))</a:t>
            </a:r>
          </a:p>
          <a:p>
            <a:pPr lvl="1"/>
            <a:endParaRPr lang="en-US" dirty="0"/>
          </a:p>
          <a:p>
            <a:r>
              <a:rPr lang="en-US" dirty="0"/>
              <a:t>•It has been adopted by some Internet applications, </a:t>
            </a:r>
            <a:r>
              <a:rPr lang="en-US" dirty="0" err="1"/>
              <a:t>egPGP</a:t>
            </a:r>
            <a:r>
              <a:rPr lang="en-US" dirty="0"/>
              <a:t>, S/MIME</a:t>
            </a:r>
          </a:p>
          <a:p>
            <a:endParaRPr lang="en-US" dirty="0"/>
          </a:p>
        </p:txBody>
      </p:sp>
    </p:spTree>
    <p:extLst>
      <p:ext uri="{BB962C8B-B14F-4D97-AF65-F5344CB8AC3E}">
        <p14:creationId xmlns:p14="http://schemas.microsoft.com/office/powerpoint/2010/main" val="178934370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491</TotalTime>
  <Words>1745</Words>
  <Application>Microsoft Office PowerPoint</Application>
  <PresentationFormat>On-screen Show (4:3)</PresentationFormat>
  <Paragraphs>118</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Wingdings</vt:lpstr>
      <vt:lpstr>Office Theme</vt:lpstr>
      <vt:lpstr>BLOCK CIPHERS AND THE DATA ENCRYPTION STANDARD</vt:lpstr>
      <vt:lpstr>PowerPoint Presentation</vt:lpstr>
      <vt:lpstr>Block Size </vt:lpstr>
      <vt:lpstr>PowerPoint Presentation</vt:lpstr>
      <vt:lpstr>PowerPoint Presentation</vt:lpstr>
      <vt:lpstr>Feistel Block Cipher</vt:lpstr>
      <vt:lpstr>PowerPoint Presentation</vt:lpstr>
      <vt:lpstr>PowerPoint Presentation</vt:lpstr>
      <vt:lpstr>PowerPoint Presentation</vt:lpstr>
      <vt:lpstr>PowerPoint Presentation</vt:lpstr>
      <vt:lpstr>DES (History)</vt:lpstr>
      <vt:lpstr>Data Encryption Standard</vt:lpstr>
      <vt:lpstr>Encryption Process-----</vt:lpstr>
      <vt:lpstr>PowerPoint Presentation</vt:lpstr>
      <vt:lpstr>PowerPoint Presentation</vt:lpstr>
      <vt:lpstr>PowerPoint Presentation</vt:lpstr>
      <vt:lpstr>PowerPoint Presentation</vt:lpstr>
      <vt:lpstr>Decryption Process</vt:lpstr>
      <vt:lpstr>Number of Rounds</vt:lpstr>
      <vt:lpstr>PowerPoint Presentation</vt:lpstr>
      <vt:lpstr>PowerPoint Presentation</vt:lpstr>
      <vt:lpstr>Initial and Final Permutation</vt:lpstr>
      <vt:lpstr>PowerPoint Presentation</vt:lpstr>
      <vt:lpstr> Round Function The heart of this cipher is the DES function, f. The DES function applies a 48-bit key to the rightmost 32 bits to produce a 32-bit output.   64 bits key-56bit-k1(48bit)</vt:lpstr>
      <vt:lpstr>PowerPoint Presentation</vt:lpstr>
      <vt:lpstr>DES Analysis </vt:lpstr>
      <vt:lpstr>STRENGTH OF DES – KEY SIZE</vt:lpstr>
      <vt:lpstr>Strength of DES – Analytic Attack</vt:lpstr>
      <vt:lpstr>Strength of DES – Timing attack</vt:lpstr>
      <vt:lpstr> DOUBLE DES</vt:lpstr>
      <vt:lpstr> TRIPLE‐DES WITH TWO‐KEYS</vt:lpstr>
      <vt:lpstr> TRIPLE‐DES WITH THREE‐KEYS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 CIPHERS AND THE DATA ENCRYPTION STANDARD</dc:title>
  <dc:creator>CSSTAFF</dc:creator>
  <cp:lastModifiedBy>Microsoft account</cp:lastModifiedBy>
  <cp:revision>38</cp:revision>
  <dcterms:created xsi:type="dcterms:W3CDTF">2018-07-24T07:12:54Z</dcterms:created>
  <dcterms:modified xsi:type="dcterms:W3CDTF">2025-09-03T04:32:43Z</dcterms:modified>
</cp:coreProperties>
</file>